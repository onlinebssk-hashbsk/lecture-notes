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  <p:sldMasterId id="2147483915" r:id="rId2"/>
    <p:sldMasterId id="2147483941" r:id="rId3"/>
    <p:sldMasterId id="2147483954" r:id="rId4"/>
    <p:sldMasterId id="2147483965" r:id="rId5"/>
  </p:sldMasterIdLst>
  <p:notesMasterIdLst>
    <p:notesMasterId r:id="rId63"/>
  </p:notesMasterIdLst>
  <p:handoutMasterIdLst>
    <p:handoutMasterId r:id="rId64"/>
  </p:handoutMasterIdLst>
  <p:sldIdLst>
    <p:sldId id="401" r:id="rId6"/>
    <p:sldId id="563" r:id="rId7"/>
    <p:sldId id="410" r:id="rId8"/>
    <p:sldId id="473" r:id="rId9"/>
    <p:sldId id="566" r:id="rId10"/>
    <p:sldId id="413" r:id="rId11"/>
    <p:sldId id="412" r:id="rId12"/>
    <p:sldId id="417" r:id="rId13"/>
    <p:sldId id="418" r:id="rId14"/>
    <p:sldId id="420" r:id="rId15"/>
    <p:sldId id="421" r:id="rId16"/>
    <p:sldId id="423" r:id="rId17"/>
    <p:sldId id="425" r:id="rId18"/>
    <p:sldId id="470" r:id="rId19"/>
    <p:sldId id="359" r:id="rId20"/>
    <p:sldId id="422" r:id="rId21"/>
    <p:sldId id="428" r:id="rId22"/>
    <p:sldId id="471" r:id="rId23"/>
    <p:sldId id="492" r:id="rId24"/>
    <p:sldId id="556" r:id="rId25"/>
    <p:sldId id="497" r:id="rId26"/>
    <p:sldId id="498" r:id="rId27"/>
    <p:sldId id="499" r:id="rId28"/>
    <p:sldId id="500" r:id="rId29"/>
    <p:sldId id="501" r:id="rId30"/>
    <p:sldId id="502" r:id="rId31"/>
    <p:sldId id="503" r:id="rId32"/>
    <p:sldId id="504" r:id="rId33"/>
    <p:sldId id="568" r:id="rId34"/>
    <p:sldId id="585" r:id="rId35"/>
    <p:sldId id="515" r:id="rId36"/>
    <p:sldId id="516" r:id="rId37"/>
    <p:sldId id="517" r:id="rId38"/>
    <p:sldId id="518" r:id="rId39"/>
    <p:sldId id="558" r:id="rId40"/>
    <p:sldId id="573" r:id="rId41"/>
    <p:sldId id="574" r:id="rId42"/>
    <p:sldId id="575" r:id="rId43"/>
    <p:sldId id="576" r:id="rId44"/>
    <p:sldId id="577" r:id="rId45"/>
    <p:sldId id="579" r:id="rId46"/>
    <p:sldId id="580" r:id="rId47"/>
    <p:sldId id="581" r:id="rId48"/>
    <p:sldId id="582" r:id="rId49"/>
    <p:sldId id="584" r:id="rId50"/>
    <p:sldId id="523" r:id="rId51"/>
    <p:sldId id="528" r:id="rId52"/>
    <p:sldId id="561" r:id="rId53"/>
    <p:sldId id="532" r:id="rId54"/>
    <p:sldId id="533" r:id="rId55"/>
    <p:sldId id="534" r:id="rId56"/>
    <p:sldId id="535" r:id="rId57"/>
    <p:sldId id="536" r:id="rId58"/>
    <p:sldId id="562" r:id="rId59"/>
    <p:sldId id="542" r:id="rId60"/>
    <p:sldId id="543" r:id="rId61"/>
    <p:sldId id="546" r:id="rId6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1" charset="0"/>
        <a:ea typeface="MS PGothic" pitchFamily="34" charset="-128"/>
        <a:cs typeface="MS PGothic" pitchFamily="34" charset="-128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1" charset="0"/>
        <a:ea typeface="MS PGothic" pitchFamily="34" charset="-128"/>
        <a:cs typeface="MS PGothic" pitchFamily="34" charset="-128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1" charset="0"/>
        <a:ea typeface="MS PGothic" pitchFamily="34" charset="-128"/>
        <a:cs typeface="MS PGothic" pitchFamily="34" charset="-128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1" charset="0"/>
        <a:ea typeface="MS PGothic" pitchFamily="34" charset="-128"/>
        <a:cs typeface="MS PGothic" pitchFamily="34" charset="-128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1" charset="0"/>
        <a:ea typeface="MS PGothic" pitchFamily="34" charset="-128"/>
        <a:cs typeface="MS PGothic" pitchFamily="34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1" charset="0"/>
        <a:ea typeface="MS PGothic" pitchFamily="34" charset="-128"/>
        <a:cs typeface="MS PGothic" pitchFamily="34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1" charset="0"/>
        <a:ea typeface="MS PGothic" pitchFamily="34" charset="-128"/>
        <a:cs typeface="MS PGothic" pitchFamily="34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1" charset="0"/>
        <a:ea typeface="MS PGothic" pitchFamily="34" charset="-128"/>
        <a:cs typeface="MS PGothic" pitchFamily="34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1" charset="0"/>
        <a:ea typeface="MS PGothic" pitchFamily="34" charset="-128"/>
        <a:cs typeface="MS PGothic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0099"/>
    <a:srgbClr val="0033CC"/>
    <a:srgbClr val="CC0000"/>
    <a:srgbClr val="006600"/>
    <a:srgbClr val="FFFFFF"/>
    <a:srgbClr val="FF9900"/>
    <a:srgbClr val="FFCCCC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64" autoAdjust="0"/>
    <p:restoredTop sz="93323" autoAdjust="0"/>
  </p:normalViewPr>
  <p:slideViewPr>
    <p:cSldViewPr snapToGrid="0">
      <p:cViewPr>
        <p:scale>
          <a:sx n="76" d="100"/>
          <a:sy n="76" d="100"/>
        </p:scale>
        <p:origin x="2006" y="53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2457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457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349FECE-B675-3D4A-96C9-2AB1EB82A0B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0624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024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1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51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290B2AC-1876-E644-9C2D-E968984A38E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293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90B2AC-1876-E644-9C2D-E968984A38E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AD7613-BD82-344E-B67A-ECF0A1405C08}" type="slidenum">
              <a:rPr lang="en-US"/>
              <a:pPr/>
              <a:t>15</a:t>
            </a:fld>
            <a:endParaRPr lang="en-US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7413"/>
          </a:xfrm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D5FDD7-D82A-1F47-B21B-053E5E498155}" type="slidenum">
              <a:rPr lang="en-US"/>
              <a:pPr/>
              <a:t>16</a:t>
            </a:fld>
            <a:endParaRPr lang="en-US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7413"/>
          </a:xfrm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1" charset="0"/>
            </a:endParaRPr>
          </a:p>
        </p:txBody>
      </p:sp>
      <p:sp>
        <p:nvSpPr>
          <p:cNvPr id="10854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B3A64E4D-C3B9-2B4D-9EDC-D02BA6D31271}" type="slidenum">
              <a:rPr lang="en-US" sz="1200"/>
              <a:pPr algn="r"/>
              <a:t>19</a:t>
            </a:fld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1" charset="0"/>
            </a:endParaRPr>
          </a:p>
        </p:txBody>
      </p:sp>
      <p:sp>
        <p:nvSpPr>
          <p:cNvPr id="110596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02355171-F769-E448-AE29-4F2C4D7A6245}" type="slidenum">
              <a:rPr lang="en-US" sz="1200"/>
              <a:pPr algn="r"/>
              <a:t>21</a:t>
            </a:fld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1" charset="0"/>
            </a:endParaRPr>
          </a:p>
        </p:txBody>
      </p:sp>
      <p:sp>
        <p:nvSpPr>
          <p:cNvPr id="111620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8EBAAF43-B81C-0A49-8795-31BA2D9745BE}" type="slidenum">
              <a:rPr lang="en-US" sz="1200"/>
              <a:pPr algn="r"/>
              <a:t>23</a:t>
            </a:fld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1" charset="0"/>
            </a:endParaRPr>
          </a:p>
        </p:txBody>
      </p:sp>
      <p:sp>
        <p:nvSpPr>
          <p:cNvPr id="112644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AFDA5754-CE89-A048-AA3A-CD21DE69D865}" type="slidenum">
              <a:rPr lang="en-US" sz="1200"/>
              <a:pPr algn="r"/>
              <a:t>25</a:t>
            </a:fld>
            <a:endParaRPr 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1" charset="0"/>
            </a:endParaRPr>
          </a:p>
        </p:txBody>
      </p:sp>
      <p:sp>
        <p:nvSpPr>
          <p:cNvPr id="115716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4BCA6116-4903-A14F-AE53-6E3139C2CCBB}" type="slidenum">
              <a:rPr lang="en-US" sz="1200"/>
              <a:pPr algn="r"/>
              <a:t>32</a:t>
            </a:fld>
            <a:endParaRPr 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1" charset="0"/>
            </a:endParaRPr>
          </a:p>
        </p:txBody>
      </p:sp>
      <p:sp>
        <p:nvSpPr>
          <p:cNvPr id="116740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0F9BBDE5-2B97-7D46-977C-DF3514967663}" type="slidenum">
              <a:rPr lang="en-US" sz="1200"/>
              <a:pPr algn="r"/>
              <a:t>50</a:t>
            </a:fld>
            <a:endParaRPr 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1" charset="0"/>
            </a:endParaRPr>
          </a:p>
        </p:txBody>
      </p:sp>
      <p:sp>
        <p:nvSpPr>
          <p:cNvPr id="117764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1311A759-0299-354D-9BCD-A40B253F7A15}" type="slidenum">
              <a:rPr lang="en-US" sz="1200"/>
              <a:pPr algn="r"/>
              <a:t>55</a:t>
            </a:fld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 userDrawn="1"/>
        </p:nvSpPr>
        <p:spPr bwMode="auto">
          <a:xfrm>
            <a:off x="152400" y="6477000"/>
            <a:ext cx="88392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rgbClr val="0070C0"/>
                </a:solidFill>
                <a:latin typeface="Microsoft Sans Serif" pitchFamily="1" charset="0"/>
                <a:ea typeface="Microsoft Sans Serif" pitchFamily="1" charset="0"/>
                <a:cs typeface="Microsoft Sans Serif" pitchFamily="1" charset="0"/>
              </a:rPr>
              <a:t>Jespersen/</a:t>
            </a:r>
            <a:r>
              <a:rPr lang="en-US" sz="1200" dirty="0" err="1">
                <a:solidFill>
                  <a:srgbClr val="0070C0"/>
                </a:solidFill>
                <a:latin typeface="Microsoft Sans Serif" pitchFamily="1" charset="0"/>
                <a:ea typeface="Microsoft Sans Serif" pitchFamily="1" charset="0"/>
                <a:cs typeface="Microsoft Sans Serif" pitchFamily="1" charset="0"/>
              </a:rPr>
              <a:t>Hyslop</a:t>
            </a:r>
            <a:r>
              <a:rPr lang="en-US" sz="1200" dirty="0">
                <a:solidFill>
                  <a:srgbClr val="0070C0"/>
                </a:solidFill>
                <a:latin typeface="Microsoft Sans Serif" pitchFamily="1" charset="0"/>
                <a:ea typeface="Microsoft Sans Serif" pitchFamily="1" charset="0"/>
                <a:cs typeface="Microsoft Sans Serif" pitchFamily="1" charset="0"/>
              </a:rPr>
              <a:t>, Chemistry7E, Copyright © 2015 John Wiley &amp; Sons, Inc. All Rights Reserved</a:t>
            </a:r>
          </a:p>
        </p:txBody>
      </p:sp>
      <p:sp>
        <p:nvSpPr>
          <p:cNvPr id="146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851775" cy="2819400"/>
          </a:xfrm>
        </p:spPr>
        <p:txBody>
          <a:bodyPr/>
          <a:lstStyle>
            <a:lvl1pPr algn="ctr">
              <a:defRPr sz="4800" b="0">
                <a:solidFill>
                  <a:srgbClr val="000099"/>
                </a:solidFill>
              </a:defRPr>
            </a:lvl1pPr>
          </a:lstStyle>
          <a:p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8100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>
                <a:solidFill>
                  <a:srgbClr val="800000"/>
                </a:solidFill>
              </a:defRPr>
            </a:lvl1pPr>
          </a:lstStyle>
          <a:p>
            <a:r>
              <a:rPr lang="en-US" altLang="en-US"/>
              <a:t>Click to edit Master subtitle style</a:t>
            </a:r>
            <a:endParaRPr lang="en-US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1"/>
            <a:ext cx="8839200" cy="685799"/>
          </a:xfrm>
        </p:spPr>
        <p:txBody>
          <a:bodyPr/>
          <a:lstStyle>
            <a:lvl1pPr algn="ctr"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791200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B5E80F-5705-D54D-BF5D-12FD68440DA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862387"/>
            <a:ext cx="7772400" cy="1362075"/>
          </a:xfrm>
        </p:spPr>
        <p:txBody>
          <a:bodyPr/>
          <a:lstStyle>
            <a:lvl1pPr algn="l">
              <a:defRPr sz="4000" b="1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362200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E1B9EC-83B1-3F4A-B60E-50DAEEB2D74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990600"/>
            <a:ext cx="4343400" cy="563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343400" cy="563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7B3C36-7A3F-8D48-8236-44842619D13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7686EE-6356-8043-8C71-D483AF4992F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458200" cy="8651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066800"/>
            <a:ext cx="4267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066800"/>
            <a:ext cx="4267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FDE19A-0BF8-3842-9CDE-0F147FD2542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229600" cy="8381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143000"/>
            <a:ext cx="42672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143000"/>
            <a:ext cx="4267200" cy="25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0" y="3857451"/>
            <a:ext cx="4267200" cy="25433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89C7AA-96B9-4C43-8F8B-EB4223D2E8A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28600" y="228600"/>
            <a:ext cx="8382000" cy="8651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143000"/>
            <a:ext cx="4267200" cy="2646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143000"/>
            <a:ext cx="4267200" cy="2646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228600" y="3906838"/>
            <a:ext cx="4267200" cy="2646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3906838"/>
            <a:ext cx="4267200" cy="2646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A0E285-EED8-074F-9339-24E84412BB6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458200" cy="10175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295400"/>
            <a:ext cx="8458200" cy="5230813"/>
          </a:xfrm>
        </p:spPr>
        <p:txBody>
          <a:bodyPr/>
          <a:lstStyle/>
          <a:p>
            <a:pPr lvl="0"/>
            <a:r>
              <a:rPr lang="en-US" noProof="0" dirty="0"/>
              <a:t>Click icon to add table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20D3CF-895D-114B-B80C-160B3B051BC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0E0F32-E018-474D-ACFF-3073DEE0E4A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495916-9FEF-4374-8B9E-3B12E67DC07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484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C203D7-FA96-455F-9DCD-478EBC167B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892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71D04B-05AE-47E6-97C3-2610BC34E42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8175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57768-36E2-4429-9DDE-0A4780B8188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7399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F23C28-DA10-4D31-A703-47DD4AC179E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019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7E9303-18EC-4F6A-9BFB-AF03D829C7C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2404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A64884-564A-45D5-A1B8-773A0E551F6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0414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0158BB-ABA3-4578-8D66-56BDC73B97A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6339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B10014-60D3-4912-8863-D0955C1A688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4640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C69DD9-4E2F-4A46-8E69-BDE571AD409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0721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F9EA0E-FAA4-4C81-96CB-B0FDB04746B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1952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530473-F413-466B-93E1-411CA429261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7259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495916-9FEF-4374-8B9E-3B12E67DC07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8852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C203D7-FA96-455F-9DCD-478EBC167B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8888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71D04B-05AE-47E6-97C3-2610BC34E42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419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57768-36E2-4429-9DDE-0A4780B8188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9654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F23C28-DA10-4D31-A703-47DD4AC179E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7523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7E9303-18EC-4F6A-9BFB-AF03D829C7C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3060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A64884-564A-45D5-A1B8-773A0E551F6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1402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0158BB-ABA3-4578-8D66-56BDC73B97A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8372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B10014-60D3-4912-8863-D0955C1A688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486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C69DD9-4E2F-4A46-8E69-BDE571AD409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9359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F9EA0E-FAA4-4C81-96CB-B0FDB04746B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3952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530473-F413-466B-93E1-411CA429261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6979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 userDrawn="1"/>
        </p:nvSpPr>
        <p:spPr bwMode="auto">
          <a:xfrm>
            <a:off x="152400" y="6477000"/>
            <a:ext cx="88392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rgbClr val="0070C0"/>
                </a:solidFill>
                <a:latin typeface="Microsoft Sans Serif" pitchFamily="1" charset="0"/>
                <a:ea typeface="Microsoft Sans Serif" pitchFamily="1" charset="0"/>
                <a:cs typeface="Microsoft Sans Serif" pitchFamily="1" charset="0"/>
              </a:rPr>
              <a:t>Jespersen/</a:t>
            </a:r>
            <a:r>
              <a:rPr lang="en-US" sz="1200" dirty="0" err="1">
                <a:solidFill>
                  <a:srgbClr val="0070C0"/>
                </a:solidFill>
                <a:latin typeface="Microsoft Sans Serif" pitchFamily="1" charset="0"/>
                <a:ea typeface="Microsoft Sans Serif" pitchFamily="1" charset="0"/>
                <a:cs typeface="Microsoft Sans Serif" pitchFamily="1" charset="0"/>
              </a:rPr>
              <a:t>Hyslop</a:t>
            </a:r>
            <a:r>
              <a:rPr lang="en-US" sz="1200" dirty="0">
                <a:solidFill>
                  <a:srgbClr val="0070C0"/>
                </a:solidFill>
                <a:latin typeface="Microsoft Sans Serif" pitchFamily="1" charset="0"/>
                <a:ea typeface="Microsoft Sans Serif" pitchFamily="1" charset="0"/>
                <a:cs typeface="Microsoft Sans Serif" pitchFamily="1" charset="0"/>
              </a:rPr>
              <a:t>, Chemistry7E, Copyright © 2015 John Wiley &amp; Sons, Inc. All Rights Reserved</a:t>
            </a:r>
          </a:p>
        </p:txBody>
      </p:sp>
      <p:sp>
        <p:nvSpPr>
          <p:cNvPr id="146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851775" cy="2819400"/>
          </a:xfrm>
        </p:spPr>
        <p:txBody>
          <a:bodyPr/>
          <a:lstStyle>
            <a:lvl1pPr algn="ctr">
              <a:defRPr sz="4800" b="0">
                <a:solidFill>
                  <a:srgbClr val="000099"/>
                </a:solidFill>
              </a:defRPr>
            </a:lvl1pPr>
          </a:lstStyle>
          <a:p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8100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>
                <a:solidFill>
                  <a:srgbClr val="800000"/>
                </a:solidFill>
              </a:defRPr>
            </a:lvl1pPr>
          </a:lstStyle>
          <a:p>
            <a:r>
              <a:rPr lang="en-US" altLang="en-US"/>
              <a:t>Click to edit Master subtitle style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29580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1"/>
            <a:ext cx="8839200" cy="685799"/>
          </a:xfrm>
        </p:spPr>
        <p:txBody>
          <a:bodyPr/>
          <a:lstStyle>
            <a:lvl1pPr algn="ctr"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791200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B5E80F-5705-D54D-BF5D-12FD68440DA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4733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862387"/>
            <a:ext cx="7772400" cy="1362075"/>
          </a:xfrm>
        </p:spPr>
        <p:txBody>
          <a:bodyPr/>
          <a:lstStyle>
            <a:lvl1pPr algn="l">
              <a:defRPr sz="4000" b="1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362200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E1B9EC-83B1-3F4A-B60E-50DAEEB2D74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867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990600"/>
            <a:ext cx="4343400" cy="563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343400" cy="563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7B3C36-7A3F-8D48-8236-44842619D13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5324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7686EE-6356-8043-8C71-D483AF4992F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1475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458200" cy="8651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066800"/>
            <a:ext cx="4267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066800"/>
            <a:ext cx="4267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FDE19A-0BF8-3842-9CDE-0F147FD2542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02685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229600" cy="8381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143000"/>
            <a:ext cx="42672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143000"/>
            <a:ext cx="4267200" cy="25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0" y="3857451"/>
            <a:ext cx="4267200" cy="25433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89C7AA-96B9-4C43-8F8B-EB4223D2E8A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514261"/>
      </p:ext>
    </p:extLst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28600" y="228600"/>
            <a:ext cx="8382000" cy="8651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143000"/>
            <a:ext cx="4267200" cy="2646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143000"/>
            <a:ext cx="4267200" cy="2646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228600" y="3906838"/>
            <a:ext cx="4267200" cy="2646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3906838"/>
            <a:ext cx="4267200" cy="2646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A0E285-EED8-074F-9339-24E84412BB6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8958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458200" cy="10175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295400"/>
            <a:ext cx="8458200" cy="5230813"/>
          </a:xfrm>
        </p:spPr>
        <p:txBody>
          <a:bodyPr/>
          <a:lstStyle/>
          <a:p>
            <a:pPr lvl="0"/>
            <a:r>
              <a:rPr lang="en-US" noProof="0" dirty="0"/>
              <a:t>Click icon to add table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20D3CF-895D-114B-B80C-160B3B051BC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50846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0E0F32-E018-474D-ACFF-3073DEE0E4A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9079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 userDrawn="1"/>
        </p:nvSpPr>
        <p:spPr bwMode="auto">
          <a:xfrm>
            <a:off x="152400" y="6477000"/>
            <a:ext cx="88392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rgbClr val="0070C0"/>
                </a:solidFill>
                <a:latin typeface="Microsoft Sans Serif" pitchFamily="1" charset="0"/>
                <a:ea typeface="Microsoft Sans Serif" pitchFamily="1" charset="0"/>
                <a:cs typeface="Microsoft Sans Serif" pitchFamily="1" charset="0"/>
              </a:rPr>
              <a:t>Jespersen/</a:t>
            </a:r>
            <a:r>
              <a:rPr lang="en-US" sz="1200" dirty="0" err="1">
                <a:solidFill>
                  <a:srgbClr val="0070C0"/>
                </a:solidFill>
                <a:latin typeface="Microsoft Sans Serif" pitchFamily="1" charset="0"/>
                <a:ea typeface="Microsoft Sans Serif" pitchFamily="1" charset="0"/>
                <a:cs typeface="Microsoft Sans Serif" pitchFamily="1" charset="0"/>
              </a:rPr>
              <a:t>Hyslop</a:t>
            </a:r>
            <a:r>
              <a:rPr lang="en-US" sz="1200" dirty="0">
                <a:solidFill>
                  <a:srgbClr val="0070C0"/>
                </a:solidFill>
                <a:latin typeface="Microsoft Sans Serif" pitchFamily="1" charset="0"/>
                <a:ea typeface="Microsoft Sans Serif" pitchFamily="1" charset="0"/>
                <a:cs typeface="Microsoft Sans Serif" pitchFamily="1" charset="0"/>
              </a:rPr>
              <a:t>, Chemistry7E, Copyright © 2015 John Wiley &amp; Sons, Inc. All Rights Reserved</a:t>
            </a:r>
          </a:p>
        </p:txBody>
      </p:sp>
      <p:sp>
        <p:nvSpPr>
          <p:cNvPr id="146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851775" cy="2819400"/>
          </a:xfrm>
        </p:spPr>
        <p:txBody>
          <a:bodyPr/>
          <a:lstStyle>
            <a:lvl1pPr algn="ctr">
              <a:defRPr sz="4800" b="0">
                <a:solidFill>
                  <a:srgbClr val="000099"/>
                </a:solidFill>
              </a:defRPr>
            </a:lvl1pPr>
          </a:lstStyle>
          <a:p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8100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>
                <a:solidFill>
                  <a:srgbClr val="800000"/>
                </a:solidFill>
              </a:defRPr>
            </a:lvl1pPr>
          </a:lstStyle>
          <a:p>
            <a:r>
              <a:rPr lang="en-US" altLang="en-US"/>
              <a:t>Click to edit Master subtitle style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156751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1"/>
            <a:ext cx="8839200" cy="685799"/>
          </a:xfrm>
        </p:spPr>
        <p:txBody>
          <a:bodyPr/>
          <a:lstStyle>
            <a:lvl1pPr algn="ctr"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791200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B5E80F-5705-D54D-BF5D-12FD68440DA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5755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862387"/>
            <a:ext cx="7772400" cy="1362075"/>
          </a:xfrm>
        </p:spPr>
        <p:txBody>
          <a:bodyPr/>
          <a:lstStyle>
            <a:lvl1pPr algn="l">
              <a:defRPr sz="4000" b="1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362200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E1B9EC-83B1-3F4A-B60E-50DAEEB2D74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1683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990600"/>
            <a:ext cx="4343400" cy="563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343400" cy="563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7B3C36-7A3F-8D48-8236-44842619D13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7424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7686EE-6356-8043-8C71-D483AF4992F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20353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458200" cy="8651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066800"/>
            <a:ext cx="4267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066800"/>
            <a:ext cx="4267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FDE19A-0BF8-3842-9CDE-0F147FD2542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850466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229600" cy="8381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143000"/>
            <a:ext cx="42672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143000"/>
            <a:ext cx="4267200" cy="25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0" y="3857451"/>
            <a:ext cx="4267200" cy="25433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89C7AA-96B9-4C43-8F8B-EB4223D2E8A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101381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28600" y="228600"/>
            <a:ext cx="8382000" cy="8651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143000"/>
            <a:ext cx="4267200" cy="2646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143000"/>
            <a:ext cx="4267200" cy="2646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228600" y="3906838"/>
            <a:ext cx="4267200" cy="2646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3906838"/>
            <a:ext cx="4267200" cy="2646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A0E285-EED8-074F-9339-24E84412BB6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8426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458200" cy="10175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295400"/>
            <a:ext cx="8458200" cy="5230813"/>
          </a:xfrm>
        </p:spPr>
        <p:txBody>
          <a:bodyPr/>
          <a:lstStyle/>
          <a:p>
            <a:pPr lvl="0"/>
            <a:r>
              <a:rPr lang="en-US" noProof="0" dirty="0"/>
              <a:t>Click icon to add table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20D3CF-895D-114B-B80C-160B3B051BC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2859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0E0F32-E018-474D-ACFF-3073DEE0E4A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669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76200"/>
            <a:ext cx="8839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990600"/>
            <a:ext cx="88392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54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1" charset="0"/>
                <a:ea typeface="Tahoma" pitchFamily="1" charset="0"/>
                <a:cs typeface="Tahoma" pitchFamily="1" charset="0"/>
              </a:defRPr>
            </a:lvl1pPr>
          </a:lstStyle>
          <a:p>
            <a:fld id="{A602ED00-9355-7042-A2F3-EC21E46B2D9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29" name="TextBox 8"/>
          <p:cNvSpPr txBox="1">
            <a:spLocks noChangeArrowheads="1"/>
          </p:cNvSpPr>
          <p:nvPr userDrawn="1"/>
        </p:nvSpPr>
        <p:spPr bwMode="auto">
          <a:xfrm>
            <a:off x="228600" y="6553200"/>
            <a:ext cx="8229600" cy="461963"/>
          </a:xfrm>
          <a:prstGeom prst="rect">
            <a:avLst/>
          </a:prstGeom>
          <a:noFill/>
          <a:ln>
            <a:noFill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rgbClr val="0070C0"/>
                </a:solidFill>
                <a:latin typeface="Microsoft Sans Serif" pitchFamily="1" charset="0"/>
                <a:ea typeface="Microsoft Sans Serif" pitchFamily="1" charset="0"/>
                <a:cs typeface="Microsoft Sans Serif" pitchFamily="1" charset="0"/>
              </a:rPr>
              <a:t>Jespersen/</a:t>
            </a:r>
            <a:r>
              <a:rPr lang="en-US" sz="1200" dirty="0" err="1">
                <a:solidFill>
                  <a:srgbClr val="0070C0"/>
                </a:solidFill>
                <a:latin typeface="Microsoft Sans Serif" pitchFamily="1" charset="0"/>
                <a:ea typeface="Microsoft Sans Serif" pitchFamily="1" charset="0"/>
                <a:cs typeface="Microsoft Sans Serif" pitchFamily="1" charset="0"/>
              </a:rPr>
              <a:t>Hyslop</a:t>
            </a:r>
            <a:r>
              <a:rPr lang="en-US" sz="1200" dirty="0">
                <a:solidFill>
                  <a:srgbClr val="0070C0"/>
                </a:solidFill>
                <a:latin typeface="Microsoft Sans Serif" pitchFamily="1" charset="0"/>
                <a:ea typeface="Microsoft Sans Serif" pitchFamily="1" charset="0"/>
                <a:cs typeface="Microsoft Sans Serif" pitchFamily="1" charset="0"/>
              </a:rPr>
              <a:t>, Chemistry7E, Copyright © 2015 John Wiley &amp; Sons, Inc. All Rights Reserved</a:t>
            </a:r>
          </a:p>
          <a:p>
            <a:pPr algn="ctr"/>
            <a:r>
              <a:rPr lang="en-US" sz="1200" dirty="0">
                <a:solidFill>
                  <a:srgbClr val="731616"/>
                </a:solidFill>
                <a:latin typeface="Microsoft Sans Serif" pitchFamily="1" charset="0"/>
                <a:ea typeface="Microsoft Sans Serif" pitchFamily="1" charset="0"/>
                <a:cs typeface="Microsoft Sans Serif" pitchFamily="1" charset="0"/>
              </a:rPr>
              <a:t>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1" charset="2"/>
        <a:buChar char="§"/>
        <a:defRPr sz="3200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Font typeface="Wingdings" pitchFamily="1" charset="2"/>
        <a:buChar char="§"/>
        <a:defRPr sz="2800">
          <a:solidFill>
            <a:schemeClr val="tx1"/>
          </a:solidFill>
          <a:latin typeface="Tahoma" pitchFamily="34" charset="0"/>
          <a:ea typeface="Tahoma" charset="0"/>
          <a:cs typeface="Tahoma" pitchFamily="34" charset="0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Font typeface="Wingdings" pitchFamily="1" charset="2"/>
        <a:buChar char="§"/>
        <a:defRPr sz="2400">
          <a:solidFill>
            <a:schemeClr val="tx1"/>
          </a:solidFill>
          <a:latin typeface="Tahoma" pitchFamily="34" charset="0"/>
          <a:ea typeface="Tahoma" charset="0"/>
          <a:cs typeface="Tahoma" pitchFamily="34" charset="0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Font typeface="Wingdings" pitchFamily="1" charset="2"/>
        <a:buChar char="§"/>
        <a:defRPr sz="2000">
          <a:solidFill>
            <a:schemeClr val="tx1"/>
          </a:solidFill>
          <a:latin typeface="Tahoma" pitchFamily="34" charset="0"/>
          <a:ea typeface="Tahoma" charset="0"/>
          <a:cs typeface="Tahoma" pitchFamily="34" charset="0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Font typeface="Wingdings" pitchFamily="1" charset="2"/>
        <a:buChar char="§"/>
        <a:defRPr>
          <a:solidFill>
            <a:schemeClr val="tx1"/>
          </a:solidFill>
          <a:latin typeface="Tahoma" pitchFamily="34" charset="0"/>
          <a:ea typeface="Tahoma" charset="0"/>
          <a:cs typeface="Tahoma" pitchFamily="34" charset="0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 algn="ctr">
              <a:defRPr/>
            </a:pPr>
            <a:endParaRPr lang="en-US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87C5AFF8-FA15-45E2-81F5-EB3F7ECF4121}" type="slidenum">
              <a:rPr lang="en-US">
                <a:solidFill>
                  <a:srgbClr val="000000"/>
                </a:solidFill>
                <a:ea typeface="+mn-ea"/>
                <a:cs typeface="+mn-cs"/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086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  <p:sldLayoutId id="2147483927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 algn="ctr">
              <a:defRPr/>
            </a:pPr>
            <a:endParaRPr lang="en-US">
              <a:solidFill>
                <a:srgbClr val="000000"/>
              </a:solidFill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87C5AFF8-FA15-45E2-81F5-EB3F7ECF4121}" type="slidenum">
              <a:rPr lang="en-US">
                <a:solidFill>
                  <a:srgbClr val="000000"/>
                </a:solidFill>
                <a:cs typeface="+mn-cs"/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193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  <p:sldLayoutId id="2147483953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76200"/>
            <a:ext cx="8839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990600"/>
            <a:ext cx="88392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54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1" charset="0"/>
                <a:ea typeface="Tahoma" pitchFamily="1" charset="0"/>
                <a:cs typeface="Tahoma" pitchFamily="1" charset="0"/>
              </a:defRPr>
            </a:lvl1pPr>
          </a:lstStyle>
          <a:p>
            <a:fld id="{A602ED00-9355-7042-A2F3-EC21E46B2D9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TextBox 8"/>
          <p:cNvSpPr txBox="1">
            <a:spLocks noChangeArrowheads="1"/>
          </p:cNvSpPr>
          <p:nvPr userDrawn="1"/>
        </p:nvSpPr>
        <p:spPr bwMode="auto">
          <a:xfrm>
            <a:off x="228600" y="6553200"/>
            <a:ext cx="8229600" cy="461963"/>
          </a:xfrm>
          <a:prstGeom prst="rect">
            <a:avLst/>
          </a:prstGeom>
          <a:noFill/>
          <a:ln>
            <a:noFill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rgbClr val="0070C0"/>
                </a:solidFill>
                <a:latin typeface="Microsoft Sans Serif" pitchFamily="1" charset="0"/>
                <a:ea typeface="Microsoft Sans Serif" pitchFamily="1" charset="0"/>
                <a:cs typeface="Microsoft Sans Serif" pitchFamily="1" charset="0"/>
              </a:rPr>
              <a:t>Jespersen/</a:t>
            </a:r>
            <a:r>
              <a:rPr lang="en-US" sz="1200" dirty="0" err="1">
                <a:solidFill>
                  <a:srgbClr val="0070C0"/>
                </a:solidFill>
                <a:latin typeface="Microsoft Sans Serif" pitchFamily="1" charset="0"/>
                <a:ea typeface="Microsoft Sans Serif" pitchFamily="1" charset="0"/>
                <a:cs typeface="Microsoft Sans Serif" pitchFamily="1" charset="0"/>
              </a:rPr>
              <a:t>Hyslop</a:t>
            </a:r>
            <a:r>
              <a:rPr lang="en-US" sz="1200" dirty="0">
                <a:solidFill>
                  <a:srgbClr val="0070C0"/>
                </a:solidFill>
                <a:latin typeface="Microsoft Sans Serif" pitchFamily="1" charset="0"/>
                <a:ea typeface="Microsoft Sans Serif" pitchFamily="1" charset="0"/>
                <a:cs typeface="Microsoft Sans Serif" pitchFamily="1" charset="0"/>
              </a:rPr>
              <a:t>, Chemistry7E, Copyright © 2015 John Wiley &amp; Sons, Inc. All Rights Reserved</a:t>
            </a:r>
          </a:p>
          <a:p>
            <a:pPr algn="ctr"/>
            <a:r>
              <a:rPr lang="en-US" sz="1200" dirty="0">
                <a:solidFill>
                  <a:srgbClr val="731616"/>
                </a:solidFill>
                <a:latin typeface="Microsoft Sans Serif" pitchFamily="1" charset="0"/>
                <a:ea typeface="Microsoft Sans Serif" pitchFamily="1" charset="0"/>
                <a:cs typeface="Microsoft Sans Serif" pitchFamily="1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819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1" charset="2"/>
        <a:buChar char="§"/>
        <a:defRPr sz="3200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Font typeface="Wingdings" pitchFamily="1" charset="2"/>
        <a:buChar char="§"/>
        <a:defRPr sz="2800">
          <a:solidFill>
            <a:schemeClr val="tx1"/>
          </a:solidFill>
          <a:latin typeface="Tahoma" pitchFamily="34" charset="0"/>
          <a:ea typeface="Tahoma" charset="0"/>
          <a:cs typeface="Tahoma" pitchFamily="34" charset="0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Font typeface="Wingdings" pitchFamily="1" charset="2"/>
        <a:buChar char="§"/>
        <a:defRPr sz="2400">
          <a:solidFill>
            <a:schemeClr val="tx1"/>
          </a:solidFill>
          <a:latin typeface="Tahoma" pitchFamily="34" charset="0"/>
          <a:ea typeface="Tahoma" charset="0"/>
          <a:cs typeface="Tahoma" pitchFamily="34" charset="0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Font typeface="Wingdings" pitchFamily="1" charset="2"/>
        <a:buChar char="§"/>
        <a:defRPr sz="2000">
          <a:solidFill>
            <a:schemeClr val="tx1"/>
          </a:solidFill>
          <a:latin typeface="Tahoma" pitchFamily="34" charset="0"/>
          <a:ea typeface="Tahoma" charset="0"/>
          <a:cs typeface="Tahoma" pitchFamily="34" charset="0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Font typeface="Wingdings" pitchFamily="1" charset="2"/>
        <a:buChar char="§"/>
        <a:defRPr>
          <a:solidFill>
            <a:schemeClr val="tx1"/>
          </a:solidFill>
          <a:latin typeface="Tahoma" pitchFamily="34" charset="0"/>
          <a:ea typeface="Tahoma" charset="0"/>
          <a:cs typeface="Tahoma" pitchFamily="34" charset="0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76200"/>
            <a:ext cx="8839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990600"/>
            <a:ext cx="88392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54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1" charset="0"/>
                <a:ea typeface="Tahoma" pitchFamily="1" charset="0"/>
                <a:cs typeface="Tahoma" pitchFamily="1" charset="0"/>
              </a:defRPr>
            </a:lvl1pPr>
          </a:lstStyle>
          <a:p>
            <a:fld id="{A602ED00-9355-7042-A2F3-EC21E46B2D9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TextBox 8"/>
          <p:cNvSpPr txBox="1">
            <a:spLocks noChangeArrowheads="1"/>
          </p:cNvSpPr>
          <p:nvPr userDrawn="1"/>
        </p:nvSpPr>
        <p:spPr bwMode="auto">
          <a:xfrm>
            <a:off x="228600" y="6553200"/>
            <a:ext cx="8229600" cy="461963"/>
          </a:xfrm>
          <a:prstGeom prst="rect">
            <a:avLst/>
          </a:prstGeom>
          <a:noFill/>
          <a:ln>
            <a:noFill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rgbClr val="0070C0"/>
                </a:solidFill>
                <a:latin typeface="Microsoft Sans Serif" pitchFamily="1" charset="0"/>
                <a:ea typeface="Microsoft Sans Serif" pitchFamily="1" charset="0"/>
                <a:cs typeface="Microsoft Sans Serif" pitchFamily="1" charset="0"/>
              </a:rPr>
              <a:t>Jespersen/</a:t>
            </a:r>
            <a:r>
              <a:rPr lang="en-US" sz="1200" dirty="0" err="1">
                <a:solidFill>
                  <a:srgbClr val="0070C0"/>
                </a:solidFill>
                <a:latin typeface="Microsoft Sans Serif" pitchFamily="1" charset="0"/>
                <a:ea typeface="Microsoft Sans Serif" pitchFamily="1" charset="0"/>
                <a:cs typeface="Microsoft Sans Serif" pitchFamily="1" charset="0"/>
              </a:rPr>
              <a:t>Hyslop</a:t>
            </a:r>
            <a:r>
              <a:rPr lang="en-US" sz="1200" dirty="0">
                <a:solidFill>
                  <a:srgbClr val="0070C0"/>
                </a:solidFill>
                <a:latin typeface="Microsoft Sans Serif" pitchFamily="1" charset="0"/>
                <a:ea typeface="Microsoft Sans Serif" pitchFamily="1" charset="0"/>
                <a:cs typeface="Microsoft Sans Serif" pitchFamily="1" charset="0"/>
              </a:rPr>
              <a:t>, Chemistry7E, Copyright © 2015 John Wiley &amp; Sons, Inc. All Rights Reserved</a:t>
            </a:r>
          </a:p>
          <a:p>
            <a:pPr algn="ctr"/>
            <a:r>
              <a:rPr lang="en-US" sz="1200" dirty="0">
                <a:solidFill>
                  <a:srgbClr val="731616"/>
                </a:solidFill>
                <a:latin typeface="Microsoft Sans Serif" pitchFamily="1" charset="0"/>
                <a:ea typeface="Microsoft Sans Serif" pitchFamily="1" charset="0"/>
                <a:cs typeface="Microsoft Sans Serif" pitchFamily="1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6334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  <p:sldLayoutId id="2147483974" r:id="rId9"/>
    <p:sldLayoutId id="2147483975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1" charset="2"/>
        <a:buChar char="§"/>
        <a:defRPr sz="3200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Font typeface="Wingdings" pitchFamily="1" charset="2"/>
        <a:buChar char="§"/>
        <a:defRPr sz="2800">
          <a:solidFill>
            <a:schemeClr val="tx1"/>
          </a:solidFill>
          <a:latin typeface="Tahoma" pitchFamily="34" charset="0"/>
          <a:ea typeface="Tahoma" charset="0"/>
          <a:cs typeface="Tahoma" pitchFamily="34" charset="0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Font typeface="Wingdings" pitchFamily="1" charset="2"/>
        <a:buChar char="§"/>
        <a:defRPr sz="2400">
          <a:solidFill>
            <a:schemeClr val="tx1"/>
          </a:solidFill>
          <a:latin typeface="Tahoma" pitchFamily="34" charset="0"/>
          <a:ea typeface="Tahoma" charset="0"/>
          <a:cs typeface="Tahoma" pitchFamily="34" charset="0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Font typeface="Wingdings" pitchFamily="1" charset="2"/>
        <a:buChar char="§"/>
        <a:defRPr sz="2000">
          <a:solidFill>
            <a:schemeClr val="tx1"/>
          </a:solidFill>
          <a:latin typeface="Tahoma" pitchFamily="34" charset="0"/>
          <a:ea typeface="Tahoma" charset="0"/>
          <a:cs typeface="Tahoma" pitchFamily="34" charset="0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Font typeface="Wingdings" pitchFamily="1" charset="2"/>
        <a:buChar char="§"/>
        <a:defRPr>
          <a:solidFill>
            <a:schemeClr val="tx1"/>
          </a:solidFill>
          <a:latin typeface="Tahoma" pitchFamily="34" charset="0"/>
          <a:ea typeface="Tahoma" charset="0"/>
          <a:cs typeface="Tahoma" pitchFamily="34" charset="0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3.jpeg"/><Relationship Id="rId4" Type="http://schemas.openxmlformats.org/officeDocument/2006/relationships/image" Target="../media/image12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3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5.w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7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8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9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0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2.emf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8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3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46113" y="1371600"/>
            <a:ext cx="7851775" cy="1905000"/>
          </a:xfrm>
        </p:spPr>
        <p:txBody>
          <a:bodyPr/>
          <a:lstStyle/>
          <a:p>
            <a:pPr eaLnBrk="1" hangingPunct="1"/>
            <a:r>
              <a:rPr lang="en-US" b="1" dirty="0">
                <a:latin typeface="Tahoma" pitchFamily="1" charset="0"/>
                <a:cs typeface="Tahoma" pitchFamily="1" charset="0"/>
              </a:rPr>
              <a:t>Chapter 1</a:t>
            </a:r>
            <a:r>
              <a:rPr lang="en-US" dirty="0">
                <a:latin typeface="Tahoma" pitchFamily="1" charset="0"/>
                <a:cs typeface="Tahoma" pitchFamily="1" charset="0"/>
              </a:rPr>
              <a:t/>
            </a:r>
            <a:br>
              <a:rPr lang="en-US" dirty="0">
                <a:latin typeface="Tahoma" pitchFamily="1" charset="0"/>
                <a:cs typeface="Tahoma" pitchFamily="1" charset="0"/>
              </a:rPr>
            </a:br>
            <a:r>
              <a:rPr lang="en-US" dirty="0">
                <a:latin typeface="Tahoma" pitchFamily="1" charset="0"/>
                <a:cs typeface="Tahoma" pitchFamily="1" charset="0"/>
              </a:rPr>
              <a:t>Scientific Measurements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647700" y="3810000"/>
            <a:ext cx="7848600" cy="2667000"/>
          </a:xfrm>
        </p:spPr>
        <p:txBody>
          <a:bodyPr/>
          <a:lstStyle/>
          <a:p>
            <a:pPr>
              <a:buFont typeface="Wingdings" pitchFamily="1" charset="2"/>
              <a:buNone/>
            </a:pPr>
            <a:r>
              <a:rPr lang="en-US" b="1" dirty="0">
                <a:solidFill>
                  <a:srgbClr val="0070C0"/>
                </a:solidFill>
                <a:latin typeface="Tahoma" pitchFamily="1" charset="0"/>
                <a:ea typeface="Times New Roman" pitchFamily="1" charset="0"/>
                <a:cs typeface="Times New Roman" pitchFamily="1" charset="0"/>
              </a:rPr>
              <a:t>Chemistry: The Molecular Nature of Matter, 7E</a:t>
            </a:r>
          </a:p>
          <a:p>
            <a:pPr eaLnBrk="1" hangingPunct="1">
              <a:buFont typeface="Wingdings" pitchFamily="1" charset="2"/>
              <a:buNone/>
            </a:pPr>
            <a:endParaRPr lang="en-US" dirty="0">
              <a:latin typeface="Tahoma" pitchFamily="1" charset="0"/>
              <a:cs typeface="Tahoma" pitchFamily="1" charset="0"/>
            </a:endParaRPr>
          </a:p>
          <a:p>
            <a:pPr>
              <a:buFont typeface="Wingdings" pitchFamily="1" charset="2"/>
              <a:buNone/>
            </a:pPr>
            <a:r>
              <a:rPr lang="en-US" dirty="0">
                <a:solidFill>
                  <a:srgbClr val="0070C0"/>
                </a:solidFill>
                <a:latin typeface="Tahoma" pitchFamily="1" charset="0"/>
                <a:ea typeface="Times New Roman" pitchFamily="1" charset="0"/>
                <a:cs typeface="Times New Roman" pitchFamily="1" charset="0"/>
              </a:rPr>
              <a:t>Jespersen/</a:t>
            </a:r>
            <a:r>
              <a:rPr lang="en-US" dirty="0" err="1">
                <a:solidFill>
                  <a:srgbClr val="0070C0"/>
                </a:solidFill>
                <a:latin typeface="Tahoma" pitchFamily="1" charset="0"/>
                <a:ea typeface="Times New Roman" pitchFamily="1" charset="0"/>
                <a:cs typeface="Times New Roman" pitchFamily="1" charset="0"/>
              </a:rPr>
              <a:t>Hyslop</a:t>
            </a:r>
            <a:endParaRPr lang="en-US" dirty="0">
              <a:solidFill>
                <a:srgbClr val="0070C0"/>
              </a:solidFill>
              <a:latin typeface="Tahoma" pitchFamily="1" charset="0"/>
              <a:cs typeface="Tahoma" pitchFamily="1" charset="0"/>
            </a:endParaRPr>
          </a:p>
        </p:txBody>
      </p:sp>
      <p:pic>
        <p:nvPicPr>
          <p:cNvPr id="3076" name="Picture 3" descr="Wiley_Logo_0112_k.eps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3300" y="152400"/>
            <a:ext cx="2057400" cy="43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E0F32-E018-474D-ACFF-3073DEE0E4A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1053935" y="1280556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Classification of Matter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Physical and Chemical properties of Matter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Measurement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Handling Numbers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Dimensional Analysis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ar-AE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31324" y="195344"/>
            <a:ext cx="56051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Chapter  in context</a:t>
            </a:r>
          </a:p>
        </p:txBody>
      </p:sp>
    </p:spTree>
    <p:extLst>
      <p:ext uri="{BB962C8B-B14F-4D97-AF65-F5344CB8AC3E}">
        <p14:creationId xmlns:p14="http://schemas.microsoft.com/office/powerpoint/2010/main" val="10439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pPr eaLnBrk="1" hangingPunct="1"/>
            <a:r>
              <a:rPr lang="en-US">
                <a:latin typeface="Tahoma" pitchFamily="1" charset="0"/>
                <a:cs typeface="Tahoma" pitchFamily="1" charset="0"/>
              </a:rPr>
              <a:t>Matter and Its Classifications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200"/>
              </a:spcBef>
              <a:buFont typeface="Wingdings" pitchFamily="1" charset="2"/>
              <a:buNone/>
            </a:pPr>
            <a:endParaRPr lang="en-US" b="1" dirty="0">
              <a:solidFill>
                <a:srgbClr val="000099"/>
              </a:solidFill>
              <a:latin typeface="Tahoma" pitchFamily="1" charset="0"/>
              <a:cs typeface="Tahoma" pitchFamily="1" charset="0"/>
            </a:endParaRPr>
          </a:p>
          <a:p>
            <a:pPr eaLnBrk="1" hangingPunct="1">
              <a:spcBef>
                <a:spcPts val="200"/>
              </a:spcBef>
              <a:buFont typeface="Wingdings" pitchFamily="1" charset="2"/>
              <a:buNone/>
            </a:pPr>
            <a:r>
              <a:rPr lang="en-US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Matter</a:t>
            </a:r>
          </a:p>
          <a:p>
            <a:pPr eaLnBrk="1" hangingPunct="1">
              <a:spcBef>
                <a:spcPts val="200"/>
              </a:spcBef>
              <a:buFont typeface="Wingdings" pitchFamily="1" charset="2"/>
              <a:buNone/>
            </a:pPr>
            <a:endParaRPr lang="en-US" dirty="0">
              <a:solidFill>
                <a:srgbClr val="000099"/>
              </a:solidFill>
              <a:latin typeface="Tahoma" pitchFamily="1" charset="0"/>
              <a:cs typeface="Tahoma" pitchFamily="1" charset="0"/>
            </a:endParaRPr>
          </a:p>
          <a:p>
            <a:pPr lvl="1" eaLnBrk="1" hangingPunct="1">
              <a:spcBef>
                <a:spcPts val="200"/>
              </a:spcBef>
            </a:pP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Anything that has </a:t>
            </a:r>
            <a:r>
              <a:rPr lang="en-US" b="1" dirty="0">
                <a:latin typeface="Tahoma" pitchFamily="1" charset="0"/>
                <a:ea typeface="Tahoma" pitchFamily="1" charset="0"/>
                <a:cs typeface="Tahoma" pitchFamily="1" charset="0"/>
              </a:rPr>
              <a:t>mass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 and occupies space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66FED56-FFD5-2F43-BE0D-CBCCDA62BFBF}" type="slidenum">
              <a:rPr lang="en-US"/>
              <a:pPr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C2D76B-5A4F-4A03-AD1C-EE4E91B9F7F8}"/>
              </a:ext>
            </a:extLst>
          </p:cNvPr>
          <p:cNvSpPr txBox="1"/>
          <p:nvPr/>
        </p:nvSpPr>
        <p:spPr>
          <a:xfrm>
            <a:off x="1125415" y="3429000"/>
            <a:ext cx="60350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solidFill>
                  <a:srgbClr val="000099"/>
                </a:solidFill>
              </a:rPr>
              <a:t>Matter can be classified in two ways</a:t>
            </a:r>
          </a:p>
          <a:p>
            <a:r>
              <a:rPr lang="en-CA" sz="28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sz="2800" dirty="0"/>
              <a:t>By state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CA" sz="2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sz="2800" dirty="0"/>
              <a:t>By composition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/>
          </p:cNvSpPr>
          <p:nvPr/>
        </p:nvSpPr>
        <p:spPr bwMode="auto">
          <a:xfrm>
            <a:off x="152400" y="-30678"/>
            <a:ext cx="8839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4000" b="1" dirty="0">
                <a:latin typeface="Tahoma" pitchFamily="1" charset="0"/>
                <a:ea typeface="Tahoma" pitchFamily="1" charset="0"/>
                <a:cs typeface="Tahoma" pitchFamily="1" charset="0"/>
              </a:rPr>
              <a:t>States of Matter</a:t>
            </a:r>
          </a:p>
        </p:txBody>
      </p:sp>
      <p:sp>
        <p:nvSpPr>
          <p:cNvPr id="26627" name="Content Placeholder 2"/>
          <p:cNvSpPr>
            <a:spLocks/>
          </p:cNvSpPr>
          <p:nvPr/>
        </p:nvSpPr>
        <p:spPr bwMode="auto">
          <a:xfrm>
            <a:off x="0" y="312222"/>
            <a:ext cx="9793458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eaLnBrk="0" hangingPunct="0">
              <a:spcBef>
                <a:spcPts val="3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b="1" dirty="0">
                <a:latin typeface="Tahoma" pitchFamily="1" charset="0"/>
                <a:ea typeface="Tahoma" pitchFamily="1" charset="0"/>
                <a:cs typeface="Tahoma" pitchFamily="1" charset="0"/>
              </a:rPr>
              <a:t>Solids: </a:t>
            </a:r>
          </a:p>
          <a:p>
            <a:pPr marL="457200" indent="-457200" eaLnBrk="0" hangingPunct="0"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33CC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Fixed shape and volume</a:t>
            </a:r>
          </a:p>
          <a:p>
            <a:pPr marL="457200" indent="-457200" eaLnBrk="0" hangingPunct="0">
              <a:spcBef>
                <a:spcPts val="3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Particles are close together</a:t>
            </a:r>
          </a:p>
          <a:p>
            <a:pPr marL="457200" indent="-457200" eaLnBrk="0" hangingPunct="0"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restricted motion</a:t>
            </a:r>
          </a:p>
          <a:p>
            <a:pPr marL="342900" indent="-342900" eaLnBrk="0" hangingPunct="0">
              <a:spcBef>
                <a:spcPts val="3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b="1" dirty="0">
                <a:latin typeface="Tahoma" pitchFamily="1" charset="0"/>
                <a:ea typeface="Tahoma" pitchFamily="1" charset="0"/>
                <a:cs typeface="Tahoma" pitchFamily="1" charset="0"/>
              </a:rPr>
              <a:t>                </a:t>
            </a:r>
          </a:p>
          <a:p>
            <a:pPr marL="342900" indent="-342900" eaLnBrk="0" hangingPunct="0">
              <a:spcBef>
                <a:spcPts val="3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b="1" dirty="0">
                <a:latin typeface="Tahoma" pitchFamily="1" charset="0"/>
                <a:ea typeface="Tahoma" pitchFamily="1" charset="0"/>
                <a:cs typeface="Tahoma" pitchFamily="1" charset="0"/>
              </a:rPr>
              <a:t> </a:t>
            </a:r>
            <a:endParaRPr lang="en-US" sz="2800" dirty="0">
              <a:latin typeface="Tahoma" pitchFamily="1" charset="0"/>
              <a:ea typeface="Tahoma" pitchFamily="1" charset="0"/>
              <a:cs typeface="Tahoma" pitchFamily="1" charset="0"/>
            </a:endParaRPr>
          </a:p>
        </p:txBody>
      </p:sp>
      <p:sp>
        <p:nvSpPr>
          <p:cNvPr id="24580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DA24336F-1FEC-6C4E-88F1-27552174F71B}" type="slidenum">
              <a:rPr lang="en-US" sz="1200">
                <a:latin typeface="Verdana" pitchFamily="1" charset="0"/>
              </a:rPr>
              <a:pPr algn="r"/>
              <a:t>4</a:t>
            </a:fld>
            <a:endParaRPr lang="en-US" sz="1200">
              <a:latin typeface="Verdana" pitchFamily="1" charset="0"/>
            </a:endParaRPr>
          </a:p>
        </p:txBody>
      </p:sp>
      <p:pic>
        <p:nvPicPr>
          <p:cNvPr id="10" name="Picture 9" descr="chem7e_fig_01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21" y="2482612"/>
            <a:ext cx="3263408" cy="18927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49D60E-1BF6-4ED9-ACED-A8C5B4A66DF0}"/>
              </a:ext>
            </a:extLst>
          </p:cNvPr>
          <p:cNvSpPr txBox="1"/>
          <p:nvPr/>
        </p:nvSpPr>
        <p:spPr>
          <a:xfrm flipH="1" flipV="1">
            <a:off x="5535143" y="3506340"/>
            <a:ext cx="3304057" cy="99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9E70D0-804A-4C99-B20B-742092E9B628}"/>
              </a:ext>
            </a:extLst>
          </p:cNvPr>
          <p:cNvSpPr txBox="1"/>
          <p:nvPr/>
        </p:nvSpPr>
        <p:spPr>
          <a:xfrm>
            <a:off x="12548382" y="43469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DE7083-61F3-4EC9-9F58-C838B1246E74}"/>
              </a:ext>
            </a:extLst>
          </p:cNvPr>
          <p:cNvSpPr txBox="1"/>
          <p:nvPr/>
        </p:nvSpPr>
        <p:spPr>
          <a:xfrm>
            <a:off x="4572000" y="2672553"/>
            <a:ext cx="4614203" cy="2392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hangingPunct="0">
              <a:spcBef>
                <a:spcPts val="3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b="1" dirty="0">
                <a:latin typeface="Tahoma" pitchFamily="1" charset="0"/>
                <a:ea typeface="Tahoma" pitchFamily="1" charset="0"/>
                <a:cs typeface="Tahoma" pitchFamily="1" charset="0"/>
              </a:rPr>
              <a:t>Liquids: </a:t>
            </a:r>
          </a:p>
          <a:p>
            <a:pPr marL="669925" lvl="1" indent="-325438" eaLnBrk="0" hangingPunct="0">
              <a:spcBef>
                <a:spcPts val="300"/>
              </a:spcBef>
              <a:buClr>
                <a:schemeClr val="tx1"/>
              </a:buClr>
              <a:buFont typeface="Wingdings" pitchFamily="1" charset="2"/>
              <a:buChar char="§"/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Fixed volume, </a:t>
            </a:r>
            <a:r>
              <a:rPr lang="en-US" sz="2800" dirty="0">
                <a:solidFill>
                  <a:srgbClr val="0033CC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but take container shape</a:t>
            </a:r>
          </a:p>
          <a:p>
            <a:pPr marL="669925" lvl="1" indent="-325438" eaLnBrk="0" hangingPunct="0">
              <a:spcBef>
                <a:spcPts val="300"/>
              </a:spcBef>
              <a:buClr>
                <a:schemeClr val="tx1"/>
              </a:buClr>
              <a:buFont typeface="Wingdings" pitchFamily="1" charset="2"/>
              <a:buChar char="§"/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Particles close together</a:t>
            </a:r>
          </a:p>
          <a:p>
            <a:pPr marL="669925" lvl="1" indent="-325438" eaLnBrk="0" hangingPunct="0">
              <a:spcBef>
                <a:spcPts val="300"/>
              </a:spcBef>
              <a:buClr>
                <a:schemeClr val="tx1"/>
              </a:buClr>
              <a:buFont typeface="Wingdings" pitchFamily="1" charset="2"/>
              <a:buChar char="§"/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able to 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6F6C9D-BD8A-4675-88DE-E52575633EDC}"/>
              </a:ext>
            </a:extLst>
          </p:cNvPr>
          <p:cNvSpPr txBox="1"/>
          <p:nvPr/>
        </p:nvSpPr>
        <p:spPr>
          <a:xfrm>
            <a:off x="426572" y="4822286"/>
            <a:ext cx="7076346" cy="2300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hangingPunct="0">
              <a:spcBef>
                <a:spcPts val="3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b="1" dirty="0">
                <a:latin typeface="Tahoma" pitchFamily="1" charset="0"/>
                <a:ea typeface="Tahoma" pitchFamily="1" charset="0"/>
                <a:cs typeface="Tahoma" pitchFamily="1" charset="0"/>
              </a:rPr>
              <a:t>Gases: </a:t>
            </a:r>
            <a:endParaRPr lang="en-US" sz="3000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marL="801687" lvl="1" indent="-457200" eaLnBrk="0" hangingPunct="0"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33CC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No fixed shape and volume</a:t>
            </a:r>
          </a:p>
          <a:p>
            <a:pPr marL="801687" lvl="1" indent="-457200" eaLnBrk="0" hangingPunct="0"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Expand to fill entire container</a:t>
            </a:r>
          </a:p>
          <a:p>
            <a:pPr marL="801687" lvl="1" indent="-457200" eaLnBrk="0" hangingPunct="0"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Particles</a:t>
            </a:r>
            <a:r>
              <a:rPr lang="en-US" sz="3200" dirty="0">
                <a:latin typeface="Tahoma" pitchFamily="1" charset="0"/>
                <a:ea typeface="Tahoma" pitchFamily="1" charset="0"/>
                <a:cs typeface="Tahoma" pitchFamily="1" charset="0"/>
              </a:rPr>
              <a:t> </a:t>
            </a: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separated by lots of space</a:t>
            </a:r>
          </a:p>
          <a:p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pPr eaLnBrk="1" hangingPunct="1"/>
            <a:r>
              <a:rPr lang="en-US" dirty="0">
                <a:latin typeface="Tahoma" pitchFamily="1" charset="0"/>
                <a:cs typeface="Tahoma" pitchFamily="1" charset="0"/>
              </a:rPr>
              <a:t>Matter by composition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1" charset="2"/>
              <a:buNone/>
            </a:pPr>
            <a:endParaRPr lang="en-US" b="1" dirty="0">
              <a:solidFill>
                <a:srgbClr val="000099"/>
              </a:solidFill>
              <a:latin typeface="Tahoma" pitchFamily="1" charset="0"/>
              <a:cs typeface="Tahoma" pitchFamily="1" charset="0"/>
            </a:endParaRPr>
          </a:p>
          <a:p>
            <a:pPr eaLnBrk="1" hangingPunct="1">
              <a:buFont typeface="Wingdings" pitchFamily="1" charset="2"/>
              <a:buNone/>
            </a:pPr>
            <a:r>
              <a:rPr lang="en-US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Pure substances</a:t>
            </a:r>
            <a:endParaRPr lang="en-US" dirty="0">
              <a:solidFill>
                <a:srgbClr val="000099"/>
              </a:solidFill>
              <a:latin typeface="Tahoma" pitchFamily="1" charset="0"/>
              <a:cs typeface="Tahoma" pitchFamily="1" charset="0"/>
            </a:endParaRPr>
          </a:p>
          <a:p>
            <a:pPr lvl="1" eaLnBrk="1" hangingPunct="1"/>
            <a:r>
              <a:rPr lang="en-US" dirty="0">
                <a:solidFill>
                  <a:srgbClr val="FF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Elements and compounds</a:t>
            </a:r>
          </a:p>
          <a:p>
            <a:pPr lvl="1" eaLnBrk="1" hangingPunct="1"/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Composition always same regardless of source</a:t>
            </a:r>
          </a:p>
          <a:p>
            <a:pPr eaLnBrk="1" hangingPunct="1">
              <a:buFont typeface="Wingdings" pitchFamily="1" charset="2"/>
              <a:buNone/>
            </a:pPr>
            <a:endParaRPr lang="en-US" b="1" dirty="0">
              <a:solidFill>
                <a:srgbClr val="000099"/>
              </a:solidFill>
              <a:latin typeface="Tahoma" pitchFamily="1" charset="0"/>
              <a:cs typeface="Tahoma" pitchFamily="1" charset="0"/>
            </a:endParaRPr>
          </a:p>
          <a:p>
            <a:pPr eaLnBrk="1" hangingPunct="1">
              <a:buFont typeface="Wingdings" pitchFamily="1" charset="2"/>
              <a:buNone/>
            </a:pPr>
            <a:r>
              <a:rPr lang="en-US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Mixture</a:t>
            </a:r>
          </a:p>
          <a:p>
            <a:pPr lvl="1" eaLnBrk="1" hangingPunct="1"/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Can have variable compositions</a:t>
            </a:r>
          </a:p>
          <a:p>
            <a:pPr lvl="1" eaLnBrk="1" hangingPunct="1"/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Made up of two or more substances</a:t>
            </a:r>
          </a:p>
          <a:p>
            <a:pPr lvl="1" eaLnBrk="1" hangingPunct="1"/>
            <a:r>
              <a:rPr lang="en-US" dirty="0">
                <a:solidFill>
                  <a:srgbClr val="CC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Two broad categories of mixtures:</a:t>
            </a:r>
          </a:p>
          <a:p>
            <a:pPr lvl="2" eaLnBrk="1" hangingPunct="1"/>
            <a:r>
              <a:rPr lang="en-US" sz="2800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Heterogeneous</a:t>
            </a:r>
          </a:p>
          <a:p>
            <a:pPr lvl="2" eaLnBrk="1" hangingPunct="1"/>
            <a:r>
              <a:rPr lang="en-US" sz="2800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Homogeneous </a:t>
            </a:r>
          </a:p>
          <a:p>
            <a:pPr eaLnBrk="1" hangingPunct="1"/>
            <a:endParaRPr lang="en-US" dirty="0">
              <a:latin typeface="Tahoma" pitchFamily="1" charset="0"/>
              <a:cs typeface="Tahoma" pitchFamily="1" charset="0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4360F-CD9C-3C4B-810A-8F66B4585A8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1" charset="0"/>
                <a:ea typeface="Tahoma" pitchFamily="1" charset="0"/>
                <a:cs typeface="Tahoma" pitchFamily="1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1" charset="0"/>
              <a:ea typeface="Tahoma" pitchFamily="1" charset="0"/>
              <a:cs typeface="Tahoma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51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pPr eaLnBrk="1" hangingPunct="1"/>
            <a:r>
              <a:rPr lang="en-US">
                <a:latin typeface="Tahoma" pitchFamily="1" charset="0"/>
                <a:cs typeface="Tahoma" pitchFamily="1" charset="0"/>
              </a:rPr>
              <a:t>Elements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0" y="940130"/>
            <a:ext cx="9144000" cy="2943101"/>
          </a:xfrm>
        </p:spPr>
        <p:txBody>
          <a:bodyPr/>
          <a:lstStyle/>
          <a:p>
            <a:pPr eaLnBrk="1" hangingPunct="1">
              <a:spcBef>
                <a:spcPts val="400"/>
              </a:spcBef>
            </a:pPr>
            <a:r>
              <a:rPr lang="en-US" dirty="0">
                <a:latin typeface="Tahoma" pitchFamily="1" charset="0"/>
                <a:cs typeface="Tahoma" pitchFamily="1" charset="0"/>
              </a:rPr>
              <a:t>Substances that can’</a:t>
            </a:r>
            <a:r>
              <a:rPr lang="en-US" altLang="ja-JP" dirty="0">
                <a:latin typeface="Tahoma" pitchFamily="1" charset="0"/>
                <a:cs typeface="Tahoma" pitchFamily="1" charset="0"/>
              </a:rPr>
              <a:t>t be decomposed into simpler materials by chemical reactions</a:t>
            </a:r>
          </a:p>
          <a:p>
            <a:pPr eaLnBrk="1" hangingPunct="1">
              <a:spcBef>
                <a:spcPts val="400"/>
              </a:spcBef>
            </a:pPr>
            <a:r>
              <a:rPr lang="en-US" dirty="0">
                <a:latin typeface="Tahoma" pitchFamily="1" charset="0"/>
                <a:cs typeface="Tahoma" pitchFamily="1" charset="0"/>
              </a:rPr>
              <a:t>Substances composed of only one type of atom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CE02D2D-78C0-6B4C-815A-EEC4E9D1BD17}" type="slidenum">
              <a:rPr lang="en-US"/>
              <a:pPr/>
              <a:t>6</a:t>
            </a:fld>
            <a:endParaRPr lang="en-US"/>
          </a:p>
        </p:txBody>
      </p:sp>
      <p:pic>
        <p:nvPicPr>
          <p:cNvPr id="7" name="Picture 6" descr="chem7e_fig_01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3" y="3689059"/>
            <a:ext cx="8168890" cy="212391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73777" y="5812970"/>
            <a:ext cx="205443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Sulfur</a:t>
            </a:r>
            <a:endParaRPr lang="ar-AE" dirty="0"/>
          </a:p>
        </p:txBody>
      </p:sp>
      <p:sp>
        <p:nvSpPr>
          <p:cNvPr id="8" name="TextBox 7"/>
          <p:cNvSpPr txBox="1"/>
          <p:nvPr/>
        </p:nvSpPr>
        <p:spPr>
          <a:xfrm>
            <a:off x="3627912" y="5812970"/>
            <a:ext cx="205443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Gold</a:t>
            </a:r>
            <a:endParaRPr lang="ar-AE" dirty="0"/>
          </a:p>
        </p:txBody>
      </p:sp>
      <p:sp>
        <p:nvSpPr>
          <p:cNvPr id="9" name="TextBox 8"/>
          <p:cNvSpPr txBox="1"/>
          <p:nvPr/>
        </p:nvSpPr>
        <p:spPr>
          <a:xfrm>
            <a:off x="6309757" y="5812970"/>
            <a:ext cx="205443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Carbon (diamond)</a:t>
            </a:r>
            <a:endParaRPr lang="ar-A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pPr eaLnBrk="1" hangingPunct="1"/>
            <a:r>
              <a:rPr lang="en-US">
                <a:latin typeface="Tahoma" pitchFamily="1" charset="0"/>
                <a:cs typeface="Tahoma" pitchFamily="1" charset="0"/>
              </a:rPr>
              <a:t>Chemical Symbols for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8991600" cy="5791200"/>
          </a:xfrm>
        </p:spPr>
        <p:txBody>
          <a:bodyPr/>
          <a:lstStyle/>
          <a:p>
            <a:pPr eaLnBrk="1" hangingPunct="1">
              <a:buFont typeface="Wingdings" pitchFamily="1" charset="2"/>
              <a:buNone/>
            </a:pPr>
            <a:endParaRPr lang="en-US" dirty="0">
              <a:latin typeface="Tahoma" pitchFamily="1" charset="0"/>
              <a:cs typeface="Tahoma" pitchFamily="1" charset="0"/>
            </a:endParaRPr>
          </a:p>
          <a:p>
            <a:pPr lvl="1" eaLnBrk="1" hangingPunct="1"/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One or two letter symbol for each element name</a:t>
            </a:r>
          </a:p>
          <a:p>
            <a:pPr lvl="1" eaLnBrk="1" hangingPunct="1"/>
            <a:r>
              <a:rPr lang="en-US" dirty="0">
                <a:solidFill>
                  <a:srgbClr val="FF33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First letter capitalized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, </a:t>
            </a:r>
            <a:r>
              <a:rPr lang="en-US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second letter lower case</a:t>
            </a:r>
          </a:p>
          <a:p>
            <a:pPr lvl="2" eaLnBrk="1" hangingPunct="1">
              <a:buFont typeface="Wingdings" pitchFamily="1" charset="2"/>
              <a:buNone/>
            </a:pPr>
            <a:endParaRPr lang="en-US" b="1" dirty="0">
              <a:solidFill>
                <a:srgbClr val="000099"/>
              </a:solidFill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lvl="2" eaLnBrk="1" hangingPunct="1">
              <a:buFont typeface="Wingdings" pitchFamily="1" charset="2"/>
              <a:buNone/>
            </a:pPr>
            <a:r>
              <a:rPr lang="en-US" b="1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e.g.,</a:t>
            </a:r>
            <a:r>
              <a:rPr lang="en-US" b="1" dirty="0">
                <a:solidFill>
                  <a:srgbClr val="CC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 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C = carbon		S = sulfur</a:t>
            </a:r>
          </a:p>
          <a:p>
            <a:pPr lvl="2" eaLnBrk="1" hangingPunct="1">
              <a:buFont typeface="Wingdings" pitchFamily="1" charset="2"/>
              <a:buNone/>
            </a:pP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	  </a:t>
            </a:r>
            <a:r>
              <a:rPr lang="en-US" dirty="0">
                <a:solidFill>
                  <a:srgbClr val="FF33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C</a:t>
            </a:r>
            <a:r>
              <a:rPr lang="en-US" dirty="0">
                <a:solidFill>
                  <a:srgbClr val="0033CC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a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 = calcium		</a:t>
            </a:r>
            <a:r>
              <a:rPr lang="en-US" dirty="0" err="1">
                <a:latin typeface="Tahoma" pitchFamily="1" charset="0"/>
                <a:ea typeface="Tahoma" pitchFamily="1" charset="0"/>
                <a:cs typeface="Tahoma" pitchFamily="1" charset="0"/>
              </a:rPr>
              <a:t>Ar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 = argon</a:t>
            </a:r>
          </a:p>
          <a:p>
            <a:pPr lvl="2" eaLnBrk="1" hangingPunct="1">
              <a:buFont typeface="Wingdings" pitchFamily="1" charset="2"/>
              <a:buNone/>
            </a:pP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	  Br = bromine		H = hydrogen</a:t>
            </a:r>
          </a:p>
          <a:p>
            <a:pPr lvl="2" eaLnBrk="1" hangingPunct="1">
              <a:buFont typeface="Wingdings" pitchFamily="1" charset="2"/>
              <a:buNone/>
            </a:pP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	  Cl = chlorine		O = oxygen</a:t>
            </a:r>
          </a:p>
          <a:p>
            <a:pPr lvl="2" eaLnBrk="1" hangingPunct="1">
              <a:buFont typeface="Wingdings" pitchFamily="1" charset="2"/>
              <a:buNone/>
            </a:pPr>
            <a:endParaRPr lang="en-US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lvl="1" eaLnBrk="1" hangingPunct="1"/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Most based on English name</a:t>
            </a:r>
          </a:p>
          <a:p>
            <a:pPr lvl="1" eaLnBrk="1" hangingPunct="1"/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Some based on Latin or German names</a:t>
            </a: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AD50887-28BC-EF40-BC36-73A4065F9575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pPr eaLnBrk="1" hangingPunct="1"/>
            <a:r>
              <a:rPr lang="en-US" dirty="0">
                <a:latin typeface="Tahoma" pitchFamily="1" charset="0"/>
                <a:cs typeface="Tahoma" pitchFamily="1" charset="0"/>
              </a:rPr>
              <a:t>Chemical Symbols Examples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7522985"/>
              </p:ext>
            </p:extLst>
          </p:nvPr>
        </p:nvGraphicFramePr>
        <p:xfrm>
          <a:off x="457200" y="794105"/>
          <a:ext cx="7772400" cy="585213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English Name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Chemical Symbol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Latin Name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Sodium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Na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Natrium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MS PGothic" pitchFamily="34" charset="-128"/>
                          <a:cs typeface="Tahoma" pitchFamily="34" charset="0"/>
                        </a:rPr>
                        <a:t>Potassium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K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Kalium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Iron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Fe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Ferrum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Copper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Cu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Cuprum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Silver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Ag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Argentum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Gold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Au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Aurum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Mercury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Hg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Hydrargyrum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Antimony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Sb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Stibium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Tin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Sn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Stannum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Lead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Pb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Plumbum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Tungsten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W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  <a:cs typeface="Tahoma" pitchFamily="34" charset="0"/>
                        </a:rPr>
                        <a:t>Wolfram (German)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540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955664B-6D7B-B543-BDE8-3BB6416915C9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762000"/>
          </a:xfrm>
        </p:spPr>
        <p:txBody>
          <a:bodyPr/>
          <a:lstStyle/>
          <a:p>
            <a:pPr eaLnBrk="1" hangingPunct="1"/>
            <a:r>
              <a:rPr lang="en-US" dirty="0">
                <a:latin typeface="Tahoma" pitchFamily="1" charset="0"/>
                <a:cs typeface="Tahoma" pitchFamily="1" charset="0"/>
              </a:rPr>
              <a:t>Compounds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pitchFamily="1" charset="0"/>
                <a:cs typeface="Tahoma" pitchFamily="1" charset="0"/>
              </a:rPr>
              <a:t>Formed from two or more atoms of different elements</a:t>
            </a:r>
          </a:p>
          <a:p>
            <a:pPr eaLnBrk="1" hangingPunct="1"/>
            <a:endParaRPr lang="en-US" dirty="0">
              <a:latin typeface="Tahoma" pitchFamily="1" charset="0"/>
              <a:cs typeface="Tahoma" pitchFamily="1" charset="0"/>
            </a:endParaRPr>
          </a:p>
          <a:p>
            <a:pPr eaLnBrk="1" hangingPunct="1"/>
            <a:r>
              <a:rPr lang="en-US" dirty="0">
                <a:latin typeface="Tahoma" pitchFamily="1" charset="0"/>
                <a:cs typeface="Tahoma" pitchFamily="1" charset="0"/>
              </a:rPr>
              <a:t>Always combined in same fixed ratios by mass</a:t>
            </a:r>
          </a:p>
          <a:p>
            <a:pPr eaLnBrk="1" hangingPunct="1"/>
            <a:endParaRPr lang="en-US" dirty="0">
              <a:latin typeface="Tahoma" pitchFamily="1" charset="0"/>
              <a:cs typeface="Tahoma" pitchFamily="1" charset="0"/>
            </a:endParaRPr>
          </a:p>
          <a:p>
            <a:pPr eaLnBrk="1" hangingPunct="1"/>
            <a:r>
              <a:rPr lang="en-US" dirty="0">
                <a:latin typeface="Tahoma" pitchFamily="1" charset="0"/>
                <a:cs typeface="Tahoma" pitchFamily="1" charset="0"/>
              </a:rPr>
              <a:t>Can be broken down into elements by some chemical changes </a:t>
            </a:r>
          </a:p>
          <a:p>
            <a:pPr eaLnBrk="1" hangingPunct="1"/>
            <a:endParaRPr lang="en-US" dirty="0">
              <a:latin typeface="Tahoma" pitchFamily="1" charset="0"/>
              <a:cs typeface="Tahoma" pitchFamily="1" charset="0"/>
            </a:endParaRPr>
          </a:p>
          <a:p>
            <a:pPr eaLnBrk="1" hangingPunct="1">
              <a:buFont typeface="Wingdings" pitchFamily="1" charset="2"/>
              <a:buNone/>
            </a:pPr>
            <a:r>
              <a:rPr lang="en-US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e.g., </a:t>
            </a:r>
            <a:r>
              <a:rPr lang="en-US" dirty="0">
                <a:latin typeface="Tahoma" pitchFamily="1" charset="0"/>
                <a:cs typeface="Tahoma" pitchFamily="1" charset="0"/>
              </a:rPr>
              <a:t>Water decomposed to elemental hydrogen and oxygen</a:t>
            </a:r>
          </a:p>
          <a:p>
            <a:pPr lvl="1" eaLnBrk="1" hangingPunct="1">
              <a:buFont typeface="Wingdings" pitchFamily="1" charset="2"/>
              <a:buNone/>
            </a:pP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/>
            </a:r>
            <a:b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</a:br>
            <a:endParaRPr lang="en-US" dirty="0">
              <a:latin typeface="Tahoma" pitchFamily="1" charset="0"/>
              <a:ea typeface="Tahoma" pitchFamily="1" charset="0"/>
              <a:cs typeface="Tahoma" pitchFamily="1" charset="0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6FEF953-0007-CA42-8096-0BF9B17412C5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pPr eaLnBrk="1" hangingPunct="1"/>
            <a:r>
              <a:rPr lang="en-US">
                <a:latin typeface="Tahoma" pitchFamily="1" charset="0"/>
                <a:cs typeface="Tahoma" pitchFamily="1" charset="0"/>
              </a:rPr>
              <a:t>Homogeneous Mixtures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10594769" cy="5867400"/>
          </a:xfrm>
        </p:spPr>
        <p:txBody>
          <a:bodyPr/>
          <a:lstStyle/>
          <a:p>
            <a:pPr eaLnBrk="1" hangingPunct="1">
              <a:spcBef>
                <a:spcPts val="200"/>
              </a:spcBef>
            </a:pPr>
            <a:r>
              <a:rPr lang="en-US" dirty="0">
                <a:latin typeface="Tahoma" pitchFamily="1" charset="0"/>
                <a:cs typeface="Tahoma" pitchFamily="1" charset="0"/>
              </a:rPr>
              <a:t>Same properties throughout sample and single</a:t>
            </a:r>
          </a:p>
          <a:p>
            <a:pPr marL="0" indent="0" eaLnBrk="1" hangingPunct="1">
              <a:spcBef>
                <a:spcPts val="200"/>
              </a:spcBef>
              <a:buNone/>
            </a:pPr>
            <a:r>
              <a:rPr lang="en-US" dirty="0">
                <a:latin typeface="Tahoma" pitchFamily="1" charset="0"/>
                <a:cs typeface="Tahoma" pitchFamily="1" charset="0"/>
              </a:rPr>
              <a:t> phase </a:t>
            </a:r>
          </a:p>
          <a:p>
            <a:pPr eaLnBrk="1" hangingPunct="1"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33CC"/>
                </a:solidFill>
                <a:latin typeface="Tahoma" pitchFamily="1" charset="0"/>
                <a:cs typeface="Tahoma" pitchFamily="1" charset="0"/>
              </a:rPr>
              <a:t>Homogeneous mixtures also known as solution</a:t>
            </a:r>
          </a:p>
          <a:p>
            <a:pPr lvl="1" eaLnBrk="1" hangingPunct="1">
              <a:spcBef>
                <a:spcPts val="200"/>
              </a:spcBef>
            </a:pPr>
            <a:r>
              <a:rPr lang="en-US" b="1" dirty="0">
                <a:latin typeface="Tahoma" pitchFamily="1" charset="0"/>
                <a:ea typeface="Tahoma" pitchFamily="1" charset="0"/>
                <a:cs typeface="Tahoma" pitchFamily="1" charset="0"/>
              </a:rPr>
              <a:t>Liquid solution </a:t>
            </a:r>
          </a:p>
          <a:p>
            <a:pPr lvl="2" eaLnBrk="1" hangingPunct="1">
              <a:spcBef>
                <a:spcPts val="200"/>
              </a:spcBef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Sugar in water</a:t>
            </a:r>
          </a:p>
          <a:p>
            <a:pPr lvl="2" eaLnBrk="1" hangingPunct="1">
              <a:spcBef>
                <a:spcPts val="200"/>
              </a:spcBef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Coca-Cola (without ice)</a:t>
            </a:r>
          </a:p>
          <a:p>
            <a:pPr lvl="1" eaLnBrk="1" hangingPunct="1">
              <a:spcBef>
                <a:spcPts val="200"/>
              </a:spcBef>
            </a:pPr>
            <a:r>
              <a:rPr lang="en-US" b="1" dirty="0">
                <a:latin typeface="Tahoma" pitchFamily="1" charset="0"/>
                <a:ea typeface="Tahoma" pitchFamily="1" charset="0"/>
                <a:cs typeface="Tahoma" pitchFamily="1" charset="0"/>
              </a:rPr>
              <a:t>Gas solution </a:t>
            </a:r>
          </a:p>
          <a:p>
            <a:pPr lvl="2" eaLnBrk="1" hangingPunct="1">
              <a:spcBef>
                <a:spcPts val="200"/>
              </a:spcBef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Air </a:t>
            </a:r>
          </a:p>
          <a:p>
            <a:pPr lvl="3" eaLnBrk="1" hangingPunct="1">
              <a:spcBef>
                <a:spcPts val="200"/>
              </a:spcBef>
            </a:pPr>
            <a:r>
              <a:rPr lang="en-US" sz="2400" dirty="0">
                <a:latin typeface="Tahoma" pitchFamily="1" charset="0"/>
                <a:ea typeface="Tahoma" pitchFamily="1" charset="0"/>
                <a:cs typeface="Tahoma" pitchFamily="1" charset="0"/>
              </a:rPr>
              <a:t>Contains nitrogen, oxygen and other gases</a:t>
            </a:r>
          </a:p>
          <a:p>
            <a:pPr lvl="1" eaLnBrk="1" hangingPunct="1">
              <a:spcBef>
                <a:spcPts val="200"/>
              </a:spcBef>
            </a:pPr>
            <a:r>
              <a:rPr lang="en-US" b="1" dirty="0">
                <a:latin typeface="Tahoma" pitchFamily="1" charset="0"/>
                <a:ea typeface="Tahoma" pitchFamily="1" charset="0"/>
                <a:cs typeface="Tahoma" pitchFamily="1" charset="0"/>
              </a:rPr>
              <a:t>Solid solution</a:t>
            </a:r>
          </a:p>
          <a:p>
            <a:pPr lvl="2" eaLnBrk="1" hangingPunct="1">
              <a:spcBef>
                <a:spcPts val="200"/>
              </a:spcBef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US 5¢ coin – Metal alloy </a:t>
            </a:r>
            <a:endParaRPr lang="en-US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lvl="3" eaLnBrk="1" hangingPunct="1">
              <a:spcBef>
                <a:spcPts val="200"/>
              </a:spcBef>
            </a:pPr>
            <a:r>
              <a:rPr lang="en-US" sz="2400" dirty="0">
                <a:latin typeface="Tahoma" pitchFamily="1" charset="0"/>
                <a:ea typeface="Tahoma" pitchFamily="1" charset="0"/>
                <a:cs typeface="Tahoma" pitchFamily="1" charset="0"/>
              </a:rPr>
              <a:t>Contains copper and nickel metals</a:t>
            </a: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E6A7AE0-B27C-D94A-9AF6-4EFADC398C87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pPr eaLnBrk="1" hangingPunct="1"/>
            <a:r>
              <a:rPr lang="en-US">
                <a:latin typeface="Tahoma" pitchFamily="1" charset="0"/>
                <a:cs typeface="Tahoma" pitchFamily="1" charset="0"/>
              </a:rPr>
              <a:t>Heterogeneous Mixtures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300"/>
              </a:spcBef>
            </a:pPr>
            <a:r>
              <a:rPr lang="en-US" dirty="0">
                <a:latin typeface="Tahoma" pitchFamily="1" charset="0"/>
                <a:cs typeface="Tahoma" pitchFamily="1" charset="0"/>
              </a:rPr>
              <a:t>Two or more regions of different properties</a:t>
            </a:r>
          </a:p>
          <a:p>
            <a:pPr eaLnBrk="1" hangingPunct="1">
              <a:spcBef>
                <a:spcPts val="300"/>
              </a:spcBef>
            </a:pPr>
            <a:r>
              <a:rPr lang="en-US" dirty="0">
                <a:latin typeface="Tahoma" pitchFamily="1" charset="0"/>
                <a:cs typeface="Tahoma" pitchFamily="1" charset="0"/>
              </a:rPr>
              <a:t>Solution with multiple phases</a:t>
            </a:r>
          </a:p>
          <a:p>
            <a:pPr eaLnBrk="1" hangingPunct="1">
              <a:spcBef>
                <a:spcPts val="300"/>
              </a:spcBef>
            </a:pPr>
            <a:r>
              <a:rPr lang="en-US" dirty="0">
                <a:latin typeface="Tahoma" pitchFamily="1" charset="0"/>
                <a:cs typeface="Tahoma" pitchFamily="1" charset="0"/>
              </a:rPr>
              <a:t>Separate layers</a:t>
            </a:r>
          </a:p>
          <a:p>
            <a:pPr eaLnBrk="1" hangingPunct="1">
              <a:spcBef>
                <a:spcPts val="300"/>
              </a:spcBef>
              <a:buFont typeface="Wingdings" pitchFamily="1" charset="2"/>
              <a:buNone/>
            </a:pPr>
            <a:r>
              <a:rPr lang="en-US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e.g.,</a:t>
            </a:r>
            <a:r>
              <a:rPr lang="en-US" b="1" dirty="0">
                <a:solidFill>
                  <a:srgbClr val="C00000"/>
                </a:solidFill>
                <a:latin typeface="Tahoma" pitchFamily="1" charset="0"/>
                <a:cs typeface="Tahoma" pitchFamily="1" charset="0"/>
              </a:rPr>
              <a:t> </a:t>
            </a:r>
          </a:p>
          <a:p>
            <a:pPr lvl="1" eaLnBrk="1" hangingPunct="1">
              <a:spcBef>
                <a:spcPts val="300"/>
              </a:spcBef>
            </a:pPr>
            <a:r>
              <a:rPr lang="en-US" sz="3200" dirty="0">
                <a:latin typeface="Tahoma" pitchFamily="1" charset="0"/>
                <a:ea typeface="Tahoma" pitchFamily="1" charset="0"/>
                <a:cs typeface="Tahoma" pitchFamily="1" charset="0"/>
              </a:rPr>
              <a:t>Salad dressing</a:t>
            </a:r>
          </a:p>
          <a:p>
            <a:pPr lvl="2" eaLnBrk="1" hangingPunct="1">
              <a:spcBef>
                <a:spcPts val="300"/>
              </a:spcBef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Oil and vinegar</a:t>
            </a:r>
          </a:p>
          <a:p>
            <a:pPr lvl="1" eaLnBrk="1" hangingPunct="1">
              <a:spcBef>
                <a:spcPts val="300"/>
              </a:spcBef>
            </a:pPr>
            <a:endParaRPr lang="en-US" sz="3200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lvl="1" eaLnBrk="1" hangingPunct="1">
              <a:spcBef>
                <a:spcPts val="300"/>
              </a:spcBef>
            </a:pPr>
            <a:r>
              <a:rPr lang="en-US" sz="3200" dirty="0">
                <a:latin typeface="Tahoma" pitchFamily="1" charset="0"/>
                <a:ea typeface="Tahoma" pitchFamily="1" charset="0"/>
                <a:cs typeface="Tahoma" pitchFamily="1" charset="0"/>
              </a:rPr>
              <a:t>Ice and water</a:t>
            </a:r>
          </a:p>
          <a:p>
            <a:pPr lvl="2" eaLnBrk="1" hangingPunct="1">
              <a:spcBef>
                <a:spcPts val="300"/>
              </a:spcBef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Same composition</a:t>
            </a:r>
          </a:p>
          <a:p>
            <a:pPr lvl="2" eaLnBrk="1" hangingPunct="1">
              <a:spcBef>
                <a:spcPts val="300"/>
              </a:spcBef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Two different physical states</a:t>
            </a: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7D4E65A-45F8-6543-B58C-5678CB649C17}" type="slidenum">
              <a:rPr lang="en-US"/>
              <a:pPr/>
              <a:t>11</a:t>
            </a:fld>
            <a:endParaRPr lang="en-US"/>
          </a:p>
        </p:txBody>
      </p:sp>
      <p:pic>
        <p:nvPicPr>
          <p:cNvPr id="6" name="Picture 5" descr="chem7e_fig_01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037" y="2195971"/>
            <a:ext cx="2999809" cy="41807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pPr eaLnBrk="1" hangingPunct="1"/>
            <a:r>
              <a:rPr lang="en-US">
                <a:latin typeface="Tahoma" pitchFamily="1" charset="0"/>
                <a:cs typeface="Tahoma" pitchFamily="1" charset="0"/>
              </a:rPr>
              <a:t>Relationship of Elements, Compounds, and Substances</a:t>
            </a: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4E8F77CE-A849-3A42-A623-5C5E3AAF763A}" type="slidenum">
              <a:rPr lang="en-US"/>
              <a:pPr/>
              <a:t>12</a:t>
            </a:fld>
            <a:endParaRPr lang="en-US"/>
          </a:p>
        </p:txBody>
      </p:sp>
      <p:pic>
        <p:nvPicPr>
          <p:cNvPr id="5" name="Picture 4" descr="chem7e_fig_01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859079"/>
            <a:ext cx="8534400" cy="33162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10600" cy="712788"/>
          </a:xfrm>
        </p:spPr>
        <p:txBody>
          <a:bodyPr/>
          <a:lstStyle/>
          <a:p>
            <a:pPr eaLnBrk="1" hangingPunct="1"/>
            <a:r>
              <a:rPr lang="en-US">
                <a:latin typeface="Tahoma" pitchFamily="1" charset="0"/>
                <a:cs typeface="Tahoma" pitchFamily="1" charset="0"/>
              </a:rPr>
              <a:t>Learning Check: Classification</a:t>
            </a:r>
          </a:p>
        </p:txBody>
      </p:sp>
      <p:graphicFrame>
        <p:nvGraphicFramePr>
          <p:cNvPr id="28737" name="Group 65"/>
          <p:cNvGraphicFramePr>
            <a:graphicFrameLocks noGrp="1"/>
          </p:cNvGraphicFramePr>
          <p:nvPr/>
        </p:nvGraphicFramePr>
        <p:xfrm>
          <a:off x="114300" y="1219200"/>
          <a:ext cx="8915400" cy="44431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890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1" charset="0"/>
                          <a:ea typeface="Tahoma" pitchFamily="1" charset="0"/>
                          <a:cs typeface="Tahoma" pitchFamily="1" charset="0"/>
                        </a:rPr>
                        <a:t>Chicken Noodle Soup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1" charset="0"/>
                          <a:ea typeface="Tahoma" pitchFamily="1" charset="0"/>
                          <a:cs typeface="Tahoma" pitchFamily="1" charset="0"/>
                        </a:rPr>
                        <a:t>Ice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1" charset="0"/>
                          <a:ea typeface="Tahoma" pitchFamily="1" charset="0"/>
                          <a:cs typeface="Tahoma" pitchFamily="1" charset="0"/>
                        </a:rPr>
                        <a:t>(H</a:t>
                      </a:r>
                      <a:r>
                        <a:rPr kumimoji="0" 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1" charset="0"/>
                          <a:ea typeface="Tahoma" pitchFamily="1" charset="0"/>
                          <a:cs typeface="Tahoma" pitchFamily="1" charset="0"/>
                        </a:rPr>
                        <a:t>2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1" charset="0"/>
                          <a:ea typeface="Tahoma" pitchFamily="1" charset="0"/>
                          <a:cs typeface="Tahoma" pitchFamily="1" charset="0"/>
                        </a:rPr>
                        <a:t>O)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1" charset="0"/>
                          <a:ea typeface="Tahoma" pitchFamily="1" charset="0"/>
                          <a:cs typeface="Tahoma" pitchFamily="1" charset="0"/>
                        </a:rPr>
                        <a:t>Liquid Dish Soap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1" charset="0"/>
                          <a:ea typeface="Tahoma" pitchFamily="1" charset="0"/>
                          <a:cs typeface="Tahoma" pitchFamily="1" charset="0"/>
                        </a:rPr>
                        <a:t>Table Salt (NaCl)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1" charset="0"/>
                          <a:ea typeface="Tahoma" pitchFamily="1" charset="0"/>
                          <a:cs typeface="Tahoma" pitchFamily="1" charset="0"/>
                        </a:rPr>
                        <a:t>Pure substance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1" charset="0"/>
                          <a:ea typeface="Tahoma" pitchFamily="1" charset="0"/>
                          <a:cs typeface="Tahoma" pitchFamily="1" charset="0"/>
                        </a:rPr>
                        <a:t>Element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1" charset="0"/>
                          <a:ea typeface="Tahoma" pitchFamily="1" charset="0"/>
                          <a:cs typeface="Tahoma" pitchFamily="1" charset="0"/>
                        </a:rPr>
                        <a:t>Compound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1" charset="0"/>
                          <a:ea typeface="Tahoma" pitchFamily="1" charset="0"/>
                          <a:cs typeface="Tahoma" pitchFamily="1" charset="0"/>
                        </a:rPr>
                        <a:t>Heterogeneous Mixture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1" charset="0"/>
                          <a:ea typeface="Tahoma" pitchFamily="1" charset="0"/>
                          <a:cs typeface="Tahoma" pitchFamily="1" charset="0"/>
                        </a:rPr>
                        <a:t>Homogeneous Mixture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547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10400" y="6629400"/>
            <a:ext cx="2133600" cy="228600"/>
          </a:xfrm>
          <a:noFill/>
        </p:spPr>
        <p:txBody>
          <a:bodyPr/>
          <a:lstStyle/>
          <a:p>
            <a:fld id="{D994F9C5-B558-B749-9E27-D92199051280}" type="slidenum">
              <a:rPr lang="en-US"/>
              <a:pPr/>
              <a:t>13</a:t>
            </a:fld>
            <a:endParaRPr lang="en-US"/>
          </a:p>
        </p:txBody>
      </p:sp>
      <p:sp>
        <p:nvSpPr>
          <p:cNvPr id="32818" name="TextBox 11"/>
          <p:cNvSpPr txBox="1">
            <a:spLocks noChangeArrowheads="1"/>
          </p:cNvSpPr>
          <p:nvPr/>
        </p:nvSpPr>
        <p:spPr bwMode="auto">
          <a:xfrm>
            <a:off x="3886200" y="4114800"/>
            <a:ext cx="477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C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X</a:t>
            </a:r>
          </a:p>
        </p:txBody>
      </p:sp>
      <p:sp>
        <p:nvSpPr>
          <p:cNvPr id="32820" name="TextBox 13"/>
          <p:cNvSpPr txBox="1">
            <a:spLocks noChangeArrowheads="1"/>
          </p:cNvSpPr>
          <p:nvPr/>
        </p:nvSpPr>
        <p:spPr bwMode="auto">
          <a:xfrm>
            <a:off x="5389563" y="3459163"/>
            <a:ext cx="477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C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X</a:t>
            </a:r>
          </a:p>
        </p:txBody>
      </p:sp>
      <p:sp>
        <p:nvSpPr>
          <p:cNvPr id="32821" name="TextBox 14"/>
          <p:cNvSpPr txBox="1">
            <a:spLocks noChangeArrowheads="1"/>
          </p:cNvSpPr>
          <p:nvPr/>
        </p:nvSpPr>
        <p:spPr bwMode="auto">
          <a:xfrm>
            <a:off x="5389563" y="2392363"/>
            <a:ext cx="477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C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X</a:t>
            </a:r>
          </a:p>
        </p:txBody>
      </p:sp>
      <p:sp>
        <p:nvSpPr>
          <p:cNvPr id="32822" name="TextBox 15"/>
          <p:cNvSpPr txBox="1">
            <a:spLocks noChangeArrowheads="1"/>
          </p:cNvSpPr>
          <p:nvPr/>
        </p:nvSpPr>
        <p:spPr bwMode="auto">
          <a:xfrm>
            <a:off x="7751763" y="2392363"/>
            <a:ext cx="477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C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X</a:t>
            </a:r>
          </a:p>
        </p:txBody>
      </p:sp>
      <p:sp>
        <p:nvSpPr>
          <p:cNvPr id="32823" name="TextBox 16"/>
          <p:cNvSpPr txBox="1">
            <a:spLocks noChangeArrowheads="1"/>
          </p:cNvSpPr>
          <p:nvPr/>
        </p:nvSpPr>
        <p:spPr bwMode="auto">
          <a:xfrm>
            <a:off x="7751763" y="3459163"/>
            <a:ext cx="477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C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X</a:t>
            </a:r>
          </a:p>
        </p:txBody>
      </p:sp>
      <p:sp>
        <p:nvSpPr>
          <p:cNvPr id="32824" name="TextBox 17"/>
          <p:cNvSpPr txBox="1">
            <a:spLocks noChangeArrowheads="1"/>
          </p:cNvSpPr>
          <p:nvPr/>
        </p:nvSpPr>
        <p:spPr bwMode="auto">
          <a:xfrm>
            <a:off x="6477000" y="4876800"/>
            <a:ext cx="477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C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18" grpId="0"/>
      <p:bldP spid="32820" grpId="0"/>
      <p:bldP spid="32821" grpId="0"/>
      <p:bldP spid="32822" grpId="0"/>
      <p:bldP spid="32823" grpId="0"/>
      <p:bldP spid="328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/>
          </p:cNvSpPr>
          <p:nvPr/>
        </p:nvSpPr>
        <p:spPr bwMode="auto">
          <a:xfrm>
            <a:off x="152400" y="76200"/>
            <a:ext cx="8839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/>
            <a:r>
              <a:rPr lang="en-US" sz="4000" b="1">
                <a:latin typeface="Tahoma" pitchFamily="1" charset="0"/>
                <a:ea typeface="Tahoma" pitchFamily="1" charset="0"/>
                <a:cs typeface="Tahoma" pitchFamily="1" charset="0"/>
              </a:rPr>
              <a:t>Your Turn!</a:t>
            </a:r>
          </a:p>
        </p:txBody>
      </p:sp>
      <p:sp>
        <p:nvSpPr>
          <p:cNvPr id="3" name="Content Placeholder 2"/>
          <p:cNvSpPr>
            <a:spLocks/>
          </p:cNvSpPr>
          <p:nvPr/>
        </p:nvSpPr>
        <p:spPr bwMode="auto">
          <a:xfrm>
            <a:off x="152400" y="762000"/>
            <a:ext cx="89916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609600" indent="-609600" eaLnBrk="0" hangingPunc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Coffee is a homogeneous mixture. When you add sugar to it and the sugar dissolves…</a:t>
            </a:r>
          </a:p>
          <a:p>
            <a:pPr marL="609600" indent="-609600" eaLnBrk="0" hangingPunc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sz="1400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marL="860425" lvl="1" indent="-533400"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the coffee becomes a heterogeneous mixture.</a:t>
            </a:r>
          </a:p>
          <a:p>
            <a:pPr marL="860425" lvl="1" indent="-533400"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the coffee is still a homogeneous mixture.</a:t>
            </a:r>
          </a:p>
          <a:p>
            <a:pPr marL="860425" lvl="1" indent="-533400"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the coffee, which used to be a pure compound, is no longer a pure compound.</a:t>
            </a:r>
          </a:p>
          <a:p>
            <a:pPr marL="860425" lvl="1" indent="-533400"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the coffee, which used to be an element, is no longer an element.</a:t>
            </a:r>
          </a:p>
          <a:p>
            <a:pPr marL="860425" lvl="1" indent="-533400"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the sugar reacts with water to form a new compound.</a:t>
            </a:r>
          </a:p>
          <a:p>
            <a:pPr marL="860425" lvl="1" indent="-533400"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endParaRPr lang="en-US" sz="2800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marL="609600" indent="-609600" eaLnBrk="0" hangingPunc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Char char="§"/>
            </a:pPr>
            <a:endParaRPr lang="en-US" sz="3000" dirty="0">
              <a:latin typeface="Tahoma" pitchFamily="1" charset="0"/>
              <a:ea typeface="Tahoma" pitchFamily="1" charset="0"/>
              <a:cs typeface="Tahoma" pitchFamily="1" charset="0"/>
            </a:endParaRPr>
          </a:p>
        </p:txBody>
      </p:sp>
      <p:sp>
        <p:nvSpPr>
          <p:cNvPr id="22532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896D26B7-D25C-C647-9C1D-00598CCBA482}" type="slidenum">
              <a:rPr lang="en-US" sz="1200">
                <a:latin typeface="Verdana" pitchFamily="1" charset="0"/>
              </a:rPr>
              <a:pPr algn="r"/>
              <a:t>14</a:t>
            </a:fld>
            <a:endParaRPr lang="en-US" sz="1200">
              <a:latin typeface="Verdana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0000"/>
                </a:solidFill>
                <a:latin typeface="Tahoma" pitchFamily="1" charset="0"/>
                <a:cs typeface="Tahoma" pitchFamily="1" charset="0"/>
              </a:rPr>
              <a:t>Physical Change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838200"/>
            <a:ext cx="8686800" cy="2971800"/>
          </a:xfrm>
        </p:spPr>
        <p:txBody>
          <a:bodyPr/>
          <a:lstStyle/>
          <a:p>
            <a:pPr eaLnBrk="1" hangingPunct="1">
              <a:spcBef>
                <a:spcPts val="300"/>
              </a:spcBef>
            </a:pPr>
            <a:r>
              <a:rPr lang="en-US" dirty="0">
                <a:latin typeface="Tahoma" pitchFamily="1" charset="0"/>
                <a:cs typeface="Tahoma" pitchFamily="1" charset="0"/>
              </a:rPr>
              <a:t>No new substances formed</a:t>
            </a:r>
          </a:p>
          <a:p>
            <a:pPr eaLnBrk="1" hangingPunct="1">
              <a:spcBef>
                <a:spcPts val="300"/>
              </a:spcBef>
            </a:pPr>
            <a:r>
              <a:rPr lang="en-US" dirty="0">
                <a:latin typeface="Tahoma" pitchFamily="1" charset="0"/>
                <a:cs typeface="Tahoma" pitchFamily="1" charset="0"/>
              </a:rPr>
              <a:t>Substance may change state or the proportions</a:t>
            </a:r>
          </a:p>
          <a:p>
            <a:pPr eaLnBrk="1" hangingPunct="1">
              <a:spcBef>
                <a:spcPts val="300"/>
              </a:spcBef>
              <a:buFont typeface="Wingdings" pitchFamily="1" charset="2"/>
              <a:buNone/>
            </a:pPr>
            <a:r>
              <a:rPr lang="en-US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e.g., </a:t>
            </a:r>
            <a:r>
              <a:rPr lang="en-US" dirty="0">
                <a:latin typeface="Tahoma" pitchFamily="1" charset="0"/>
                <a:cs typeface="Tahoma" pitchFamily="1" charset="0"/>
              </a:rPr>
              <a:t>Ice melting (change in state)</a:t>
            </a:r>
            <a:endParaRPr lang="en-US" sz="2400" dirty="0">
              <a:latin typeface="Tahoma" pitchFamily="1" charset="0"/>
              <a:cs typeface="Tahoma" pitchFamily="1" charset="0"/>
            </a:endParaRPr>
          </a:p>
          <a:p>
            <a:pPr eaLnBrk="1" hangingPunct="1">
              <a:spcBef>
                <a:spcPts val="300"/>
              </a:spcBef>
            </a:pPr>
            <a:r>
              <a:rPr lang="en-US" dirty="0">
                <a:latin typeface="Tahoma" pitchFamily="1" charset="0"/>
                <a:cs typeface="Tahoma" pitchFamily="1" charset="0"/>
              </a:rPr>
              <a:t>Sugar or salt dissolving</a:t>
            </a:r>
          </a:p>
          <a:p>
            <a:pPr eaLnBrk="1" hangingPunct="1">
              <a:spcBef>
                <a:spcPts val="300"/>
              </a:spcBef>
            </a:pPr>
            <a:r>
              <a:rPr lang="en-US" dirty="0">
                <a:latin typeface="Tahoma" pitchFamily="1" charset="0"/>
                <a:cs typeface="Tahoma" pitchFamily="1" charset="0"/>
              </a:rPr>
              <a:t>Stirring iron filings and sulfur together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1E9367A-B364-B246-950E-F4F7568A47BD}" type="slidenum">
              <a:rPr lang="en-US"/>
              <a:pPr/>
              <a:t>15</a:t>
            </a:fld>
            <a:endParaRPr lang="en-US"/>
          </a:p>
        </p:txBody>
      </p:sp>
      <p:pic>
        <p:nvPicPr>
          <p:cNvPr id="7" name="Picture 6" descr="chem7e_fig_01_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562" y="4094446"/>
            <a:ext cx="4782207" cy="2377440"/>
          </a:xfrm>
          <a:prstGeom prst="rect">
            <a:avLst/>
          </a:prstGeom>
        </p:spPr>
      </p:pic>
      <p:pic>
        <p:nvPicPr>
          <p:cNvPr id="8" name="Picture 7" descr="chem7e_fig_01_0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391" y="4094446"/>
            <a:ext cx="2147048" cy="2377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pPr eaLnBrk="1" hangingPunct="1">
              <a:spcBef>
                <a:spcPts val="300"/>
              </a:spcBef>
            </a:pPr>
            <a:r>
              <a:rPr lang="en-US">
                <a:latin typeface="Tahoma" pitchFamily="1" charset="0"/>
                <a:cs typeface="Tahoma" pitchFamily="1" charset="0"/>
              </a:rPr>
              <a:t>Chemical Change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>
          <a:xfrm>
            <a:off x="176151" y="1237013"/>
            <a:ext cx="8839200" cy="5791200"/>
          </a:xfrm>
        </p:spPr>
        <p:txBody>
          <a:bodyPr/>
          <a:lstStyle/>
          <a:p>
            <a:pPr lvl="1" eaLnBrk="1" hangingPunct="1">
              <a:spcBef>
                <a:spcPts val="300"/>
              </a:spcBef>
            </a:pP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Formation of new substance or compound</a:t>
            </a:r>
          </a:p>
          <a:p>
            <a:pPr lvl="1" eaLnBrk="1" hangingPunct="1">
              <a:spcBef>
                <a:spcPts val="300"/>
              </a:spcBef>
            </a:pPr>
            <a:endParaRPr lang="en-US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lvl="1" eaLnBrk="1" hangingPunct="1">
              <a:spcBef>
                <a:spcPts val="300"/>
              </a:spcBef>
            </a:pP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New substance has different physical properties</a:t>
            </a:r>
          </a:p>
          <a:p>
            <a:pPr marL="344487" lvl="1" indent="0" eaLnBrk="1" hangingPunct="1">
              <a:spcBef>
                <a:spcPts val="300"/>
              </a:spcBef>
              <a:buNone/>
            </a:pPr>
            <a:endParaRPr lang="en-US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eaLnBrk="1" hangingPunct="1">
              <a:spcBef>
                <a:spcPts val="300"/>
              </a:spcBef>
              <a:buFont typeface="Wingdings" pitchFamily="1" charset="2"/>
              <a:buNone/>
            </a:pPr>
            <a:r>
              <a:rPr lang="en-US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e.g., 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2C03FD9C-F4E0-2348-90B7-DC8D78E5135B}" type="slidenum">
              <a:rPr lang="en-US"/>
              <a:pPr/>
              <a:t>16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F62634-DEFC-452F-B734-275E3B8E8219}"/>
              </a:ext>
            </a:extLst>
          </p:cNvPr>
          <p:cNvSpPr txBox="1"/>
          <p:nvPr/>
        </p:nvSpPr>
        <p:spPr>
          <a:xfrm>
            <a:off x="1111348" y="4093698"/>
            <a:ext cx="6386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solidFill>
                  <a:srgbClr val="000099"/>
                </a:solidFill>
              </a:rPr>
              <a:t>Burning a piece of paper to ash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pPr eaLnBrk="1" hangingPunct="1"/>
            <a:r>
              <a:rPr lang="en-US">
                <a:latin typeface="Tahoma" pitchFamily="1" charset="0"/>
                <a:cs typeface="Tahoma" pitchFamily="1" charset="0"/>
              </a:rPr>
              <a:t>Learning Check: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52400" y="2042933"/>
          <a:ext cx="8839200" cy="3017570"/>
        </p:xfrm>
        <a:graphic>
          <a:graphicData uri="http://schemas.openxmlformats.org/drawingml/2006/table">
            <a:tbl>
              <a:tblPr/>
              <a:tblGrid>
                <a:gridCol w="556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1" charset="0"/>
                          <a:ea typeface="Tahoma" pitchFamily="1" charset="0"/>
                          <a:cs typeface="Tahoma" pitchFamily="1" charset="0"/>
                        </a:rPr>
                        <a:t>Chemical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1" charset="0"/>
                          <a:ea typeface="Tahoma" pitchFamily="1" charset="0"/>
                          <a:cs typeface="Tahoma" pitchFamily="1" charset="0"/>
                        </a:rPr>
                        <a:t>Physical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1" charset="0"/>
                          <a:ea typeface="Tahoma" pitchFamily="1" charset="0"/>
                          <a:cs typeface="Tahoma" pitchFamily="1" charset="0"/>
                        </a:rPr>
                        <a:t>Magnesium burns when heated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1" charset="0"/>
                          <a:ea typeface="Tahoma" pitchFamily="1" charset="0"/>
                          <a:cs typeface="Tahoma" pitchFamily="1" charset="0"/>
                        </a:rPr>
                        <a:t>Magnesium metal tarnishes in air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1" charset="0"/>
                          <a:ea typeface="Tahoma" pitchFamily="1" charset="0"/>
                          <a:cs typeface="Tahoma" pitchFamily="1" charset="0"/>
                        </a:rPr>
                        <a:t>Magnesium metal melts at 922 K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5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1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1" charset="0"/>
                          <a:ea typeface="Tahoma" pitchFamily="1" charset="0"/>
                          <a:cs typeface="Tahoma" pitchFamily="1" charset="0"/>
                        </a:rPr>
                        <a:t>Grape Kool-Aid lightens when water is added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1" charset="0"/>
                        <a:ea typeface="Tahoma" pitchFamily="1" charset="0"/>
                        <a:cs typeface="Tahoma" pitchFamily="1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65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51B3F1E-DCC2-FC4F-855D-B565D65C0069}" type="slidenum">
              <a:rPr lang="en-US"/>
              <a:pPr/>
              <a:t>17</a:t>
            </a:fld>
            <a:endParaRPr lang="en-US"/>
          </a:p>
        </p:txBody>
      </p:sp>
      <p:sp>
        <p:nvSpPr>
          <p:cNvPr id="26654" name="Rectangle 4"/>
          <p:cNvSpPr>
            <a:spLocks noChangeArrowheads="1"/>
          </p:cNvSpPr>
          <p:nvPr/>
        </p:nvSpPr>
        <p:spPr bwMode="auto">
          <a:xfrm>
            <a:off x="165100" y="838200"/>
            <a:ext cx="87503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marL="346075" indent="-346075">
              <a:buFont typeface="Wingdings" pitchFamily="1" charset="2"/>
              <a:buChar char="§"/>
            </a:pPr>
            <a:r>
              <a:rPr lang="en-US" sz="3200">
                <a:latin typeface="Tahoma" pitchFamily="1" charset="0"/>
                <a:ea typeface="Tahoma" pitchFamily="1" charset="0"/>
                <a:cs typeface="Tahoma" pitchFamily="1" charset="0"/>
              </a:rPr>
              <a:t>For each of the following, determine if it represents a chemical or physical change:</a:t>
            </a:r>
          </a:p>
        </p:txBody>
      </p:sp>
      <p:sp>
        <p:nvSpPr>
          <p:cNvPr id="30751" name="TextBox 6"/>
          <p:cNvSpPr txBox="1">
            <a:spLocks noChangeArrowheads="1"/>
          </p:cNvSpPr>
          <p:nvPr/>
        </p:nvSpPr>
        <p:spPr bwMode="auto">
          <a:xfrm>
            <a:off x="6240463" y="2500133"/>
            <a:ext cx="4651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C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X</a:t>
            </a:r>
          </a:p>
        </p:txBody>
      </p:sp>
      <p:sp>
        <p:nvSpPr>
          <p:cNvPr id="30752" name="TextBox 7"/>
          <p:cNvSpPr txBox="1">
            <a:spLocks noChangeArrowheads="1"/>
          </p:cNvSpPr>
          <p:nvPr/>
        </p:nvSpPr>
        <p:spPr bwMode="auto">
          <a:xfrm>
            <a:off x="6248400" y="3033533"/>
            <a:ext cx="4651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C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X</a:t>
            </a:r>
          </a:p>
        </p:txBody>
      </p:sp>
      <p:sp>
        <p:nvSpPr>
          <p:cNvPr id="30753" name="TextBox 8"/>
          <p:cNvSpPr txBox="1">
            <a:spLocks noChangeArrowheads="1"/>
          </p:cNvSpPr>
          <p:nvPr/>
        </p:nvSpPr>
        <p:spPr bwMode="auto">
          <a:xfrm>
            <a:off x="7848600" y="3566933"/>
            <a:ext cx="4651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C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X</a:t>
            </a:r>
          </a:p>
        </p:txBody>
      </p:sp>
      <p:sp>
        <p:nvSpPr>
          <p:cNvPr id="30754" name="TextBox 9"/>
          <p:cNvSpPr txBox="1">
            <a:spLocks noChangeArrowheads="1"/>
          </p:cNvSpPr>
          <p:nvPr/>
        </p:nvSpPr>
        <p:spPr bwMode="auto">
          <a:xfrm>
            <a:off x="7848600" y="4267021"/>
            <a:ext cx="465138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C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1" grpId="0"/>
      <p:bldP spid="30752" grpId="0"/>
      <p:bldP spid="30753" grpId="0"/>
      <p:bldP spid="3075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4"/>
          <p:cNvSpPr>
            <a:spLocks/>
          </p:cNvSpPr>
          <p:nvPr/>
        </p:nvSpPr>
        <p:spPr bwMode="auto">
          <a:xfrm>
            <a:off x="152400" y="76200"/>
            <a:ext cx="8839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4000" b="1">
                <a:latin typeface="Tahoma" pitchFamily="1" charset="0"/>
                <a:ea typeface="Tahoma" pitchFamily="1" charset="0"/>
                <a:cs typeface="Tahoma" pitchFamily="1" charset="0"/>
              </a:rPr>
              <a:t>Your Turn!</a:t>
            </a:r>
          </a:p>
        </p:txBody>
      </p:sp>
      <p:sp>
        <p:nvSpPr>
          <p:cNvPr id="6" name="Content Placeholder 5"/>
          <p:cNvSpPr>
            <a:spLocks/>
          </p:cNvSpPr>
          <p:nvPr/>
        </p:nvSpPr>
        <p:spPr bwMode="auto">
          <a:xfrm>
            <a:off x="152400" y="762000"/>
            <a:ext cx="89916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  <a:tabLst>
                <a:tab pos="457200" algn="l"/>
              </a:tabLst>
            </a:pPr>
            <a:r>
              <a:rPr lang="en-US" sz="3000">
                <a:latin typeface="Tahoma" pitchFamily="1" charset="0"/>
                <a:ea typeface="Tahoma" pitchFamily="1" charset="0"/>
                <a:cs typeface="Tahoma" pitchFamily="1" charset="0"/>
              </a:rPr>
              <a:t>Which one of the following represents a physical change?</a:t>
            </a: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  <a:tabLst>
                <a:tab pos="457200" algn="l"/>
              </a:tabLst>
            </a:pPr>
            <a:r>
              <a:rPr lang="en-US" sz="3000">
                <a:latin typeface="Tahoma" pitchFamily="1" charset="0"/>
                <a:ea typeface="Tahoma" pitchFamily="1" charset="0"/>
                <a:cs typeface="Tahoma" pitchFamily="1" charset="0"/>
              </a:rPr>
              <a:t> when treated with bleach, some dyed fabrics 	change color</a:t>
            </a: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  <a:tabLst>
                <a:tab pos="457200" algn="l"/>
              </a:tabLst>
            </a:pPr>
            <a:r>
              <a:rPr lang="en-US" sz="3000">
                <a:latin typeface="Tahoma" pitchFamily="1" charset="0"/>
                <a:ea typeface="Tahoma" pitchFamily="1" charset="0"/>
                <a:cs typeface="Tahoma" pitchFamily="1" charset="0"/>
              </a:rPr>
              <a:t> grape juice left in an open unrefrigerated 	container turns sour</a:t>
            </a: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  <a:tabLst>
                <a:tab pos="457200" algn="l"/>
              </a:tabLst>
            </a:pPr>
            <a:r>
              <a:rPr lang="en-US" sz="3000">
                <a:latin typeface="Tahoma" pitchFamily="1" charset="0"/>
                <a:ea typeface="Tahoma" pitchFamily="1" charset="0"/>
                <a:cs typeface="Tahoma" pitchFamily="1" charset="0"/>
              </a:rPr>
              <a:t> when heated strongly, sugar turns dark brown</a:t>
            </a: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  <a:tabLst>
                <a:tab pos="457200" algn="l"/>
              </a:tabLst>
            </a:pPr>
            <a:r>
              <a:rPr lang="en-US" sz="3000">
                <a:latin typeface="Tahoma" pitchFamily="1" charset="0"/>
                <a:ea typeface="Tahoma" pitchFamily="1" charset="0"/>
                <a:cs typeface="Tahoma" pitchFamily="1" charset="0"/>
              </a:rPr>
              <a:t>D. in cold weather, water condenses on the inside 	surface of single pane windows</a:t>
            </a: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  <a:tabLst>
                <a:tab pos="457200" algn="l"/>
              </a:tabLst>
            </a:pPr>
            <a:r>
              <a:rPr lang="en-US" sz="3000">
                <a:latin typeface="Tahoma" pitchFamily="1" charset="0"/>
                <a:ea typeface="Tahoma" pitchFamily="1" charset="0"/>
                <a:cs typeface="Tahoma" pitchFamily="1" charset="0"/>
              </a:rPr>
              <a:t>E. when ignited with a match in open air, paper 	burns</a:t>
            </a:r>
          </a:p>
        </p:txBody>
      </p:sp>
      <p:sp>
        <p:nvSpPr>
          <p:cNvPr id="27652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20C3C8DA-9C62-0949-9EDF-D83F808D1602}" type="slidenum">
              <a:rPr lang="en-US" sz="1200">
                <a:latin typeface="Verdana" pitchFamily="1" charset="0"/>
              </a:rPr>
              <a:pPr algn="r"/>
              <a:t>18</a:t>
            </a:fld>
            <a:endParaRPr lang="en-US" sz="1200">
              <a:latin typeface="Verdana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 idx="4294967295"/>
          </p:nvPr>
        </p:nvSpPr>
        <p:spPr>
          <a:xfrm>
            <a:off x="76200" y="76200"/>
            <a:ext cx="89916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International System of Units (SI)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4294967295"/>
          </p:nvPr>
        </p:nvSpPr>
        <p:spPr>
          <a:xfrm>
            <a:off x="152400" y="762000"/>
            <a:ext cx="8839200" cy="1295400"/>
          </a:xfrm>
        </p:spPr>
        <p:txBody>
          <a:bodyPr/>
          <a:lstStyle/>
          <a:p>
            <a:pPr>
              <a:spcBef>
                <a:spcPct val="0"/>
              </a:spcBef>
              <a:buClr>
                <a:schemeClr val="tx1"/>
              </a:buClr>
            </a:pPr>
            <a:r>
              <a:rPr lang="en-US" sz="2800" dirty="0">
                <a:latin typeface="Tahoma" pitchFamily="1" charset="0"/>
                <a:cs typeface="Tahoma" pitchFamily="1" charset="0"/>
              </a:rPr>
              <a:t>Standard system of units used in scientific and engineering measurements</a:t>
            </a:r>
          </a:p>
          <a:p>
            <a:pPr>
              <a:spcBef>
                <a:spcPct val="0"/>
              </a:spcBef>
              <a:buClr>
                <a:schemeClr val="tx1"/>
              </a:buClr>
            </a:pPr>
            <a:r>
              <a:rPr lang="en-US" sz="2800" dirty="0">
                <a:latin typeface="Tahoma" pitchFamily="1" charset="0"/>
                <a:cs typeface="Tahoma" pitchFamily="1" charset="0"/>
              </a:rPr>
              <a:t>Metric			</a:t>
            </a:r>
            <a:r>
              <a:rPr lang="en-US" sz="2800" dirty="0">
                <a:latin typeface="Tahoma" pitchFamily="1" charset="0"/>
                <a:cs typeface="Tahoma" pitchFamily="1" charset="0"/>
                <a:sym typeface="Wingdings" pitchFamily="1" charset="2"/>
              </a:rPr>
              <a:t> </a:t>
            </a:r>
            <a:r>
              <a:rPr lang="en-US" sz="2800" dirty="0">
                <a:solidFill>
                  <a:srgbClr val="000099"/>
                </a:solidFill>
                <a:latin typeface="Tahoma" pitchFamily="1" charset="0"/>
                <a:cs typeface="Tahoma" pitchFamily="1" charset="0"/>
                <a:sym typeface="Wingdings" pitchFamily="1" charset="2"/>
              </a:rPr>
              <a:t>Seven</a:t>
            </a:r>
            <a:r>
              <a:rPr lang="en-US" sz="2800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 Base Units </a:t>
            </a:r>
          </a:p>
        </p:txBody>
      </p:sp>
      <p:sp>
        <p:nvSpPr>
          <p:cNvPr id="34820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68918C35-87BB-3E49-A9C8-96A9367DC107}" type="slidenum">
              <a:rPr lang="en-US" sz="1200">
                <a:latin typeface="Verdana" pitchFamily="1" charset="0"/>
              </a:rPr>
              <a:pPr algn="r"/>
              <a:t>19</a:t>
            </a:fld>
            <a:endParaRPr lang="en-US" sz="1200">
              <a:latin typeface="Verdana" pitchFamily="1" charset="0"/>
            </a:endParaRPr>
          </a:p>
        </p:txBody>
      </p:sp>
      <p:pic>
        <p:nvPicPr>
          <p:cNvPr id="7" name="Picture 6" descr="chem7e_tab_01_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04" y="2367390"/>
            <a:ext cx="7784592" cy="3992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/>
          </p:cNvSpPr>
          <p:nvPr/>
        </p:nvSpPr>
        <p:spPr bwMode="auto">
          <a:xfrm>
            <a:off x="152400" y="76200"/>
            <a:ext cx="8839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4000" b="1">
                <a:latin typeface="Tahoma" pitchFamily="1" charset="0"/>
                <a:ea typeface="Tahoma" pitchFamily="1" charset="0"/>
                <a:cs typeface="Tahoma" pitchFamily="1" charset="0"/>
              </a:rPr>
              <a:t>Your Turn!</a:t>
            </a:r>
          </a:p>
        </p:txBody>
      </p:sp>
      <p:sp>
        <p:nvSpPr>
          <p:cNvPr id="3" name="Content Placeholder 2"/>
          <p:cNvSpPr>
            <a:spLocks/>
          </p:cNvSpPr>
          <p:nvPr/>
        </p:nvSpPr>
        <p:spPr bwMode="auto">
          <a:xfrm>
            <a:off x="152400" y="762000"/>
            <a:ext cx="89916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eaLnBrk="0" hangingPunc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>
                <a:latin typeface="Tahoma" pitchFamily="1" charset="0"/>
                <a:ea typeface="Tahoma" pitchFamily="1" charset="0"/>
                <a:cs typeface="Tahoma" pitchFamily="1" charset="0"/>
              </a:rPr>
              <a:t>The SI unit of length is the</a:t>
            </a:r>
          </a:p>
          <a:p>
            <a:pPr marL="841375" lvl="1" indent="-514350"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2800">
                <a:latin typeface="Tahoma" pitchFamily="1" charset="0"/>
                <a:ea typeface="Tahoma" pitchFamily="1" charset="0"/>
                <a:cs typeface="Tahoma" pitchFamily="1" charset="0"/>
              </a:rPr>
              <a:t>millimeter</a:t>
            </a:r>
          </a:p>
          <a:p>
            <a:pPr marL="841375" lvl="1" indent="-514350"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2800">
                <a:latin typeface="Tahoma" pitchFamily="1" charset="0"/>
                <a:ea typeface="Tahoma" pitchFamily="1" charset="0"/>
                <a:cs typeface="Tahoma" pitchFamily="1" charset="0"/>
              </a:rPr>
              <a:t>meter</a:t>
            </a:r>
          </a:p>
          <a:p>
            <a:pPr marL="841375" lvl="1" indent="-514350"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2800">
                <a:latin typeface="Tahoma" pitchFamily="1" charset="0"/>
                <a:ea typeface="Tahoma" pitchFamily="1" charset="0"/>
                <a:cs typeface="Tahoma" pitchFamily="1" charset="0"/>
              </a:rPr>
              <a:t>yard</a:t>
            </a:r>
          </a:p>
          <a:p>
            <a:pPr marL="841375" lvl="1" indent="-514350"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2800">
                <a:latin typeface="Tahoma" pitchFamily="1" charset="0"/>
                <a:ea typeface="Tahoma" pitchFamily="1" charset="0"/>
                <a:cs typeface="Tahoma" pitchFamily="1" charset="0"/>
              </a:rPr>
              <a:t>centimeter</a:t>
            </a:r>
          </a:p>
          <a:p>
            <a:pPr marL="841375" lvl="1" indent="-514350"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2800">
                <a:latin typeface="Tahoma" pitchFamily="1" charset="0"/>
                <a:ea typeface="Tahoma" pitchFamily="1" charset="0"/>
                <a:cs typeface="Tahoma" pitchFamily="1" charset="0"/>
              </a:rPr>
              <a:t>foot</a:t>
            </a:r>
          </a:p>
          <a:p>
            <a:pPr marL="342900" indent="-342900" eaLnBrk="0" hangingPunc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Char char="§"/>
            </a:pPr>
            <a:endParaRPr lang="en-US" sz="3000">
              <a:latin typeface="Tahoma" pitchFamily="1" charset="0"/>
              <a:ea typeface="Tahoma" pitchFamily="1" charset="0"/>
              <a:cs typeface="Tahoma" pitchFamily="1" charset="0"/>
            </a:endParaRPr>
          </a:p>
        </p:txBody>
      </p:sp>
      <p:sp>
        <p:nvSpPr>
          <p:cNvPr id="37892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D84D66A9-B994-F448-A5D9-4103A47DFCC8}" type="slidenum">
              <a:rPr lang="en-US" sz="1200">
                <a:latin typeface="Verdana" pitchFamily="1" charset="0"/>
              </a:rPr>
              <a:pPr algn="r"/>
              <a:t>20</a:t>
            </a:fld>
            <a:endParaRPr lang="en-US" sz="1200">
              <a:latin typeface="Verdana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sz="3600">
                <a:latin typeface="Tahoma" pitchFamily="1" charset="0"/>
                <a:cs typeface="Tahoma" pitchFamily="1" charset="0"/>
              </a:rPr>
              <a:t>Some Useful Conversions</a:t>
            </a:r>
            <a:br>
              <a:rPr lang="en-US" sz="3600">
                <a:latin typeface="Tahoma" pitchFamily="1" charset="0"/>
                <a:cs typeface="Tahoma" pitchFamily="1" charset="0"/>
              </a:rPr>
            </a:br>
            <a:endParaRPr lang="en-US" sz="3600">
              <a:latin typeface="Tahoma" pitchFamily="1" charset="0"/>
              <a:cs typeface="Tahoma" pitchFamily="1" charset="0"/>
            </a:endParaRPr>
          </a:p>
        </p:txBody>
      </p:sp>
      <p:sp>
        <p:nvSpPr>
          <p:cNvPr id="40963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3E99EBC4-52A4-5444-85C2-BDE8259EB308}" type="slidenum">
              <a:rPr lang="en-US" sz="1200">
                <a:latin typeface="Verdana" pitchFamily="1" charset="0"/>
              </a:rPr>
              <a:pPr algn="r"/>
              <a:t>21</a:t>
            </a:fld>
            <a:endParaRPr lang="en-US" sz="1200">
              <a:latin typeface="Verdana" pitchFamily="1" charset="0"/>
            </a:endParaRPr>
          </a:p>
        </p:txBody>
      </p:sp>
      <p:pic>
        <p:nvPicPr>
          <p:cNvPr id="6" name="Picture 5" descr="chem7e_tab_01_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045464"/>
            <a:ext cx="8534400" cy="47670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Using Decimal Multipliers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4294967295"/>
          </p:nvPr>
        </p:nvSpPr>
        <p:spPr>
          <a:xfrm>
            <a:off x="152400" y="762000"/>
            <a:ext cx="8991600" cy="4572000"/>
          </a:xfrm>
        </p:spPr>
        <p:txBody>
          <a:bodyPr/>
          <a:lstStyle/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Use prefixes on SI base units when number is too large or too small for convenient usage</a:t>
            </a:r>
          </a:p>
          <a:p>
            <a:pPr>
              <a:spcBef>
                <a:spcPts val="900"/>
              </a:spcBef>
              <a:buClr>
                <a:schemeClr val="tx1"/>
              </a:buClr>
            </a:pPr>
            <a:endParaRPr lang="en-US" sz="3000" dirty="0">
              <a:latin typeface="Tahoma" pitchFamily="1" charset="0"/>
              <a:cs typeface="Tahoma" pitchFamily="1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Numerical values of multipliers can be interchanged with prefixes </a:t>
            </a:r>
          </a:p>
          <a:p>
            <a:pPr lvl="1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b="1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Example:</a:t>
            </a:r>
            <a:r>
              <a:rPr lang="en-US" b="1" dirty="0">
                <a:solidFill>
                  <a:schemeClr val="tx2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 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1 mL = 10</a:t>
            </a:r>
            <a:r>
              <a:rPr lang="en-US" baseline="30000" dirty="0">
                <a:latin typeface="Arial" pitchFamily="1" charset="0"/>
                <a:ea typeface="MS PGothic" pitchFamily="34" charset="-128"/>
                <a:cs typeface="MS PGothic" pitchFamily="34" charset="-128"/>
              </a:rPr>
              <a:t>–3</a:t>
            </a:r>
            <a:r>
              <a:rPr lang="en-US" dirty="0">
                <a:latin typeface="Arial" pitchFamily="1" charset="0"/>
                <a:ea typeface="MS PGothic" pitchFamily="34" charset="-128"/>
                <a:cs typeface="MS PGothic" pitchFamily="34" charset="-128"/>
              </a:rPr>
              <a:t> L</a:t>
            </a:r>
          </a:p>
          <a:p>
            <a:pPr lvl="1">
              <a:spcBef>
                <a:spcPts val="900"/>
              </a:spcBef>
              <a:buClr>
                <a:schemeClr val="tx1"/>
              </a:buClr>
            </a:pPr>
            <a:r>
              <a:rPr lang="en-US" dirty="0">
                <a:latin typeface="Arial" pitchFamily="1" charset="0"/>
                <a:ea typeface="MS PGothic" pitchFamily="34" charset="-128"/>
                <a:cs typeface="MS PGothic" pitchFamily="34" charset="-128"/>
              </a:rPr>
              <a:t>1 km = 1000 m</a:t>
            </a:r>
          </a:p>
          <a:p>
            <a:pPr lvl="1">
              <a:spcBef>
                <a:spcPts val="900"/>
              </a:spcBef>
              <a:buClr>
                <a:schemeClr val="tx1"/>
              </a:buClr>
            </a:pPr>
            <a:r>
              <a:rPr lang="en-US" dirty="0">
                <a:latin typeface="Arial" pitchFamily="1" charset="0"/>
                <a:ea typeface="MS PGothic" pitchFamily="34" charset="-128"/>
                <a:cs typeface="MS PGothic" pitchFamily="34" charset="-128"/>
              </a:rPr>
              <a:t>1 ng = 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10</a:t>
            </a:r>
            <a:r>
              <a:rPr lang="en-US" baseline="30000" dirty="0">
                <a:latin typeface="Arial" pitchFamily="1" charset="0"/>
                <a:ea typeface="MS PGothic" pitchFamily="34" charset="-128"/>
                <a:cs typeface="MS PGothic" pitchFamily="34" charset="-128"/>
              </a:rPr>
              <a:t>–9</a:t>
            </a:r>
            <a:r>
              <a:rPr lang="en-US" dirty="0">
                <a:latin typeface="Arial" pitchFamily="1" charset="0"/>
                <a:ea typeface="MS PGothic" pitchFamily="34" charset="-128"/>
                <a:cs typeface="MS PGothic" pitchFamily="34" charset="-128"/>
              </a:rPr>
              <a:t> g</a:t>
            </a:r>
          </a:p>
          <a:p>
            <a:pPr lvl="1">
              <a:spcBef>
                <a:spcPts val="900"/>
              </a:spcBef>
              <a:buClr>
                <a:schemeClr val="tx1"/>
              </a:buClr>
            </a:pPr>
            <a:r>
              <a:rPr lang="en-US" dirty="0">
                <a:latin typeface="Arial" pitchFamily="1" charset="0"/>
                <a:ea typeface="MS PGothic" pitchFamily="34" charset="-128"/>
                <a:cs typeface="MS PGothic" pitchFamily="34" charset="-128"/>
              </a:rPr>
              <a:t>1,130,000 m = 1.13 × 10</a:t>
            </a:r>
            <a:r>
              <a:rPr lang="en-US" baseline="30000" dirty="0">
                <a:latin typeface="Arial" pitchFamily="1" charset="0"/>
                <a:ea typeface="MS PGothic" pitchFamily="34" charset="-128"/>
                <a:cs typeface="MS PGothic" pitchFamily="34" charset="-128"/>
              </a:rPr>
              <a:t>6 </a:t>
            </a:r>
            <a:r>
              <a:rPr lang="en-US" dirty="0">
                <a:latin typeface="Arial" pitchFamily="1" charset="0"/>
                <a:ea typeface="MS PGothic" pitchFamily="34" charset="-128"/>
                <a:cs typeface="MS PGothic" pitchFamily="34" charset="-128"/>
              </a:rPr>
              <a:t>m = </a:t>
            </a:r>
            <a:r>
              <a:rPr lang="en-US" b="1" dirty="0">
                <a:solidFill>
                  <a:srgbClr val="CC0000"/>
                </a:solidFill>
                <a:latin typeface="Arial" pitchFamily="1" charset="0"/>
                <a:ea typeface="MS PGothic" pitchFamily="34" charset="-128"/>
                <a:cs typeface="MS PGothic" pitchFamily="34" charset="-128"/>
              </a:rPr>
              <a:t>1.13 Mm</a:t>
            </a:r>
            <a:endParaRPr lang="en-US" b="1" dirty="0">
              <a:solidFill>
                <a:srgbClr val="CC0000"/>
              </a:solidFill>
              <a:latin typeface="Tahoma" pitchFamily="1" charset="0"/>
              <a:ea typeface="Tahoma" pitchFamily="1" charset="0"/>
              <a:cs typeface="Tahoma" pitchFamily="1" charset="0"/>
            </a:endParaRPr>
          </a:p>
        </p:txBody>
      </p:sp>
      <p:sp>
        <p:nvSpPr>
          <p:cNvPr id="41988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C74E04CF-43FA-7B4E-AD2E-1CB0CACDF3E7}" type="slidenum">
              <a:rPr lang="en-US" sz="1200">
                <a:latin typeface="Verdana" pitchFamily="1" charset="0"/>
              </a:rPr>
              <a:pPr algn="r"/>
              <a:t>22</a:t>
            </a:fld>
            <a:endParaRPr lang="en-US" sz="1200">
              <a:latin typeface="Verdana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Decimal Multipliers</a:t>
            </a:r>
          </a:p>
        </p:txBody>
      </p:sp>
      <p:sp>
        <p:nvSpPr>
          <p:cNvPr id="43011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B0C25E0D-72BC-804C-ADC6-392C14916135}" type="slidenum">
              <a:rPr lang="en-US" sz="1200">
                <a:latin typeface="Verdana" pitchFamily="1" charset="0"/>
              </a:rPr>
              <a:pPr algn="r"/>
              <a:t>23</a:t>
            </a:fld>
            <a:endParaRPr lang="en-US" sz="1200">
              <a:latin typeface="Verdana" pitchFamily="1" charset="0"/>
            </a:endParaRPr>
          </a:p>
        </p:txBody>
      </p:sp>
      <p:pic>
        <p:nvPicPr>
          <p:cNvPr id="6" name="Picture 5" descr="chem7e_tab_01_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373" y="867834"/>
            <a:ext cx="6281255" cy="56011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Laboratory Measurements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16380" y="906780"/>
            <a:ext cx="7018020" cy="3436620"/>
          </a:xfrm>
        </p:spPr>
        <p:txBody>
          <a:bodyPr/>
          <a:lstStyle/>
          <a:p>
            <a:pPr marL="342900" lvl="1" indent="0">
              <a:spcBef>
                <a:spcPts val="900"/>
              </a:spcBef>
              <a:buClr>
                <a:schemeClr val="tx1"/>
              </a:buClr>
              <a:buNone/>
            </a:pPr>
            <a:endParaRPr lang="en-US" sz="3200" dirty="0">
              <a:solidFill>
                <a:srgbClr val="FF0000"/>
              </a:solidFill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marL="857250" lvl="1" indent="-51435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en-US" sz="3200" dirty="0">
                <a:solidFill>
                  <a:srgbClr val="FF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Length </a:t>
            </a:r>
          </a:p>
          <a:p>
            <a:pPr marL="857250" lvl="1" indent="-51435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en-US" sz="3200" dirty="0">
                <a:solidFill>
                  <a:srgbClr val="FF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Volume</a:t>
            </a:r>
          </a:p>
          <a:p>
            <a:pPr marL="857250" lvl="1" indent="-51435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en-US" sz="3200" dirty="0">
                <a:solidFill>
                  <a:srgbClr val="FF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Mass</a:t>
            </a:r>
          </a:p>
          <a:p>
            <a:pPr marL="857250" lvl="1" indent="-51435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en-US" sz="3200" dirty="0">
                <a:solidFill>
                  <a:srgbClr val="FF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Temperature</a:t>
            </a:r>
          </a:p>
        </p:txBody>
      </p:sp>
      <p:sp>
        <p:nvSpPr>
          <p:cNvPr id="44036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8CDABCA9-278B-0C40-85C6-F31F7E1BD8B2}" type="slidenum">
              <a:rPr lang="en-US" sz="1200">
                <a:latin typeface="Verdana" pitchFamily="1" charset="0"/>
              </a:rPr>
              <a:pPr algn="r"/>
              <a:t>24</a:t>
            </a:fld>
            <a:endParaRPr lang="en-US" sz="1200">
              <a:latin typeface="Verdana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Laboratory Measurements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2400" y="762000"/>
            <a:ext cx="9656618" cy="5791200"/>
          </a:xfrm>
        </p:spPr>
        <p:txBody>
          <a:bodyPr/>
          <a:lstStyle/>
          <a:p>
            <a:pPr marL="514350" indent="-51435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en-US" sz="3000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Length</a:t>
            </a:r>
          </a:p>
          <a:p>
            <a:pPr lvl="1">
              <a:spcBef>
                <a:spcPts val="900"/>
              </a:spcBef>
              <a:buClr>
                <a:schemeClr val="tx1"/>
              </a:buClr>
            </a:pP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SI Unit is meter (m)</a:t>
            </a:r>
          </a:p>
          <a:p>
            <a:pPr lvl="1">
              <a:spcBef>
                <a:spcPts val="900"/>
              </a:spcBef>
              <a:buClr>
                <a:schemeClr val="tx1"/>
              </a:buClr>
            </a:pP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Meter too large for most laboratory measurements</a:t>
            </a:r>
          </a:p>
          <a:p>
            <a:pPr lvl="1">
              <a:spcBef>
                <a:spcPts val="900"/>
              </a:spcBef>
              <a:buClr>
                <a:schemeClr val="tx1"/>
              </a:buClr>
            </a:pPr>
            <a:endParaRPr lang="en-US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lvl="1">
              <a:spcBef>
                <a:spcPts val="900"/>
              </a:spcBef>
              <a:buClr>
                <a:schemeClr val="tx1"/>
              </a:buClr>
            </a:pPr>
            <a:r>
              <a:rPr lang="en-US" dirty="0">
                <a:solidFill>
                  <a:srgbClr val="FF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Commonly use </a:t>
            </a:r>
          </a:p>
          <a:p>
            <a:pPr lvl="2">
              <a:spcBef>
                <a:spcPts val="900"/>
              </a:spcBef>
              <a:buClr>
                <a:schemeClr val="tx1"/>
              </a:buClr>
            </a:pPr>
            <a:r>
              <a:rPr lang="en-US" sz="2800" dirty="0">
                <a:solidFill>
                  <a:srgbClr val="FF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Centimeter (cm) 	</a:t>
            </a:r>
          </a:p>
          <a:p>
            <a:pPr lvl="3">
              <a:spcBef>
                <a:spcPts val="900"/>
              </a:spcBef>
              <a:buClr>
                <a:schemeClr val="tx1"/>
              </a:buClr>
            </a:pPr>
            <a:r>
              <a:rPr lang="en-US" sz="2800" dirty="0">
                <a:solidFill>
                  <a:srgbClr val="FF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1 cm = 10</a:t>
            </a:r>
            <a:r>
              <a:rPr lang="en-US" sz="2800" baseline="30000" dirty="0">
                <a:solidFill>
                  <a:srgbClr val="FF0000"/>
                </a:solidFill>
                <a:latin typeface="Arial" pitchFamily="1" charset="0"/>
                <a:ea typeface="MS PGothic" pitchFamily="34" charset="-128"/>
                <a:cs typeface="MS PGothic" pitchFamily="34" charset="-128"/>
              </a:rPr>
              <a:t>–</a:t>
            </a:r>
            <a:r>
              <a:rPr lang="en-US" sz="2800" baseline="30000" dirty="0">
                <a:solidFill>
                  <a:srgbClr val="FF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2</a:t>
            </a:r>
            <a:r>
              <a:rPr lang="en-US" sz="2800" dirty="0">
                <a:solidFill>
                  <a:srgbClr val="FF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 m = 0.01 m</a:t>
            </a:r>
            <a:r>
              <a:rPr lang="en-US" sz="2400" dirty="0">
                <a:solidFill>
                  <a:srgbClr val="FF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 </a:t>
            </a:r>
          </a:p>
          <a:p>
            <a:pPr lvl="2">
              <a:spcBef>
                <a:spcPts val="900"/>
              </a:spcBef>
              <a:buClr>
                <a:schemeClr val="tx1"/>
              </a:buClr>
            </a:pPr>
            <a:r>
              <a:rPr lang="en-US" sz="2800" dirty="0">
                <a:solidFill>
                  <a:srgbClr val="FF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Millimeter (mm)	</a:t>
            </a:r>
          </a:p>
          <a:p>
            <a:pPr lvl="3">
              <a:spcBef>
                <a:spcPts val="900"/>
              </a:spcBef>
              <a:buClr>
                <a:schemeClr val="tx1"/>
              </a:buClr>
            </a:pPr>
            <a:r>
              <a:rPr lang="en-US" sz="2800" dirty="0">
                <a:solidFill>
                  <a:srgbClr val="FF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1 mm = 10</a:t>
            </a:r>
            <a:r>
              <a:rPr lang="en-US" sz="2800" baseline="30000" dirty="0">
                <a:solidFill>
                  <a:srgbClr val="FF0000"/>
                </a:solidFill>
                <a:latin typeface="Arial" pitchFamily="1" charset="0"/>
                <a:ea typeface="MS PGothic" pitchFamily="34" charset="-128"/>
                <a:cs typeface="MS PGothic" pitchFamily="34" charset="-128"/>
              </a:rPr>
              <a:t>–</a:t>
            </a:r>
            <a:r>
              <a:rPr lang="en-US" sz="2800" baseline="30000" dirty="0">
                <a:solidFill>
                  <a:srgbClr val="FF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3</a:t>
            </a:r>
            <a:r>
              <a:rPr lang="en-US" sz="2800" dirty="0">
                <a:solidFill>
                  <a:srgbClr val="FF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 m = 0.001 m </a:t>
            </a:r>
            <a:endParaRPr lang="en-US" sz="2400" dirty="0">
              <a:solidFill>
                <a:srgbClr val="FF0000"/>
              </a:solidFill>
              <a:latin typeface="Tahoma" pitchFamily="1" charset="0"/>
              <a:ea typeface="Tahoma" pitchFamily="1" charset="0"/>
              <a:cs typeface="Tahoma" pitchFamily="1" charset="0"/>
            </a:endParaRPr>
          </a:p>
        </p:txBody>
      </p:sp>
      <p:sp>
        <p:nvSpPr>
          <p:cNvPr id="45060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5786EDE7-36A7-744E-B11A-44C7414837D0}" type="slidenum">
              <a:rPr lang="en-US" sz="1200">
                <a:latin typeface="Verdana" pitchFamily="1" charset="0"/>
              </a:rPr>
              <a:pPr algn="r"/>
              <a:t>25</a:t>
            </a:fld>
            <a:endParaRPr lang="en-US" sz="1200">
              <a:latin typeface="Verdana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hem7e_fig_01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252" y="1234682"/>
            <a:ext cx="4327909" cy="4727558"/>
          </a:xfrm>
          <a:prstGeom prst="rect">
            <a:avLst/>
          </a:prstGeom>
        </p:spPr>
      </p:pic>
      <p:sp>
        <p:nvSpPr>
          <p:cNvPr id="46082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pPr marL="514350" indent="-514350">
              <a:spcBef>
                <a:spcPts val="300"/>
              </a:spcBef>
            </a:pPr>
            <a:r>
              <a:rPr lang="en-US" dirty="0">
                <a:solidFill>
                  <a:srgbClr val="000000"/>
                </a:solidFill>
                <a:latin typeface="Tahoma" pitchFamily="1" charset="0"/>
                <a:cs typeface="Tahoma" pitchFamily="1" charset="0"/>
              </a:rPr>
              <a:t>2. Volume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4294967295"/>
          </p:nvPr>
        </p:nvSpPr>
        <p:spPr>
          <a:xfrm>
            <a:off x="152400" y="762000"/>
            <a:ext cx="4728358" cy="5791200"/>
          </a:xfrm>
        </p:spPr>
        <p:txBody>
          <a:bodyPr/>
          <a:lstStyle/>
          <a:p>
            <a:pPr>
              <a:spcBef>
                <a:spcPts val="6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Dimensions of (length)</a:t>
            </a:r>
            <a:r>
              <a:rPr lang="en-US" sz="3000" baseline="30000" dirty="0">
                <a:latin typeface="Tahoma" pitchFamily="1" charset="0"/>
                <a:cs typeface="Tahoma" pitchFamily="1" charset="0"/>
              </a:rPr>
              <a:t>3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 </a:t>
            </a:r>
          </a:p>
          <a:p>
            <a:pPr>
              <a:spcBef>
                <a:spcPts val="600"/>
              </a:spcBef>
              <a:buClr>
                <a:schemeClr val="tx1"/>
              </a:buClr>
            </a:pPr>
            <a:endParaRPr lang="en-US" sz="3000" dirty="0">
              <a:latin typeface="Tahoma" pitchFamily="1" charset="0"/>
              <a:cs typeface="Tahoma" pitchFamily="1" charset="0"/>
            </a:endParaRPr>
          </a:p>
          <a:p>
            <a:pPr>
              <a:spcBef>
                <a:spcPts val="6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SI unit for Volume = m</a:t>
            </a:r>
            <a:r>
              <a:rPr lang="en-US" sz="3000" baseline="30000" dirty="0">
                <a:latin typeface="Tahoma" pitchFamily="1" charset="0"/>
                <a:cs typeface="Tahoma" pitchFamily="1" charset="0"/>
              </a:rPr>
              <a:t>3</a:t>
            </a:r>
            <a:endParaRPr lang="en-US" sz="3000" dirty="0">
              <a:latin typeface="Tahoma" pitchFamily="1" charset="0"/>
              <a:cs typeface="Tahoma" pitchFamily="1" charset="0"/>
            </a:endParaRPr>
          </a:p>
          <a:p>
            <a:pPr>
              <a:spcBef>
                <a:spcPts val="600"/>
              </a:spcBef>
              <a:buClr>
                <a:schemeClr val="tx1"/>
              </a:buClr>
            </a:pPr>
            <a:endParaRPr lang="en-US" sz="3000" dirty="0">
              <a:latin typeface="Tahoma" pitchFamily="1" charset="0"/>
              <a:cs typeface="Tahoma" pitchFamily="1" charset="0"/>
            </a:endParaRPr>
          </a:p>
          <a:p>
            <a:pPr>
              <a:spcBef>
                <a:spcPts val="6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Chemistry glassware marked in L or mL</a:t>
            </a:r>
          </a:p>
          <a:p>
            <a:pPr lvl="1">
              <a:spcBef>
                <a:spcPts val="600"/>
              </a:spcBef>
              <a:buClr>
                <a:schemeClr val="tx1"/>
              </a:buClr>
            </a:pPr>
            <a:r>
              <a:rPr lang="en-US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1 L = 1000 mL </a:t>
            </a:r>
          </a:p>
          <a:p>
            <a:pPr>
              <a:spcBef>
                <a:spcPts val="600"/>
              </a:spcBef>
              <a:buClr>
                <a:schemeClr val="tx1"/>
              </a:buClr>
            </a:pPr>
            <a:endParaRPr lang="en-US" sz="3000" dirty="0">
              <a:latin typeface="Tahoma" pitchFamily="1" charset="0"/>
              <a:cs typeface="Tahoma" pitchFamily="1" charset="0"/>
            </a:endParaRPr>
          </a:p>
          <a:p>
            <a:pPr>
              <a:spcBef>
                <a:spcPts val="6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What is a mL?</a:t>
            </a:r>
          </a:p>
          <a:p>
            <a:pPr lvl="1">
              <a:spcBef>
                <a:spcPts val="600"/>
              </a:spcBef>
              <a:buClr>
                <a:schemeClr val="tx1"/>
              </a:buClr>
            </a:pPr>
            <a:r>
              <a:rPr lang="de-DE" dirty="0">
                <a:solidFill>
                  <a:srgbClr val="0033CC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1 mL = 1 cm</a:t>
            </a:r>
            <a:r>
              <a:rPr lang="de-DE" baseline="30000" dirty="0">
                <a:solidFill>
                  <a:srgbClr val="0033CC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3</a:t>
            </a:r>
            <a:endParaRPr lang="en-US" dirty="0">
              <a:solidFill>
                <a:srgbClr val="0033CC"/>
              </a:solidFill>
              <a:latin typeface="Tahoma" pitchFamily="1" charset="0"/>
              <a:ea typeface="Tahoma" pitchFamily="1" charset="0"/>
              <a:cs typeface="Tahoma" pitchFamily="1" charset="0"/>
            </a:endParaRPr>
          </a:p>
        </p:txBody>
      </p:sp>
      <p:sp>
        <p:nvSpPr>
          <p:cNvPr id="46084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2007C981-C424-5F44-B05B-9EA522EDFC66}" type="slidenum">
              <a:rPr lang="en-US" sz="1200">
                <a:latin typeface="Verdana" pitchFamily="1" charset="0"/>
              </a:rPr>
              <a:pPr algn="r"/>
              <a:t>26</a:t>
            </a:fld>
            <a:endParaRPr lang="en-US" sz="1200">
              <a:latin typeface="Verdana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pPr marL="514350" indent="-514350">
              <a:spcBef>
                <a:spcPts val="300"/>
              </a:spcBef>
            </a:pPr>
            <a:r>
              <a:rPr lang="en-US" dirty="0">
                <a:solidFill>
                  <a:srgbClr val="000000"/>
                </a:solidFill>
                <a:latin typeface="Tahoma" pitchFamily="1" charset="0"/>
                <a:cs typeface="Tahoma" pitchFamily="1" charset="0"/>
              </a:rPr>
              <a:t>3. Mass</a:t>
            </a:r>
          </a:p>
        </p:txBody>
      </p:sp>
      <p:sp>
        <p:nvSpPr>
          <p:cNvPr id="3076" name="Content Placeholder 2"/>
          <p:cNvSpPr>
            <a:spLocks noGrp="1"/>
          </p:cNvSpPr>
          <p:nvPr>
            <p:ph idx="4294967295"/>
          </p:nvPr>
        </p:nvSpPr>
        <p:spPr>
          <a:xfrm>
            <a:off x="152400" y="685800"/>
            <a:ext cx="8839200" cy="3657600"/>
          </a:xfrm>
        </p:spPr>
        <p:txBody>
          <a:bodyPr/>
          <a:lstStyle/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3000" dirty="0">
                <a:solidFill>
                  <a:srgbClr val="0033CC"/>
                </a:solidFill>
                <a:latin typeface="Tahoma" pitchFamily="1" charset="0"/>
                <a:cs typeface="Tahoma" pitchFamily="1" charset="0"/>
              </a:rPr>
              <a:t>SI unit is kilogram (kg)</a:t>
            </a:r>
          </a:p>
          <a:p>
            <a:pPr lvl="1">
              <a:spcBef>
                <a:spcPts val="900"/>
              </a:spcBef>
              <a:buClr>
                <a:schemeClr val="tx1"/>
              </a:buClr>
            </a:pP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Frequently use grams (</a:t>
            </a:r>
            <a:r>
              <a:rPr lang="en-US" dirty="0" err="1">
                <a:latin typeface="Tahoma" pitchFamily="1" charset="0"/>
                <a:ea typeface="Tahoma" pitchFamily="1" charset="0"/>
                <a:cs typeface="Tahoma" pitchFamily="1" charset="0"/>
              </a:rPr>
              <a:t>g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) in laboratory as more realistic size</a:t>
            </a:r>
          </a:p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de-DE" sz="2800" dirty="0">
                <a:solidFill>
                  <a:srgbClr val="0033CC"/>
                </a:solidFill>
                <a:latin typeface="Tahoma" pitchFamily="1" charset="0"/>
                <a:cs typeface="Tahoma" pitchFamily="1" charset="0"/>
              </a:rPr>
              <a:t>1 kg = 1000 g</a:t>
            </a:r>
            <a:r>
              <a:rPr lang="en-US" sz="2800" dirty="0">
                <a:solidFill>
                  <a:srgbClr val="0033CC"/>
                </a:solidFill>
                <a:latin typeface="Tahoma" pitchFamily="1" charset="0"/>
                <a:cs typeface="Tahoma" pitchFamily="1" charset="0"/>
              </a:rPr>
              <a:t>   </a:t>
            </a:r>
            <a:r>
              <a:rPr lang="de-DE" sz="2800" dirty="0">
                <a:solidFill>
                  <a:srgbClr val="0033CC"/>
                </a:solidFill>
                <a:latin typeface="Tahoma" pitchFamily="1" charset="0"/>
                <a:cs typeface="Tahoma" pitchFamily="1" charset="0"/>
              </a:rPr>
              <a:t>1 g = 0.1000 kg</a:t>
            </a:r>
            <a:r>
              <a:rPr lang="en-US" sz="2800" dirty="0">
                <a:solidFill>
                  <a:srgbClr val="0033CC"/>
                </a:solidFill>
                <a:latin typeface="Tahoma" pitchFamily="1" charset="0"/>
                <a:cs typeface="Tahoma" pitchFamily="1" charset="0"/>
              </a:rPr>
              <a:t> =           kg</a:t>
            </a:r>
          </a:p>
          <a:p>
            <a:pPr>
              <a:spcBef>
                <a:spcPts val="900"/>
              </a:spcBef>
              <a:buClr>
                <a:schemeClr val="tx1"/>
              </a:buClr>
            </a:pPr>
            <a:endParaRPr lang="en-US" sz="2800" dirty="0">
              <a:latin typeface="Tahoma" pitchFamily="1" charset="0"/>
              <a:cs typeface="Tahoma" pitchFamily="1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2800" dirty="0">
                <a:latin typeface="Tahoma" pitchFamily="1" charset="0"/>
                <a:cs typeface="Tahoma" pitchFamily="1" charset="0"/>
              </a:rPr>
              <a:t>Instrument used = balance</a:t>
            </a:r>
          </a:p>
        </p:txBody>
      </p:sp>
      <p:sp>
        <p:nvSpPr>
          <p:cNvPr id="47108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91BF628E-CAEB-3243-A4DB-038E49B54DAF}" type="slidenum">
              <a:rPr lang="en-US" sz="1200">
                <a:latin typeface="Verdana" pitchFamily="1" charset="0"/>
              </a:rPr>
              <a:pPr algn="r"/>
              <a:t>27</a:t>
            </a:fld>
            <a:endParaRPr lang="en-US" sz="1200">
              <a:latin typeface="Verdana" pitchFamily="1" charset="0"/>
            </a:endParaRP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6244505" y="1905000"/>
          <a:ext cx="83820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3" imgW="393359" imgH="406048" progId="Equation.3">
                  <p:embed/>
                </p:oleObj>
              </mc:Choice>
              <mc:Fallback>
                <p:oleObj name="Equation" r:id="rId3" imgW="393359" imgH="406048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4505" y="1905000"/>
                        <a:ext cx="838200" cy="86518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 descr="chem7e_fig_01_1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79" y="4271518"/>
            <a:ext cx="7172243" cy="227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4. Temperature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2400" y="838200"/>
            <a:ext cx="8763000" cy="3983182"/>
          </a:xfrm>
        </p:spPr>
        <p:txBody>
          <a:bodyPr/>
          <a:lstStyle/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Measured with thermometer</a:t>
            </a:r>
          </a:p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Three common scales</a:t>
            </a:r>
          </a:p>
          <a:p>
            <a:pPr>
              <a:spcBef>
                <a:spcPts val="900"/>
              </a:spcBef>
              <a:buClr>
                <a:srgbClr val="000099"/>
              </a:buClr>
              <a:buFont typeface="Tahoma" pitchFamily="1" charset="0"/>
              <a:buAutoNum type="alphaUcPeriod"/>
            </a:pPr>
            <a:r>
              <a:rPr lang="en-US" sz="3000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 Fahrenheit scale</a:t>
            </a:r>
          </a:p>
          <a:p>
            <a:pPr marL="0" indent="0">
              <a:spcBef>
                <a:spcPts val="900"/>
              </a:spcBef>
              <a:buClr>
                <a:srgbClr val="000099"/>
              </a:buClr>
              <a:buNone/>
            </a:pPr>
            <a:r>
              <a:rPr lang="en-US" sz="3000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    </a:t>
            </a:r>
            <a:r>
              <a:rPr lang="en-US" sz="2400" dirty="0">
                <a:latin typeface="Tahoma" pitchFamily="1" charset="0"/>
                <a:cs typeface="Tahoma" pitchFamily="1" charset="0"/>
              </a:rPr>
              <a:t>Most common use in USA (˚F)</a:t>
            </a:r>
          </a:p>
          <a:p>
            <a:pPr marL="0" indent="0">
              <a:spcBef>
                <a:spcPts val="900"/>
              </a:spcBef>
              <a:buClr>
                <a:srgbClr val="000099"/>
              </a:buClr>
              <a:buNone/>
            </a:pPr>
            <a:r>
              <a:rPr lang="en-US" sz="3000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B. Celsius scale</a:t>
            </a:r>
          </a:p>
          <a:p>
            <a:pPr marL="0" indent="0">
              <a:spcBef>
                <a:spcPts val="900"/>
              </a:spcBef>
              <a:buClr>
                <a:srgbClr val="000099"/>
              </a:buClr>
              <a:buNone/>
            </a:pPr>
            <a:r>
              <a:rPr lang="en-US" sz="2400" dirty="0">
                <a:latin typeface="Tahoma" pitchFamily="1" charset="0"/>
                <a:cs typeface="Tahoma" pitchFamily="1" charset="0"/>
              </a:rPr>
              <a:t>    Most common for use in science (˚C)</a:t>
            </a:r>
          </a:p>
          <a:p>
            <a:pPr marL="0" indent="0">
              <a:spcBef>
                <a:spcPts val="900"/>
              </a:spcBef>
              <a:buClr>
                <a:srgbClr val="000099"/>
              </a:buClr>
              <a:buNone/>
            </a:pPr>
            <a:r>
              <a:rPr lang="en-US" sz="3000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C. Kelvin scale</a:t>
            </a:r>
          </a:p>
          <a:p>
            <a:pPr marL="0" indent="0">
              <a:spcBef>
                <a:spcPts val="900"/>
              </a:spcBef>
              <a:buClr>
                <a:srgbClr val="000099"/>
              </a:buClr>
              <a:buNone/>
            </a:pPr>
            <a:r>
              <a:rPr lang="en-US" sz="2400" b="1" dirty="0">
                <a:latin typeface="Tahoma" pitchFamily="1" charset="0"/>
                <a:cs typeface="Tahoma" pitchFamily="1" charset="0"/>
              </a:rPr>
              <a:t>    </a:t>
            </a:r>
            <a:r>
              <a:rPr lang="en-US" sz="2400" dirty="0">
                <a:latin typeface="Tahoma" pitchFamily="1" charset="0"/>
                <a:cs typeface="Tahoma" pitchFamily="1" charset="0"/>
              </a:rPr>
              <a:t>SI unit of temperature is kelvin (K) </a:t>
            </a:r>
          </a:p>
          <a:p>
            <a:pPr marL="0" indent="0">
              <a:spcBef>
                <a:spcPts val="900"/>
              </a:spcBef>
              <a:buClr>
                <a:srgbClr val="000099"/>
              </a:buClr>
              <a:buNone/>
            </a:pPr>
            <a:r>
              <a:rPr lang="en-US" sz="3000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   </a:t>
            </a:r>
            <a:r>
              <a:rPr lang="en-US" sz="2400" dirty="0">
                <a:latin typeface="Tahoma" pitchFamily="1" charset="0"/>
                <a:cs typeface="Tahoma" pitchFamily="1" charset="0"/>
              </a:rPr>
              <a:t>Absolute Zero, Zero point on Kelvin scale @ nature’s lowest</a:t>
            </a:r>
          </a:p>
          <a:p>
            <a:pPr marL="0" indent="0">
              <a:spcBef>
                <a:spcPts val="900"/>
              </a:spcBef>
              <a:buClr>
                <a:srgbClr val="000099"/>
              </a:buClr>
              <a:buNone/>
            </a:pPr>
            <a:r>
              <a:rPr lang="en-US" sz="2400" dirty="0">
                <a:latin typeface="Tahoma" pitchFamily="1" charset="0"/>
                <a:cs typeface="Tahoma" pitchFamily="1" charset="0"/>
              </a:rPr>
              <a:t>    possible temperature</a:t>
            </a:r>
          </a:p>
          <a:p>
            <a:pPr>
              <a:spcBef>
                <a:spcPts val="900"/>
              </a:spcBef>
              <a:buClr>
                <a:srgbClr val="000099"/>
              </a:buClr>
              <a:buFont typeface="Tahoma" pitchFamily="1" charset="0"/>
              <a:buAutoNum type="alphaUcPeriod"/>
            </a:pPr>
            <a:endParaRPr lang="en-US" sz="3000" dirty="0">
              <a:solidFill>
                <a:srgbClr val="000099"/>
              </a:solidFill>
              <a:latin typeface="Tahoma" pitchFamily="1" charset="0"/>
              <a:cs typeface="Tahoma" pitchFamily="1" charset="0"/>
            </a:endParaRPr>
          </a:p>
          <a:p>
            <a:pPr marL="344487" lvl="1" indent="0">
              <a:spcBef>
                <a:spcPts val="900"/>
              </a:spcBef>
              <a:buClr>
                <a:schemeClr val="tx1"/>
              </a:buClr>
              <a:buNone/>
            </a:pPr>
            <a:endParaRPr lang="en-US" dirty="0">
              <a:latin typeface="Tahoma" pitchFamily="1" charset="0"/>
              <a:ea typeface="Tahoma" pitchFamily="1" charset="0"/>
              <a:cs typeface="Tahoma" pitchFamily="1" charset="0"/>
            </a:endParaRPr>
          </a:p>
        </p:txBody>
      </p:sp>
      <p:sp>
        <p:nvSpPr>
          <p:cNvPr id="48132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79DEC63D-10C7-DD42-9D42-12F8827377D5}" type="slidenum">
              <a:rPr lang="en-US" sz="1200">
                <a:latin typeface="Verdana" pitchFamily="1" charset="0"/>
              </a:rPr>
              <a:pPr algn="r"/>
              <a:t>28</a:t>
            </a:fld>
            <a:endParaRPr lang="en-US" sz="1200">
              <a:latin typeface="Verdana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33ED458-79D3-4017-B62C-1EEEEA4DF843}" type="slidenum">
              <a:rPr lang="en-US" altLang="en-US" sz="14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29</a:t>
            </a:fld>
            <a:endParaRPr lang="en-US" altLang="en-US" sz="1400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1981200" y="1600200"/>
            <a:ext cx="2209800" cy="4335463"/>
            <a:chOff x="1248" y="1008"/>
            <a:chExt cx="1392" cy="2731"/>
          </a:xfrm>
        </p:grpSpPr>
        <p:pic>
          <p:nvPicPr>
            <p:cNvPr id="29721" name="Picture 2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1008"/>
              <a:ext cx="1286" cy="2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722" name="Picture 3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9" y="3408"/>
              <a:ext cx="441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9700" name="Picture 4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1413" y="5400675"/>
            <a:ext cx="5334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2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4067175"/>
            <a:ext cx="271463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6248400" y="1524000"/>
            <a:ext cx="2713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800">
                <a:solidFill>
                  <a:srgbClr val="000000"/>
                </a:solidFill>
                <a:ea typeface="+mn-ea"/>
                <a:cs typeface="+mn-cs"/>
              </a:rPr>
              <a:t>K = </a:t>
            </a:r>
            <a:r>
              <a:rPr lang="en-US" altLang="en-US" sz="2800" baseline="30000">
                <a:solidFill>
                  <a:srgbClr val="000000"/>
                </a:solidFill>
                <a:ea typeface="+mn-ea"/>
                <a:cs typeface="+mn-cs"/>
              </a:rPr>
              <a:t>0</a:t>
            </a:r>
            <a:r>
              <a:rPr lang="en-US" altLang="en-US" sz="2800">
                <a:solidFill>
                  <a:srgbClr val="000000"/>
                </a:solidFill>
                <a:ea typeface="+mn-ea"/>
                <a:cs typeface="+mn-cs"/>
              </a:rPr>
              <a:t>C + 273.15</a:t>
            </a: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6134100" y="4003675"/>
            <a:ext cx="3001963" cy="873125"/>
            <a:chOff x="3948" y="1426"/>
            <a:chExt cx="1891" cy="550"/>
          </a:xfrm>
        </p:grpSpPr>
        <p:sp>
          <p:nvSpPr>
            <p:cNvPr id="29716" name="Text Box 4"/>
            <p:cNvSpPr txBox="1">
              <a:spLocks noChangeArrowheads="1"/>
            </p:cNvSpPr>
            <p:nvPr/>
          </p:nvSpPr>
          <p:spPr bwMode="auto">
            <a:xfrm>
              <a:off x="3948" y="1536"/>
              <a:ext cx="18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 sz="2800" baseline="30000">
                  <a:solidFill>
                    <a:srgbClr val="000000"/>
                  </a:solidFill>
                  <a:ea typeface="+mn-ea"/>
                  <a:cs typeface="+mn-cs"/>
                </a:rPr>
                <a:t>0</a:t>
              </a:r>
              <a:r>
                <a:rPr lang="en-US" altLang="en-US" sz="2800">
                  <a:solidFill>
                    <a:srgbClr val="000000"/>
                  </a:solidFill>
                  <a:ea typeface="+mn-ea"/>
                  <a:cs typeface="+mn-cs"/>
                </a:rPr>
                <a:t>F =       x </a:t>
              </a:r>
              <a:r>
                <a:rPr lang="en-US" altLang="en-US" sz="2800" baseline="30000">
                  <a:solidFill>
                    <a:srgbClr val="000000"/>
                  </a:solidFill>
                  <a:ea typeface="+mn-ea"/>
                  <a:cs typeface="+mn-cs"/>
                </a:rPr>
                <a:t>0</a:t>
              </a:r>
              <a:r>
                <a:rPr lang="en-US" altLang="en-US" sz="2800">
                  <a:solidFill>
                    <a:srgbClr val="000000"/>
                  </a:solidFill>
                  <a:ea typeface="+mn-ea"/>
                  <a:cs typeface="+mn-cs"/>
                </a:rPr>
                <a:t>C + 32</a:t>
              </a:r>
              <a:endParaRPr lang="en-US" altLang="en-US" sz="2800" baseline="30000">
                <a:solidFill>
                  <a:srgbClr val="000000"/>
                </a:solidFill>
                <a:ea typeface="+mn-ea"/>
                <a:cs typeface="+mn-cs"/>
              </a:endParaRPr>
            </a:p>
          </p:txBody>
        </p:sp>
        <p:grpSp>
          <p:nvGrpSpPr>
            <p:cNvPr id="29717" name="Group 8"/>
            <p:cNvGrpSpPr>
              <a:grpSpLocks/>
            </p:cNvGrpSpPr>
            <p:nvPr/>
          </p:nvGrpSpPr>
          <p:grpSpPr bwMode="auto">
            <a:xfrm>
              <a:off x="4536" y="1426"/>
              <a:ext cx="249" cy="550"/>
              <a:chOff x="4520" y="2585"/>
              <a:chExt cx="249" cy="550"/>
            </a:xfrm>
          </p:grpSpPr>
          <p:sp>
            <p:nvSpPr>
              <p:cNvPr id="29718" name="Text Box 5"/>
              <p:cNvSpPr txBox="1">
                <a:spLocks noChangeArrowheads="1"/>
              </p:cNvSpPr>
              <p:nvPr/>
            </p:nvSpPr>
            <p:spPr bwMode="auto">
              <a:xfrm>
                <a:off x="4528" y="2585"/>
                <a:ext cx="24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US" altLang="en-US" sz="2800">
                    <a:solidFill>
                      <a:srgbClr val="000000"/>
                    </a:solidFill>
                    <a:ea typeface="+mn-ea"/>
                    <a:cs typeface="+mn-cs"/>
                  </a:rPr>
                  <a:t>9</a:t>
                </a:r>
              </a:p>
            </p:txBody>
          </p:sp>
          <p:sp>
            <p:nvSpPr>
              <p:cNvPr id="29719" name="Text Box 6"/>
              <p:cNvSpPr txBox="1">
                <a:spLocks noChangeArrowheads="1"/>
              </p:cNvSpPr>
              <p:nvPr/>
            </p:nvSpPr>
            <p:spPr bwMode="auto">
              <a:xfrm>
                <a:off x="4528" y="2808"/>
                <a:ext cx="24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US" altLang="en-US" sz="2800">
                    <a:solidFill>
                      <a:srgbClr val="000000"/>
                    </a:solidFill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29720" name="Line 7"/>
              <p:cNvSpPr>
                <a:spLocks noChangeShapeType="1"/>
              </p:cNvSpPr>
              <p:nvPr/>
            </p:nvSpPr>
            <p:spPr bwMode="auto">
              <a:xfrm>
                <a:off x="4520" y="2872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2400">
                  <a:solidFill>
                    <a:srgbClr val="000000"/>
                  </a:solidFill>
                  <a:latin typeface="Arial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443" name="Text Box 11"/>
          <p:cNvSpPr txBox="1">
            <a:spLocks noChangeArrowheads="1"/>
          </p:cNvSpPr>
          <p:nvPr/>
        </p:nvSpPr>
        <p:spPr bwMode="auto">
          <a:xfrm>
            <a:off x="6278563" y="2073275"/>
            <a:ext cx="267493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00"/>
                </a:solidFill>
                <a:ea typeface="+mn-ea"/>
                <a:cs typeface="+mn-cs"/>
              </a:rPr>
              <a:t>273.15 K = 0 </a:t>
            </a:r>
            <a:r>
              <a:rPr lang="en-US" altLang="en-US" baseline="30000">
                <a:solidFill>
                  <a:srgbClr val="000000"/>
                </a:solidFill>
                <a:ea typeface="+mn-ea"/>
                <a:cs typeface="+mn-cs"/>
              </a:rPr>
              <a:t>0</a:t>
            </a:r>
            <a:r>
              <a:rPr lang="en-US" altLang="en-US">
                <a:solidFill>
                  <a:srgbClr val="000000"/>
                </a:solidFill>
                <a:ea typeface="+mn-ea"/>
                <a:cs typeface="+mn-cs"/>
              </a:rPr>
              <a:t>C    </a:t>
            </a:r>
          </a:p>
          <a:p>
            <a:pPr algn="ctr" eaLnBrk="1" hangingPunct="1"/>
            <a:r>
              <a:rPr lang="en-US" altLang="en-US">
                <a:solidFill>
                  <a:srgbClr val="000000"/>
                </a:solidFill>
                <a:ea typeface="+mn-ea"/>
                <a:cs typeface="+mn-cs"/>
              </a:rPr>
              <a:t>373.15 K = 100 </a:t>
            </a:r>
            <a:r>
              <a:rPr lang="en-US" altLang="en-US" baseline="30000">
                <a:solidFill>
                  <a:srgbClr val="000000"/>
                </a:solidFill>
                <a:ea typeface="+mn-ea"/>
                <a:cs typeface="+mn-cs"/>
              </a:rPr>
              <a:t>0</a:t>
            </a:r>
            <a:r>
              <a:rPr lang="en-US" altLang="en-US">
                <a:solidFill>
                  <a:srgbClr val="000000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18444" name="Text Box 12"/>
          <p:cNvSpPr txBox="1">
            <a:spLocks noChangeArrowheads="1"/>
          </p:cNvSpPr>
          <p:nvPr/>
        </p:nvSpPr>
        <p:spPr bwMode="auto">
          <a:xfrm>
            <a:off x="6416675" y="4892675"/>
            <a:ext cx="24336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00"/>
                </a:solidFill>
                <a:ea typeface="+mn-ea"/>
                <a:cs typeface="+mn-cs"/>
              </a:rPr>
              <a:t>32 </a:t>
            </a:r>
            <a:r>
              <a:rPr lang="en-US" altLang="en-US" baseline="30000">
                <a:solidFill>
                  <a:srgbClr val="000000"/>
                </a:solidFill>
                <a:ea typeface="+mn-ea"/>
                <a:cs typeface="+mn-cs"/>
              </a:rPr>
              <a:t>0</a:t>
            </a:r>
            <a:r>
              <a:rPr lang="en-US" altLang="en-US">
                <a:solidFill>
                  <a:srgbClr val="000000"/>
                </a:solidFill>
                <a:ea typeface="+mn-ea"/>
                <a:cs typeface="+mn-cs"/>
              </a:rPr>
              <a:t>F = 0 </a:t>
            </a:r>
            <a:r>
              <a:rPr lang="en-US" altLang="en-US" baseline="30000">
                <a:solidFill>
                  <a:srgbClr val="000000"/>
                </a:solidFill>
                <a:ea typeface="+mn-ea"/>
                <a:cs typeface="+mn-cs"/>
              </a:rPr>
              <a:t>0</a:t>
            </a:r>
            <a:r>
              <a:rPr lang="en-US" altLang="en-US">
                <a:solidFill>
                  <a:srgbClr val="000000"/>
                </a:solidFill>
                <a:ea typeface="+mn-ea"/>
                <a:cs typeface="+mn-cs"/>
              </a:rPr>
              <a:t>C </a:t>
            </a:r>
          </a:p>
          <a:p>
            <a:pPr algn="ctr" eaLnBrk="1" hangingPunct="1"/>
            <a:r>
              <a:rPr lang="en-US" altLang="en-US">
                <a:solidFill>
                  <a:srgbClr val="000000"/>
                </a:solidFill>
                <a:ea typeface="+mn-ea"/>
                <a:cs typeface="+mn-cs"/>
              </a:rPr>
              <a:t>212 </a:t>
            </a:r>
            <a:r>
              <a:rPr lang="en-US" altLang="en-US" baseline="30000">
                <a:solidFill>
                  <a:srgbClr val="000000"/>
                </a:solidFill>
                <a:ea typeface="+mn-ea"/>
                <a:cs typeface="+mn-cs"/>
              </a:rPr>
              <a:t>0</a:t>
            </a:r>
            <a:r>
              <a:rPr lang="en-US" altLang="en-US">
                <a:solidFill>
                  <a:srgbClr val="000000"/>
                </a:solidFill>
                <a:ea typeface="+mn-ea"/>
                <a:cs typeface="+mn-cs"/>
              </a:rPr>
              <a:t>F = 100 </a:t>
            </a:r>
            <a:r>
              <a:rPr lang="en-US" altLang="en-US" baseline="30000">
                <a:solidFill>
                  <a:srgbClr val="000000"/>
                </a:solidFill>
                <a:ea typeface="+mn-ea"/>
                <a:cs typeface="+mn-cs"/>
              </a:rPr>
              <a:t>0</a:t>
            </a:r>
            <a:r>
              <a:rPr lang="en-US" altLang="en-US">
                <a:solidFill>
                  <a:srgbClr val="000000"/>
                </a:solidFill>
                <a:ea typeface="+mn-ea"/>
                <a:cs typeface="+mn-cs"/>
              </a:rPr>
              <a:t>C </a:t>
            </a:r>
          </a:p>
        </p:txBody>
      </p:sp>
      <p:pic>
        <p:nvPicPr>
          <p:cNvPr id="18447" name="Picture 1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52575"/>
            <a:ext cx="860425" cy="416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3581400" y="1828800"/>
            <a:ext cx="547688" cy="2633663"/>
            <a:chOff x="2256" y="1152"/>
            <a:chExt cx="345" cy="1659"/>
          </a:xfrm>
        </p:grpSpPr>
        <p:pic>
          <p:nvPicPr>
            <p:cNvPr id="29712" name="Picture 30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1" y="1152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713" name="Picture 3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0" y="2121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714" name="Picture 3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6" y="2265"/>
              <a:ext cx="288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715" name="Picture 3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9" y="2667"/>
              <a:ext cx="19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" name="Group 38"/>
          <p:cNvGrpSpPr>
            <a:grpSpLocks/>
          </p:cNvGrpSpPr>
          <p:nvPr/>
        </p:nvGrpSpPr>
        <p:grpSpPr bwMode="auto">
          <a:xfrm>
            <a:off x="3768725" y="1571625"/>
            <a:ext cx="1312863" cy="4186238"/>
            <a:chOff x="2352" y="987"/>
            <a:chExt cx="827" cy="2637"/>
          </a:xfrm>
        </p:grpSpPr>
        <p:pic>
          <p:nvPicPr>
            <p:cNvPr id="29710" name="Picture 36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3" y="987"/>
              <a:ext cx="656" cy="2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711" name="Picture 37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2" y="3504"/>
              <a:ext cx="480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9709" name="Text Box 42"/>
          <p:cNvSpPr txBox="1">
            <a:spLocks noChangeArrowheads="1"/>
          </p:cNvSpPr>
          <p:nvPr/>
        </p:nvSpPr>
        <p:spPr bwMode="auto">
          <a:xfrm>
            <a:off x="228600" y="76200"/>
            <a:ext cx="8686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3200">
                <a:solidFill>
                  <a:srgbClr val="000000"/>
                </a:solidFill>
                <a:ea typeface="+mn-ea"/>
                <a:cs typeface="+mn-cs"/>
              </a:rPr>
              <a:t>Temperature Scale</a:t>
            </a:r>
          </a:p>
        </p:txBody>
      </p:sp>
    </p:spTree>
    <p:extLst>
      <p:ext uri="{BB962C8B-B14F-4D97-AF65-F5344CB8AC3E}">
        <p14:creationId xmlns:p14="http://schemas.microsoft.com/office/powerpoint/2010/main" val="28111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autoUpdateAnimBg="0"/>
      <p:bldP spid="18443" grpId="0" autoUpdateAnimBg="0"/>
      <p:bldP spid="18444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A64884-564A-45D5-A1B8-773A0E551F6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30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9529" r="4901" b="11280"/>
          <a:stretch/>
        </p:blipFill>
        <p:spPr>
          <a:xfrm>
            <a:off x="1509764" y="0"/>
            <a:ext cx="6629400" cy="676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08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Significant Figures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4294967295"/>
          </p:nvPr>
        </p:nvSpPr>
        <p:spPr>
          <a:xfrm>
            <a:off x="228600" y="838200"/>
            <a:ext cx="8686800" cy="5715000"/>
          </a:xfrm>
        </p:spPr>
        <p:txBody>
          <a:bodyPr/>
          <a:lstStyle/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Scientific convention:</a:t>
            </a:r>
          </a:p>
          <a:p>
            <a:pPr lvl="1">
              <a:spcBef>
                <a:spcPts val="900"/>
              </a:spcBef>
              <a:buClr>
                <a:schemeClr val="tx1"/>
              </a:buClr>
            </a:pPr>
            <a:r>
              <a:rPr lang="en-US" b="1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All digits in measurement up to and including first estimated digit are significant.</a:t>
            </a:r>
          </a:p>
          <a:p>
            <a:pPr marL="344487" lvl="1" indent="0">
              <a:spcBef>
                <a:spcPts val="900"/>
              </a:spcBef>
              <a:buClr>
                <a:schemeClr val="tx1"/>
              </a:buClr>
              <a:buNone/>
            </a:pPr>
            <a:endParaRPr lang="en-US" b="1" dirty="0">
              <a:solidFill>
                <a:srgbClr val="000099"/>
              </a:solidFill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Number of certain digits plus first 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None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   uncertain digit</a:t>
            </a:r>
          </a:p>
          <a:p>
            <a:pPr lvl="1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sz="3000" dirty="0">
              <a:latin typeface="Tahoma" pitchFamily="1" charset="0"/>
              <a:cs typeface="Tahoma" pitchFamily="1" charset="0"/>
            </a:endParaRPr>
          </a:p>
        </p:txBody>
      </p:sp>
      <p:sp>
        <p:nvSpPr>
          <p:cNvPr id="60420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948343F2-EF62-D449-BCB7-84D8D8A11761}" type="slidenum">
              <a:rPr lang="en-US" sz="1200">
                <a:latin typeface="Verdana" pitchFamily="1" charset="0"/>
              </a:rPr>
              <a:pPr algn="r"/>
              <a:t>31</a:t>
            </a:fld>
            <a:endParaRPr lang="en-US" sz="1200">
              <a:latin typeface="Verdana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Content Placeholder 2"/>
          <p:cNvSpPr>
            <a:spLocks noGrp="1"/>
          </p:cNvSpPr>
          <p:nvPr>
            <p:ph idx="4294967295"/>
          </p:nvPr>
        </p:nvSpPr>
        <p:spPr>
          <a:xfrm>
            <a:off x="228600" y="762000"/>
            <a:ext cx="8686800" cy="5791200"/>
          </a:xfrm>
        </p:spPr>
        <p:txBody>
          <a:bodyPr/>
          <a:lstStyle/>
          <a:p>
            <a:pPr marL="514350" indent="-51435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All non-zero numbers are significant.</a:t>
            </a:r>
          </a:p>
          <a:p>
            <a:pPr lvl="1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b="1" dirty="0">
                <a:latin typeface="Tahoma" pitchFamily="1" charset="0"/>
                <a:ea typeface="Tahoma" pitchFamily="1" charset="0"/>
                <a:cs typeface="Tahoma" pitchFamily="1" charset="0"/>
              </a:rPr>
              <a:t> </a:t>
            </a:r>
            <a:r>
              <a:rPr lang="en-US" b="1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e.g.,</a:t>
            </a:r>
            <a:r>
              <a:rPr lang="en-US" b="1" dirty="0">
                <a:solidFill>
                  <a:schemeClr val="tx2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 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3.456 has </a:t>
            </a:r>
            <a:r>
              <a:rPr lang="en-US" b="1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4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 sig. figs.</a:t>
            </a:r>
          </a:p>
          <a:p>
            <a:pPr lvl="1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marL="514350" indent="-51435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 startAt="2"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Zeros between non-zero numbers </a:t>
            </a:r>
            <a:br>
              <a:rPr lang="en-US" sz="3000" dirty="0">
                <a:latin typeface="Tahoma" pitchFamily="1" charset="0"/>
                <a:cs typeface="Tahoma" pitchFamily="1" charset="0"/>
              </a:rPr>
            </a:br>
            <a:r>
              <a:rPr lang="en-US" sz="3000" dirty="0">
                <a:latin typeface="Tahoma" pitchFamily="1" charset="0"/>
                <a:cs typeface="Tahoma" pitchFamily="1" charset="0"/>
              </a:rPr>
              <a:t>are significant.</a:t>
            </a:r>
          </a:p>
          <a:p>
            <a:pPr lvl="1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200" b="1" dirty="0">
                <a:latin typeface="Tahoma" pitchFamily="1" charset="0"/>
                <a:ea typeface="Tahoma" pitchFamily="1" charset="0"/>
                <a:cs typeface="Tahoma" pitchFamily="1" charset="0"/>
              </a:rPr>
              <a:t> </a:t>
            </a:r>
            <a:r>
              <a:rPr lang="en-US" b="1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e.g., 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20,089 or 2.0089 × 10</a:t>
            </a:r>
            <a:r>
              <a:rPr lang="en-US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4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 has </a:t>
            </a:r>
            <a:r>
              <a:rPr lang="en-US" b="1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5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 sig. figs </a:t>
            </a:r>
          </a:p>
          <a:p>
            <a:pPr lvl="1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marL="514350" indent="-51435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 startAt="3"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Trailing zeros always count as significant if number has decimal point </a:t>
            </a:r>
          </a:p>
          <a:p>
            <a:pPr lvl="1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b="1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 e.g.,</a:t>
            </a:r>
            <a:r>
              <a:rPr lang="en-US" b="1" dirty="0">
                <a:solidFill>
                  <a:schemeClr val="tx2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 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500. or 5.00 × 10</a:t>
            </a:r>
            <a:r>
              <a:rPr lang="en-US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2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  has </a:t>
            </a:r>
            <a:r>
              <a:rPr lang="en-US" b="1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3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 sig. figs</a:t>
            </a:r>
          </a:p>
        </p:txBody>
      </p:sp>
      <p:sp>
        <p:nvSpPr>
          <p:cNvPr id="61443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EC11C54A-C9EF-4045-A3A7-12163AEB9990}" type="slidenum">
              <a:rPr lang="en-US" sz="1200">
                <a:latin typeface="Verdana" pitchFamily="1" charset="0"/>
              </a:rPr>
              <a:pPr algn="r"/>
              <a:t>32</a:t>
            </a:fld>
            <a:endParaRPr lang="en-US" sz="1200">
              <a:latin typeface="Verdana" pitchFamily="1" charset="0"/>
            </a:endParaRPr>
          </a:p>
        </p:txBody>
      </p:sp>
      <p:sp>
        <p:nvSpPr>
          <p:cNvPr id="61444" name="Title 4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Rules for Significant Figures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Content Placeholder 2"/>
          <p:cNvSpPr>
            <a:spLocks noGrp="1"/>
          </p:cNvSpPr>
          <p:nvPr>
            <p:ph idx="4294967295"/>
          </p:nvPr>
        </p:nvSpPr>
        <p:spPr>
          <a:xfrm>
            <a:off x="228600" y="838200"/>
            <a:ext cx="8686800" cy="5486400"/>
          </a:xfrm>
        </p:spPr>
        <p:txBody>
          <a:bodyPr/>
          <a:lstStyle/>
          <a:p>
            <a:pPr marL="514350" indent="-51435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 startAt="4"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Final zeros on number without decimal point are NOT significant</a:t>
            </a:r>
          </a:p>
          <a:p>
            <a:pPr marL="841375" lvl="1" indent="-51435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b="1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 e.g.,</a:t>
            </a:r>
            <a:r>
              <a:rPr lang="en-US" b="1" dirty="0">
                <a:solidFill>
                  <a:schemeClr val="tx2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 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104,956,000  or  1.04956 × 10</a:t>
            </a:r>
            <a:r>
              <a:rPr lang="en-US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8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 </a:t>
            </a:r>
          </a:p>
          <a:p>
            <a:pPr marL="841375" lvl="1" indent="-51435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		  has </a:t>
            </a:r>
            <a:r>
              <a:rPr lang="en-US" b="1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6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 sig. figs. </a:t>
            </a:r>
          </a:p>
          <a:p>
            <a:pPr marL="514350" indent="-51435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 startAt="4"/>
            </a:pPr>
            <a:r>
              <a:rPr lang="en-US" sz="3000" dirty="0">
                <a:latin typeface="Tahoma" pitchFamily="1" charset="0"/>
                <a:ea typeface="Times New Roman" pitchFamily="1" charset="0"/>
                <a:cs typeface="Times New Roman" pitchFamily="1" charset="0"/>
              </a:rPr>
              <a:t>Final zeros to right of decimal point are significant</a:t>
            </a:r>
          </a:p>
          <a:p>
            <a:pPr marL="841375" lvl="1" indent="-51435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b="1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 e.g</a:t>
            </a:r>
            <a:r>
              <a:rPr lang="en-US" b="1" dirty="0">
                <a:solidFill>
                  <a:srgbClr val="000099"/>
                </a:solidFill>
                <a:latin typeface="Tahoma" pitchFamily="1" charset="0"/>
                <a:ea typeface="MS PGothic" pitchFamily="34" charset="-128"/>
                <a:cs typeface="MS PGothic" pitchFamily="34" charset="-128"/>
              </a:rPr>
              <a:t>.,</a:t>
            </a:r>
            <a:r>
              <a:rPr lang="en-US" b="1" dirty="0">
                <a:solidFill>
                  <a:schemeClr val="tx2"/>
                </a:solidFill>
                <a:latin typeface="Tahoma" pitchFamily="1" charset="0"/>
                <a:ea typeface="MS PGothic" pitchFamily="34" charset="-128"/>
                <a:cs typeface="MS PGothic" pitchFamily="34" charset="-128"/>
              </a:rPr>
              <a:t> </a:t>
            </a:r>
            <a:r>
              <a:rPr lang="en-US" dirty="0">
                <a:latin typeface="Tahoma" pitchFamily="1" charset="0"/>
                <a:ea typeface="MS PGothic" pitchFamily="34" charset="-128"/>
                <a:cs typeface="MS PGothic" pitchFamily="34" charset="-128"/>
              </a:rPr>
              <a:t>3.00  has </a:t>
            </a:r>
            <a:r>
              <a:rPr lang="en-US" b="1" dirty="0">
                <a:solidFill>
                  <a:srgbClr val="000099"/>
                </a:solidFill>
                <a:latin typeface="Tahoma" pitchFamily="1" charset="0"/>
                <a:ea typeface="MS PGothic" pitchFamily="34" charset="-128"/>
                <a:cs typeface="MS PGothic" pitchFamily="34" charset="-128"/>
              </a:rPr>
              <a:t>3</a:t>
            </a:r>
            <a:r>
              <a:rPr lang="en-US" dirty="0">
                <a:latin typeface="Tahoma" pitchFamily="1" charset="0"/>
                <a:ea typeface="MS PGothic" pitchFamily="34" charset="-128"/>
                <a:cs typeface="MS PGothic" pitchFamily="34" charset="-128"/>
              </a:rPr>
              <a:t> sig. figs.</a:t>
            </a:r>
          </a:p>
          <a:p>
            <a:pPr marL="514350" indent="-514350">
              <a:spcBef>
                <a:spcPts val="900"/>
              </a:spcBef>
              <a:buClr>
                <a:schemeClr val="tx1"/>
              </a:buClr>
              <a:buFont typeface="Wingdings" pitchFamily="1" charset="2"/>
              <a:buAutoNum type="arabicPeriod" startAt="6"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Leading zeros, to left of first nonzero digit, are never counted as significant</a:t>
            </a:r>
          </a:p>
          <a:p>
            <a:pPr marL="352425" lvl="2" inden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2800" b="1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 e.g</a:t>
            </a:r>
            <a:r>
              <a:rPr lang="en-US" sz="2800" b="1" dirty="0">
                <a:solidFill>
                  <a:srgbClr val="000099"/>
                </a:solidFill>
                <a:latin typeface="Tahoma" pitchFamily="1" charset="0"/>
                <a:ea typeface="MS PGothic" pitchFamily="34" charset="-128"/>
                <a:cs typeface="MS PGothic" pitchFamily="34" charset="-128"/>
              </a:rPr>
              <a:t>.,</a:t>
            </a:r>
            <a:r>
              <a:rPr lang="en-US" sz="2800" b="1" dirty="0">
                <a:solidFill>
                  <a:schemeClr val="tx2"/>
                </a:solidFill>
                <a:latin typeface="Tahoma" pitchFamily="1" charset="0"/>
                <a:ea typeface="MS PGothic" pitchFamily="34" charset="-128"/>
                <a:cs typeface="MS PGothic" pitchFamily="34" charset="-128"/>
              </a:rPr>
              <a:t> </a:t>
            </a:r>
            <a:r>
              <a:rPr lang="en-US" sz="2800" dirty="0">
                <a:latin typeface="Tahoma" pitchFamily="1" charset="0"/>
                <a:ea typeface="MS PGothic" pitchFamily="34" charset="-128"/>
                <a:cs typeface="MS PGothic" pitchFamily="34" charset="-128"/>
              </a:rPr>
              <a:t>0.00012  o</a:t>
            </a: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r	1.2 × 10</a:t>
            </a:r>
            <a:r>
              <a:rPr lang="en-US" sz="2800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–4</a:t>
            </a: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 </a:t>
            </a:r>
            <a:r>
              <a:rPr lang="en-US" sz="2800" dirty="0">
                <a:latin typeface="Tahoma" pitchFamily="1" charset="0"/>
                <a:ea typeface="MS PGothic" pitchFamily="34" charset="-128"/>
                <a:cs typeface="MS PGothic" pitchFamily="34" charset="-128"/>
              </a:rPr>
              <a:t>has </a:t>
            </a:r>
            <a:r>
              <a:rPr lang="en-US" sz="2800" b="1" dirty="0">
                <a:solidFill>
                  <a:srgbClr val="000099"/>
                </a:solidFill>
                <a:latin typeface="Tahoma" pitchFamily="1" charset="0"/>
                <a:ea typeface="MS PGothic" pitchFamily="34" charset="-128"/>
                <a:cs typeface="MS PGothic" pitchFamily="34" charset="-128"/>
              </a:rPr>
              <a:t>2</a:t>
            </a:r>
            <a:r>
              <a:rPr lang="en-US" sz="2800" dirty="0">
                <a:latin typeface="Tahoma" pitchFamily="1" charset="0"/>
                <a:ea typeface="MS PGothic" pitchFamily="34" charset="-128"/>
                <a:cs typeface="MS PGothic" pitchFamily="34" charset="-128"/>
              </a:rPr>
              <a:t> sig. figs.</a:t>
            </a:r>
            <a:endParaRPr lang="en-US" sz="2800" dirty="0">
              <a:latin typeface="Tahoma" pitchFamily="1" charset="0"/>
              <a:ea typeface="Tahoma" pitchFamily="1" charset="0"/>
              <a:cs typeface="Tahoma" pitchFamily="1" charset="0"/>
            </a:endParaRPr>
          </a:p>
        </p:txBody>
      </p:sp>
      <p:sp>
        <p:nvSpPr>
          <p:cNvPr id="62467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6E0AC468-AD6B-3C40-88B4-D49470449F96}" type="slidenum">
              <a:rPr lang="en-US" sz="1200">
                <a:latin typeface="Verdana" pitchFamily="1" charset="0"/>
              </a:rPr>
              <a:pPr algn="r"/>
              <a:t>33</a:t>
            </a:fld>
            <a:endParaRPr lang="en-US" sz="1200">
              <a:latin typeface="Verdana" pitchFamily="1" charset="0"/>
            </a:endParaRPr>
          </a:p>
        </p:txBody>
      </p:sp>
      <p:sp>
        <p:nvSpPr>
          <p:cNvPr id="62468" name="Title 4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Rules for Significant Figures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Learning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2400" y="762000"/>
            <a:ext cx="8839200" cy="4876800"/>
          </a:xfrm>
        </p:spPr>
        <p:txBody>
          <a:bodyPr/>
          <a:lstStyle/>
          <a:p>
            <a:pPr marL="0" inden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How many significant figures does each of the following numbers have?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			Scientific Notation  # of Sig. Figs.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 	413.97 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  0.0006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 	5.120063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  161,000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 	3600.</a:t>
            </a:r>
          </a:p>
        </p:txBody>
      </p:sp>
      <p:sp>
        <p:nvSpPr>
          <p:cNvPr id="63492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0AED3408-4A67-F64F-8E21-8B55E251B866}" type="slidenum">
              <a:rPr lang="en-US" sz="1200">
                <a:latin typeface="Verdana" pitchFamily="1" charset="0"/>
              </a:rPr>
              <a:pPr algn="r"/>
              <a:t>34</a:t>
            </a:fld>
            <a:endParaRPr lang="en-US" sz="1200">
              <a:latin typeface="Verdana" pitchFamily="1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429000" y="2362200"/>
            <a:ext cx="23399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Tahoma" pitchFamily="1" charset="0"/>
              </a:rPr>
              <a:t>4.1397 × 10</a:t>
            </a:r>
            <a:r>
              <a:rPr lang="en-US" sz="2800" baseline="30000">
                <a:latin typeface="Tahoma" pitchFamily="1" charset="0"/>
              </a:rPr>
              <a:t>2 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239000" y="2371725"/>
            <a:ext cx="4127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CC0000"/>
                </a:solidFill>
                <a:latin typeface="Tahoma" pitchFamily="1" charset="0"/>
              </a:rPr>
              <a:t>5</a:t>
            </a:r>
            <a:endParaRPr lang="en-US" sz="2800" b="1" baseline="30000">
              <a:solidFill>
                <a:srgbClr val="CC0000"/>
              </a:solidFill>
              <a:latin typeface="Tahoma" pitchFamily="1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838575" y="2895600"/>
            <a:ext cx="15192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Tahoma" pitchFamily="1" charset="0"/>
              </a:rPr>
              <a:t>6 × 10</a:t>
            </a:r>
            <a:r>
              <a:rPr lang="en-US" sz="2800" baseline="30000">
                <a:latin typeface="Tahoma" pitchFamily="1" charset="0"/>
              </a:rPr>
              <a:t>–4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7239000" y="2905125"/>
            <a:ext cx="4127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CC0000"/>
                </a:solidFill>
                <a:latin typeface="Tahoma" pitchFamily="1" charset="0"/>
              </a:rPr>
              <a:t>1</a:t>
            </a:r>
            <a:endParaRPr lang="en-US" sz="2800" b="1" baseline="30000">
              <a:solidFill>
                <a:srgbClr val="CC0000"/>
              </a:solidFill>
              <a:latin typeface="Tahoma" pitchFamily="1" charset="0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767138" y="3429000"/>
            <a:ext cx="16637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Tahoma" pitchFamily="1" charset="0"/>
              </a:rPr>
              <a:t>5.120063</a:t>
            </a:r>
            <a:endParaRPr lang="en-US" sz="2800" baseline="30000">
              <a:latin typeface="Tahoma" pitchFamily="1" charset="0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7239000" y="3514725"/>
            <a:ext cx="4127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CC0000"/>
                </a:solidFill>
                <a:latin typeface="Tahoma" pitchFamily="1" charset="0"/>
              </a:rPr>
              <a:t>7</a:t>
            </a:r>
            <a:endParaRPr lang="en-US" sz="2800" b="1" baseline="30000">
              <a:solidFill>
                <a:srgbClr val="CC0000"/>
              </a:solidFill>
              <a:latin typeface="Tahoma" pitchFamily="1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654425" y="4038600"/>
            <a:ext cx="18891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Tahoma" pitchFamily="1" charset="0"/>
              </a:rPr>
              <a:t>1.61 × 10</a:t>
            </a:r>
            <a:r>
              <a:rPr lang="en-US" sz="2800" baseline="30000">
                <a:latin typeface="Tahoma" pitchFamily="1" charset="0"/>
              </a:rPr>
              <a:t>5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7239000" y="4048125"/>
            <a:ext cx="4127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CC0000"/>
                </a:solidFill>
                <a:latin typeface="Tahoma" pitchFamily="1" charset="0"/>
              </a:rPr>
              <a:t>3</a:t>
            </a:r>
            <a:endParaRPr lang="en-US" sz="2800" b="1" baseline="30000">
              <a:solidFill>
                <a:srgbClr val="CC0000"/>
              </a:solidFill>
              <a:latin typeface="Tahoma" pitchFamily="1" charset="0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751263" y="4648200"/>
            <a:ext cx="20161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Tahoma" pitchFamily="1" charset="0"/>
              </a:rPr>
              <a:t>3.600 × 10</a:t>
            </a:r>
            <a:r>
              <a:rPr lang="en-US" sz="2800" baseline="30000">
                <a:latin typeface="Tahoma" pitchFamily="1" charset="0"/>
              </a:rPr>
              <a:t>3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239000" y="4657725"/>
            <a:ext cx="4111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CC0000"/>
                </a:solidFill>
                <a:latin typeface="Tahoma" pitchFamily="1" charset="0"/>
              </a:rPr>
              <a:t>4</a:t>
            </a:r>
            <a:endParaRPr lang="en-US" sz="2800" b="1" baseline="30000">
              <a:solidFill>
                <a:srgbClr val="CC0000"/>
              </a:solidFill>
              <a:latin typeface="Tahoma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/>
          </p:cNvSpPr>
          <p:nvPr/>
        </p:nvSpPr>
        <p:spPr bwMode="auto">
          <a:xfrm>
            <a:off x="152400" y="76200"/>
            <a:ext cx="8839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4000" b="1">
                <a:latin typeface="Tahoma" pitchFamily="1" charset="0"/>
                <a:ea typeface="Tahoma" pitchFamily="1" charset="0"/>
                <a:cs typeface="Tahoma" pitchFamily="1" charset="0"/>
              </a:rPr>
              <a:t>Your Turn!</a:t>
            </a:r>
          </a:p>
        </p:txBody>
      </p:sp>
      <p:sp>
        <p:nvSpPr>
          <p:cNvPr id="3" name="Content Placeholder 2"/>
          <p:cNvSpPr>
            <a:spLocks/>
          </p:cNvSpPr>
          <p:nvPr/>
        </p:nvSpPr>
        <p:spPr bwMode="auto">
          <a:xfrm>
            <a:off x="152400" y="762000"/>
            <a:ext cx="89916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How many significant figures are in 0.0005650850?</a:t>
            </a: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sz="3000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marL="841375" lvl="1" indent="-514350"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7</a:t>
            </a:r>
          </a:p>
          <a:p>
            <a:pPr marL="841375" lvl="1" indent="-514350"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8</a:t>
            </a:r>
          </a:p>
          <a:p>
            <a:pPr marL="841375" lvl="1" indent="-514350"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9</a:t>
            </a:r>
          </a:p>
          <a:p>
            <a:pPr marL="841375" lvl="1" indent="-514350"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10</a:t>
            </a:r>
          </a:p>
          <a:p>
            <a:pPr marL="841375" lvl="1" indent="-514350"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2800" dirty="0">
                <a:latin typeface="Tahoma" pitchFamily="1" charset="0"/>
                <a:ea typeface="Tahoma" pitchFamily="1" charset="0"/>
                <a:cs typeface="Tahoma" pitchFamily="1" charset="0"/>
              </a:rPr>
              <a:t>11</a:t>
            </a:r>
          </a:p>
          <a:p>
            <a:pPr marL="841375" lvl="1" indent="-514350"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endParaRPr lang="en-US" sz="2800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Char char="§"/>
            </a:pP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 Could be rewritten as 5.650850 </a:t>
            </a:r>
            <a:r>
              <a:rPr lang="en-US" sz="3000" dirty="0" err="1">
                <a:latin typeface="Tahoma" pitchFamily="1" charset="0"/>
                <a:ea typeface="Tahoma" pitchFamily="1" charset="0"/>
                <a:cs typeface="Tahoma" pitchFamily="1" charset="0"/>
                <a:sym typeface="Symbol" pitchFamily="1" charset="2"/>
              </a:rPr>
              <a:t></a:t>
            </a: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  <a:sym typeface="Symbol" pitchFamily="1" charset="2"/>
              </a:rPr>
              <a:t> </a:t>
            </a: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10</a:t>
            </a:r>
            <a:r>
              <a:rPr lang="en-US" sz="3000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-4</a:t>
            </a:r>
          </a:p>
        </p:txBody>
      </p:sp>
      <p:sp>
        <p:nvSpPr>
          <p:cNvPr id="65540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3E41F382-2D7A-DF48-8C28-C47B35DD4022}" type="slidenum">
              <a:rPr lang="en-US" sz="1200">
                <a:latin typeface="Verdana" pitchFamily="1" charset="0"/>
              </a:rPr>
              <a:pPr algn="r"/>
              <a:t>35</a:t>
            </a:fld>
            <a:endParaRPr lang="en-US" sz="1200">
              <a:latin typeface="Verdana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Significant Figures in Calculations 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4294967295"/>
          </p:nvPr>
        </p:nvSpPr>
        <p:spPr>
          <a:xfrm>
            <a:off x="152400" y="914400"/>
            <a:ext cx="8839200" cy="5257800"/>
          </a:xfrm>
        </p:spPr>
        <p:txBody>
          <a:bodyPr/>
          <a:lstStyle/>
          <a:p>
            <a:pPr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Multiplication and Division</a:t>
            </a:r>
            <a:endParaRPr lang="en-US" sz="3000" dirty="0">
              <a:solidFill>
                <a:srgbClr val="000099"/>
              </a:solidFill>
              <a:latin typeface="Tahoma" pitchFamily="1" charset="0"/>
              <a:cs typeface="Tahoma" pitchFamily="1" charset="0"/>
            </a:endParaRPr>
          </a:p>
          <a:p>
            <a:pPr>
              <a:spcBef>
                <a:spcPts val="12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Number of significant figures in answer = number of significant figures in </a:t>
            </a:r>
            <a:r>
              <a:rPr lang="en-US" sz="3000" b="1" dirty="0">
                <a:latin typeface="Tahoma" pitchFamily="1" charset="0"/>
                <a:cs typeface="Tahoma" pitchFamily="1" charset="0"/>
              </a:rPr>
              <a:t>least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 </a:t>
            </a:r>
            <a:r>
              <a:rPr lang="en-US" sz="3000" b="1" dirty="0">
                <a:latin typeface="Tahoma" pitchFamily="1" charset="0"/>
                <a:cs typeface="Tahoma" pitchFamily="1" charset="0"/>
              </a:rPr>
              <a:t>precise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 measurement</a:t>
            </a:r>
          </a:p>
          <a:p>
            <a:pPr>
              <a:spcBef>
                <a:spcPts val="12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e.g.,</a:t>
            </a:r>
            <a:r>
              <a:rPr lang="en-US" sz="3000" b="1" dirty="0">
                <a:solidFill>
                  <a:schemeClr val="tx2"/>
                </a:solidFill>
                <a:latin typeface="Tahoma" pitchFamily="1" charset="0"/>
                <a:cs typeface="Tahoma" pitchFamily="1" charset="0"/>
              </a:rPr>
              <a:t> 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10.54 × 31.4 × 16.987</a:t>
            </a:r>
          </a:p>
          <a:p>
            <a:pPr>
              <a:spcBef>
                <a:spcPts val="12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2800" dirty="0">
                <a:solidFill>
                  <a:srgbClr val="C00000"/>
                </a:solidFill>
                <a:latin typeface="Tahoma" pitchFamily="1" charset="0"/>
                <a:cs typeface="Tahoma" pitchFamily="1" charset="0"/>
              </a:rPr>
              <a:t> </a:t>
            </a:r>
            <a:r>
              <a:rPr lang="en-US" sz="2800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4 sig. figs. × 3 sig. figs. × 5 sig. figs. </a:t>
            </a:r>
            <a:r>
              <a:rPr lang="en-US" sz="2800" dirty="0">
                <a:solidFill>
                  <a:srgbClr val="000099"/>
                </a:solidFill>
                <a:latin typeface="Tahoma" pitchFamily="1" charset="0"/>
                <a:cs typeface="Tahoma" pitchFamily="1" charset="0"/>
                <a:sym typeface="Symbol" pitchFamily="1" charset="2"/>
              </a:rPr>
              <a:t>= 3 sig. figs.</a:t>
            </a:r>
          </a:p>
          <a:p>
            <a:pPr>
              <a:spcBef>
                <a:spcPts val="12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sz="2800" dirty="0">
              <a:solidFill>
                <a:srgbClr val="000099"/>
              </a:solidFill>
              <a:latin typeface="Tahoma" pitchFamily="1" charset="0"/>
              <a:cs typeface="Tahoma" pitchFamily="1" charset="0"/>
            </a:endParaRPr>
          </a:p>
          <a:p>
            <a:pPr>
              <a:spcBef>
                <a:spcPts val="12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e.g.,</a:t>
            </a:r>
            <a:r>
              <a:rPr lang="en-US" sz="3000" b="1" dirty="0">
                <a:solidFill>
                  <a:schemeClr val="tx2"/>
                </a:solidFill>
                <a:latin typeface="Tahoma" pitchFamily="1" charset="0"/>
                <a:cs typeface="Tahoma" pitchFamily="1" charset="0"/>
              </a:rPr>
              <a:t> 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5.896 ÷ 0.008</a:t>
            </a:r>
          </a:p>
          <a:p>
            <a:pPr marL="673100" lvl="1" indent="-346075">
              <a:spcBef>
                <a:spcPts val="12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4 sig. figs. ÷ 1 sig. fig. = 1 sig. fig.</a:t>
            </a:r>
            <a:r>
              <a:rPr lang="en-US" dirty="0">
                <a:solidFill>
                  <a:srgbClr val="C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 </a:t>
            </a:r>
          </a:p>
        </p:txBody>
      </p:sp>
      <p:sp>
        <p:nvSpPr>
          <p:cNvPr id="71684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FC53F20B-EF9E-604E-98BA-B158D543B928}" type="slidenum">
              <a:rPr lang="en-US" sz="1200">
                <a:solidFill>
                  <a:srgbClr val="000000"/>
                </a:solidFill>
                <a:latin typeface="Verdana" pitchFamily="1" charset="0"/>
              </a:rPr>
              <a:pPr algn="r"/>
              <a:t>36</a:t>
            </a:fld>
            <a:endParaRPr lang="en-US" sz="1200">
              <a:solidFill>
                <a:srgbClr val="000000"/>
              </a:solidFill>
              <a:latin typeface="Verdana" pitchFamily="1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105400" y="3048000"/>
            <a:ext cx="3954463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000" b="1">
                <a:solidFill>
                  <a:srgbClr val="C00000"/>
                </a:solidFill>
                <a:latin typeface="Tahoma" pitchFamily="1" charset="0"/>
              </a:rPr>
              <a:t>= 5620 = 5.62×10</a:t>
            </a:r>
            <a:r>
              <a:rPr lang="en-US" sz="3000" b="1" baseline="30000">
                <a:solidFill>
                  <a:srgbClr val="C00000"/>
                </a:solidFill>
                <a:latin typeface="Tahoma" pitchFamily="1" charset="0"/>
              </a:rPr>
              <a:t>3</a:t>
            </a:r>
            <a:endParaRPr lang="en-US" sz="3000" b="1">
              <a:solidFill>
                <a:srgbClr val="C00000"/>
              </a:solidFill>
              <a:latin typeface="Tahoma" pitchFamily="1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581400" y="4833938"/>
            <a:ext cx="3211513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000" b="1">
                <a:solidFill>
                  <a:srgbClr val="C00000"/>
                </a:solidFill>
                <a:latin typeface="Tahoma" pitchFamily="1" charset="0"/>
              </a:rPr>
              <a:t>= 700 = 7×10</a:t>
            </a:r>
            <a:r>
              <a:rPr lang="en-US" sz="3000" b="1" baseline="30000">
                <a:solidFill>
                  <a:srgbClr val="C00000"/>
                </a:solidFill>
                <a:latin typeface="Tahoma" pitchFamily="1" charset="0"/>
              </a:rPr>
              <a:t>2</a:t>
            </a:r>
            <a:r>
              <a:rPr lang="en-US" sz="3000" b="1">
                <a:solidFill>
                  <a:srgbClr val="C00000"/>
                </a:solidFill>
                <a:latin typeface="Tahoma" pitchFamily="1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5481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Your Turn!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2400" y="762000"/>
            <a:ext cx="8991600" cy="4572000"/>
          </a:xfrm>
        </p:spPr>
        <p:txBody>
          <a:bodyPr/>
          <a:lstStyle/>
          <a:p>
            <a:pPr marL="0" inden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Give the value of the following calculation to the correct number of significant figures.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sz="3000" dirty="0">
              <a:latin typeface="Tahoma" pitchFamily="1" charset="0"/>
              <a:cs typeface="Tahoma" pitchFamily="1" charset="0"/>
            </a:endParaRP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sz="3000" dirty="0">
              <a:latin typeface="Tahoma" pitchFamily="1" charset="0"/>
              <a:cs typeface="Tahoma" pitchFamily="1" charset="0"/>
            </a:endParaRP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sz="3000" dirty="0">
              <a:latin typeface="Tahoma" pitchFamily="1" charset="0"/>
              <a:cs typeface="Tahoma" pitchFamily="1" charset="0"/>
            </a:endParaRP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 1.21213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 1.212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 1.212132774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AutoNum type="alphaUcPeriod" startAt="4"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 1.2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 startAt="4"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 1</a:t>
            </a:r>
          </a:p>
        </p:txBody>
      </p:sp>
      <p:sp>
        <p:nvSpPr>
          <p:cNvPr id="72708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13AE7657-AA6C-FA4F-90BC-2FE323DBA02A}" type="slidenum">
              <a:rPr lang="en-US" sz="1200">
                <a:solidFill>
                  <a:srgbClr val="000000"/>
                </a:solidFill>
                <a:latin typeface="Verdana" pitchFamily="1" charset="0"/>
              </a:rPr>
              <a:pPr algn="r"/>
              <a:t>37</a:t>
            </a:fld>
            <a:endParaRPr lang="en-US" sz="1200">
              <a:solidFill>
                <a:srgbClr val="000000"/>
              </a:solidFill>
              <a:latin typeface="Verdana" pitchFamily="1" charset="0"/>
            </a:endParaRPr>
          </a:p>
        </p:txBody>
      </p:sp>
      <p:graphicFrame>
        <p:nvGraphicFramePr>
          <p:cNvPr id="72709" name="Object 2"/>
          <p:cNvGraphicFramePr>
            <a:graphicFrameLocks noChangeAspect="1"/>
          </p:cNvGraphicFramePr>
          <p:nvPr/>
        </p:nvGraphicFramePr>
        <p:xfrm>
          <a:off x="2971800" y="1981200"/>
          <a:ext cx="3114675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3" imgW="1193800" imgH="457200" progId="Equation.3">
                  <p:embed/>
                </p:oleObj>
              </mc:Choice>
              <mc:Fallback>
                <p:oleObj name="Equation" r:id="rId3" imgW="1193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981200"/>
                        <a:ext cx="3114675" cy="11922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9409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Significant Figures in Calculations </a:t>
            </a:r>
          </a:p>
        </p:txBody>
      </p:sp>
      <p:sp>
        <p:nvSpPr>
          <p:cNvPr id="59395" name="Content Placeholder 2"/>
          <p:cNvSpPr>
            <a:spLocks noGrp="1"/>
          </p:cNvSpPr>
          <p:nvPr>
            <p:ph idx="4294967295"/>
          </p:nvPr>
        </p:nvSpPr>
        <p:spPr>
          <a:xfrm>
            <a:off x="152400" y="914400"/>
            <a:ext cx="8839200" cy="5638800"/>
          </a:xfrm>
        </p:spPr>
        <p:txBody>
          <a:bodyPr/>
          <a:lstStyle/>
          <a:p>
            <a:pPr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Addition and Subtraction</a:t>
            </a:r>
          </a:p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Answer has same number of decimal places as quantity with </a:t>
            </a:r>
            <a:r>
              <a:rPr lang="en-US" sz="3000" b="1" dirty="0">
                <a:latin typeface="Tahoma" pitchFamily="1" charset="0"/>
                <a:cs typeface="Tahoma" pitchFamily="1" charset="0"/>
              </a:rPr>
              <a:t>fewest number 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of decimal places.</a:t>
            </a:r>
          </a:p>
          <a:p>
            <a:pPr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e.g.,</a:t>
            </a:r>
            <a:r>
              <a:rPr lang="en-US" sz="3000" b="1" dirty="0">
                <a:solidFill>
                  <a:schemeClr val="tx2"/>
                </a:solidFill>
                <a:latin typeface="Tahoma" pitchFamily="1" charset="0"/>
                <a:cs typeface="Tahoma" pitchFamily="1" charset="0"/>
              </a:rPr>
              <a:t> </a:t>
            </a:r>
          </a:p>
          <a:p>
            <a:pPr lvl="2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sz="2600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lvl="2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sz="2600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lvl="2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sz="2600" b="1" dirty="0">
              <a:solidFill>
                <a:schemeClr val="tx2"/>
              </a:solidFill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e.g.,</a:t>
            </a:r>
            <a:r>
              <a:rPr lang="en-US" sz="3000" b="1" dirty="0">
                <a:solidFill>
                  <a:schemeClr val="tx2"/>
                </a:solidFill>
                <a:latin typeface="Tahoma" pitchFamily="1" charset="0"/>
                <a:cs typeface="Tahoma" pitchFamily="1" charset="0"/>
              </a:rPr>
              <a:t> </a:t>
            </a:r>
          </a:p>
        </p:txBody>
      </p:sp>
      <p:sp>
        <p:nvSpPr>
          <p:cNvPr id="73732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4CC1B797-E8B9-A94A-A632-4CD067F9FEDF}" type="slidenum">
              <a:rPr lang="en-US" sz="1200">
                <a:solidFill>
                  <a:srgbClr val="000000"/>
                </a:solidFill>
                <a:latin typeface="Verdana" pitchFamily="1" charset="0"/>
              </a:rPr>
              <a:pPr algn="r"/>
              <a:t>38</a:t>
            </a:fld>
            <a:endParaRPr lang="en-US" sz="1200">
              <a:solidFill>
                <a:srgbClr val="000000"/>
              </a:solidFill>
              <a:latin typeface="Verdana" pitchFamily="1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19200" y="3033713"/>
            <a:ext cx="1693893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dirty="0">
                <a:solidFill>
                  <a:srgbClr val="000000"/>
                </a:solidFill>
                <a:latin typeface="Tahoma"/>
                <a:cs typeface="+mn-cs"/>
              </a:rPr>
              <a:t>  12.9753</a:t>
            </a:r>
          </a:p>
          <a:p>
            <a:pPr>
              <a:defRPr/>
            </a:pPr>
            <a:r>
              <a:rPr lang="en-US" sz="2800" dirty="0">
                <a:solidFill>
                  <a:srgbClr val="000000"/>
                </a:solidFill>
                <a:latin typeface="Tahoma"/>
                <a:cs typeface="+mn-cs"/>
              </a:rPr>
              <a:t> 319.5</a:t>
            </a:r>
          </a:p>
          <a:p>
            <a:pPr>
              <a:defRPr/>
            </a:pPr>
            <a:r>
              <a:rPr lang="en-US" sz="2800" u="sng" dirty="0">
                <a:solidFill>
                  <a:srgbClr val="000000"/>
                </a:solidFill>
                <a:latin typeface="Tahoma"/>
                <a:cs typeface="+mn-cs"/>
              </a:rPr>
              <a:t>+  4.398</a:t>
            </a:r>
          </a:p>
          <a:p>
            <a:pPr>
              <a:defRPr/>
            </a:pPr>
            <a:r>
              <a:rPr lang="en-US" sz="2800" dirty="0">
                <a:solidFill>
                  <a:srgbClr val="000000"/>
                </a:solidFill>
                <a:latin typeface="Tahoma"/>
                <a:cs typeface="+mn-cs"/>
              </a:rPr>
              <a:t> 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657600" y="3021013"/>
            <a:ext cx="2873375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00099"/>
                </a:solidFill>
                <a:latin typeface="Tahoma" pitchFamily="1" charset="0"/>
              </a:rPr>
              <a:t>4 decimal places</a:t>
            </a:r>
          </a:p>
          <a:p>
            <a:r>
              <a:rPr lang="en-US" sz="2800">
                <a:solidFill>
                  <a:srgbClr val="000099"/>
                </a:solidFill>
                <a:latin typeface="Tahoma" pitchFamily="1" charset="0"/>
              </a:rPr>
              <a:t>1 decimal place</a:t>
            </a:r>
          </a:p>
          <a:p>
            <a:r>
              <a:rPr lang="en-US" sz="2800" u="sng">
                <a:solidFill>
                  <a:srgbClr val="000099"/>
                </a:solidFill>
                <a:latin typeface="Tahoma" pitchFamily="1" charset="0"/>
              </a:rPr>
              <a:t>3 </a:t>
            </a:r>
            <a:r>
              <a:rPr lang="en-US" sz="2800" u="sng">
                <a:solidFill>
                  <a:srgbClr val="000099"/>
                </a:solidFill>
              </a:rPr>
              <a:t>decimal places</a:t>
            </a:r>
            <a:endParaRPr lang="en-US" sz="2800" u="sng">
              <a:solidFill>
                <a:srgbClr val="000099"/>
              </a:solidFill>
              <a:latin typeface="Tahoma" pitchFamily="1" charset="0"/>
            </a:endParaRPr>
          </a:p>
          <a:p>
            <a:r>
              <a:rPr lang="en-US" sz="2800">
                <a:solidFill>
                  <a:srgbClr val="000099"/>
                </a:solidFill>
                <a:latin typeface="Tahoma" pitchFamily="1" charset="0"/>
              </a:rPr>
              <a:t>1 decimal place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143000" y="5091113"/>
            <a:ext cx="16975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Tahoma" pitchFamily="1" charset="0"/>
              </a:rPr>
              <a:t>   397</a:t>
            </a:r>
          </a:p>
          <a:p>
            <a:r>
              <a:rPr lang="en-US" sz="2800" u="sng" dirty="0">
                <a:solidFill>
                  <a:srgbClr val="000000"/>
                </a:solidFill>
                <a:ea typeface="Arial" pitchFamily="1" charset="0"/>
                <a:cs typeface="Arial" pitchFamily="1" charset="0"/>
              </a:rPr>
              <a:t>–</a:t>
            </a:r>
            <a:r>
              <a:rPr lang="en-US" sz="2800" u="sng" dirty="0">
                <a:solidFill>
                  <a:srgbClr val="000000"/>
                </a:solidFill>
                <a:latin typeface="Tahoma" pitchFamily="1" charset="0"/>
              </a:rPr>
              <a:t>  273.15</a:t>
            </a:r>
          </a:p>
          <a:p>
            <a:r>
              <a:rPr lang="en-US" sz="2800" dirty="0">
                <a:solidFill>
                  <a:srgbClr val="000000"/>
                </a:solidFill>
                <a:latin typeface="Tahoma" pitchFamily="1" charset="0"/>
              </a:rPr>
              <a:t>   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581400" y="5078413"/>
            <a:ext cx="2873375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00099"/>
                </a:solidFill>
                <a:latin typeface="Tahoma" pitchFamily="1" charset="0"/>
              </a:rPr>
              <a:t>0 decimal places</a:t>
            </a:r>
          </a:p>
          <a:p>
            <a:r>
              <a:rPr lang="en-US" sz="2800" u="sng">
                <a:solidFill>
                  <a:srgbClr val="000099"/>
                </a:solidFill>
                <a:latin typeface="Tahoma" pitchFamily="1" charset="0"/>
              </a:rPr>
              <a:t>2 </a:t>
            </a:r>
            <a:r>
              <a:rPr lang="en-US" sz="2800" u="sng">
                <a:solidFill>
                  <a:srgbClr val="000099"/>
                </a:solidFill>
              </a:rPr>
              <a:t>decimal places</a:t>
            </a:r>
            <a:endParaRPr lang="en-US" sz="2800" u="sng">
              <a:solidFill>
                <a:srgbClr val="000099"/>
              </a:solidFill>
              <a:latin typeface="Tahoma" pitchFamily="1" charset="0"/>
            </a:endParaRPr>
          </a:p>
          <a:p>
            <a:r>
              <a:rPr lang="en-US" sz="2800">
                <a:solidFill>
                  <a:srgbClr val="000099"/>
                </a:solidFill>
                <a:latin typeface="Tahoma" pitchFamily="1" charset="0"/>
              </a:rPr>
              <a:t>0 decimal place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5400" y="4343400"/>
            <a:ext cx="1214438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srgbClr val="C00000"/>
                </a:solidFill>
                <a:latin typeface="Tahoma"/>
                <a:cs typeface="+mn-cs"/>
              </a:rPr>
              <a:t>336.9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5943600"/>
            <a:ext cx="873125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srgbClr val="C00000"/>
                </a:solidFill>
                <a:latin typeface="Tahoma"/>
                <a:cs typeface="+mn-cs"/>
              </a:rPr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240311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Learning Check</a:t>
            </a:r>
          </a:p>
        </p:txBody>
      </p:sp>
      <p:sp>
        <p:nvSpPr>
          <p:cNvPr id="74755" name="Content Placeholder 2"/>
          <p:cNvSpPr>
            <a:spLocks noGrp="1"/>
          </p:cNvSpPr>
          <p:nvPr>
            <p:ph idx="4294967295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marL="0" inden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For each calculation, give the answer to the correct number of significant figures.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 </a:t>
            </a:r>
            <a:r>
              <a:rPr lang="nn-NO" sz="3000" dirty="0">
                <a:latin typeface="Tahoma" pitchFamily="1" charset="0"/>
                <a:cs typeface="Tahoma" pitchFamily="1" charset="0"/>
              </a:rPr>
              <a:t>10.0 g + 1.03 g + 0.243 g =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/>
            </a:pPr>
            <a:endParaRPr lang="nn-NO" sz="3000" dirty="0">
              <a:latin typeface="Tahoma" pitchFamily="1" charset="0"/>
              <a:cs typeface="Tahoma" pitchFamily="1" charset="0"/>
            </a:endParaRP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nn-NO" sz="3000" dirty="0">
                <a:latin typeface="Tahoma" pitchFamily="1" charset="0"/>
                <a:cs typeface="Tahoma" pitchFamily="1" charset="0"/>
              </a:rPr>
              <a:t>  19.556 °C – 19.552 °C =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/>
            </a:pPr>
            <a:endParaRPr lang="nn-NO" sz="3000" dirty="0">
              <a:latin typeface="Tahoma" pitchFamily="1" charset="0"/>
              <a:cs typeface="Tahoma" pitchFamily="1" charset="0"/>
            </a:endParaRP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nn-NO" sz="3000" dirty="0">
                <a:latin typeface="Tahoma" pitchFamily="1" charset="0"/>
                <a:cs typeface="Tahoma" pitchFamily="1" charset="0"/>
              </a:rPr>
              <a:t>  327.5 m × 4.52 m = 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/>
            </a:pPr>
            <a:endParaRPr lang="nn-NO" sz="3000" dirty="0">
              <a:latin typeface="Tahoma" pitchFamily="1" charset="0"/>
              <a:cs typeface="Tahoma" pitchFamily="1" charset="0"/>
            </a:endParaRP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nn-NO" sz="3000" dirty="0">
                <a:latin typeface="Tahoma" pitchFamily="1" charset="0"/>
                <a:cs typeface="Tahoma" pitchFamily="1" charset="0"/>
              </a:rPr>
              <a:t>  15.985 g ÷ 24.12 </a:t>
            </a:r>
            <a:r>
              <a:rPr lang="nn-NO" sz="3000" dirty="0" err="1">
                <a:latin typeface="Tahoma" pitchFamily="1" charset="0"/>
                <a:cs typeface="Tahoma" pitchFamily="1" charset="0"/>
              </a:rPr>
              <a:t>mL</a:t>
            </a:r>
            <a:r>
              <a:rPr lang="nn-NO" sz="3000" dirty="0">
                <a:latin typeface="Tahoma" pitchFamily="1" charset="0"/>
                <a:cs typeface="Tahoma" pitchFamily="1" charset="0"/>
              </a:rPr>
              <a:t> = </a:t>
            </a:r>
            <a:endParaRPr lang="en-US" sz="3000" dirty="0">
              <a:latin typeface="Tahoma" pitchFamily="1" charset="0"/>
              <a:cs typeface="Tahoma" pitchFamily="1" charset="0"/>
            </a:endParaRPr>
          </a:p>
        </p:txBody>
      </p:sp>
      <p:sp>
        <p:nvSpPr>
          <p:cNvPr id="74756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E5F753FA-7A1B-5946-8001-F3CDDE5BF808}" type="slidenum">
              <a:rPr lang="en-US" sz="1200">
                <a:solidFill>
                  <a:srgbClr val="000000"/>
                </a:solidFill>
                <a:latin typeface="Verdana" pitchFamily="1" charset="0"/>
              </a:rPr>
              <a:pPr algn="r"/>
              <a:t>39</a:t>
            </a:fld>
            <a:endParaRPr lang="en-US" sz="1200">
              <a:solidFill>
                <a:srgbClr val="000000"/>
              </a:solidFill>
              <a:latin typeface="Verdana" pitchFamily="1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791200" y="1854200"/>
            <a:ext cx="258762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000" b="1">
                <a:solidFill>
                  <a:srgbClr val="C00000"/>
                </a:solidFill>
                <a:latin typeface="Tahoma" pitchFamily="1" charset="0"/>
              </a:rPr>
              <a:t>11.3 g</a:t>
            </a:r>
            <a:r>
              <a:rPr lang="en-US" sz="3000">
                <a:solidFill>
                  <a:srgbClr val="C00000"/>
                </a:solidFill>
                <a:latin typeface="Tahoma" pitchFamily="1" charset="0"/>
              </a:rPr>
              <a:t> </a:t>
            </a:r>
            <a:r>
              <a:rPr lang="en-US" sz="3000">
                <a:solidFill>
                  <a:srgbClr val="000000"/>
                </a:solidFill>
                <a:latin typeface="Tahoma" pitchFamily="1" charset="0"/>
              </a:rPr>
              <a:t>or</a:t>
            </a:r>
            <a:r>
              <a:rPr lang="en-US" sz="3000">
                <a:solidFill>
                  <a:srgbClr val="C00000"/>
                </a:solidFill>
                <a:latin typeface="Tahoma" pitchFamily="1" charset="0"/>
              </a:rPr>
              <a:t> </a:t>
            </a:r>
          </a:p>
          <a:p>
            <a:r>
              <a:rPr lang="en-US" sz="3000" b="1">
                <a:solidFill>
                  <a:srgbClr val="C00000"/>
                </a:solidFill>
                <a:latin typeface="Tahoma" pitchFamily="1" charset="0"/>
              </a:rPr>
              <a:t>1.13 × 10</a:t>
            </a:r>
            <a:r>
              <a:rPr lang="en-US" sz="3000" b="1" baseline="30000">
                <a:solidFill>
                  <a:srgbClr val="C00000"/>
                </a:solidFill>
                <a:latin typeface="Tahoma" pitchFamily="1" charset="0"/>
              </a:rPr>
              <a:t>1</a:t>
            </a:r>
            <a:r>
              <a:rPr lang="en-US" sz="3000" b="1">
                <a:solidFill>
                  <a:srgbClr val="C00000"/>
                </a:solidFill>
                <a:latin typeface="Tahoma" pitchFamily="1" charset="0"/>
              </a:rPr>
              <a:t> g 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486400" y="3022600"/>
            <a:ext cx="2303463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000" b="1">
                <a:solidFill>
                  <a:srgbClr val="C00000"/>
                </a:solidFill>
                <a:latin typeface="Tahoma" pitchFamily="1" charset="0"/>
              </a:rPr>
              <a:t>0.004 °C</a:t>
            </a:r>
            <a:r>
              <a:rPr lang="en-US" sz="3000" b="1">
                <a:solidFill>
                  <a:srgbClr val="000000"/>
                </a:solidFill>
                <a:latin typeface="Tahoma" pitchFamily="1" charset="0"/>
              </a:rPr>
              <a:t> </a:t>
            </a:r>
            <a:r>
              <a:rPr lang="en-US" sz="3000">
                <a:solidFill>
                  <a:srgbClr val="000000"/>
                </a:solidFill>
                <a:latin typeface="Tahoma" pitchFamily="1" charset="0"/>
              </a:rPr>
              <a:t>or</a:t>
            </a:r>
            <a:r>
              <a:rPr lang="en-US" sz="3000">
                <a:solidFill>
                  <a:srgbClr val="C00000"/>
                </a:solidFill>
                <a:latin typeface="Tahoma" pitchFamily="1" charset="0"/>
              </a:rPr>
              <a:t> </a:t>
            </a:r>
            <a:br>
              <a:rPr lang="en-US" sz="3000">
                <a:solidFill>
                  <a:srgbClr val="C00000"/>
                </a:solidFill>
                <a:latin typeface="Tahoma" pitchFamily="1" charset="0"/>
              </a:rPr>
            </a:br>
            <a:r>
              <a:rPr lang="en-US" sz="3000" b="1">
                <a:solidFill>
                  <a:srgbClr val="C00000"/>
                </a:solidFill>
                <a:latin typeface="Tahoma" pitchFamily="1" charset="0"/>
              </a:rPr>
              <a:t>4 × 10</a:t>
            </a:r>
            <a:r>
              <a:rPr lang="en-US" sz="3000" b="1" baseline="30000">
                <a:solidFill>
                  <a:srgbClr val="C00000"/>
                </a:solidFill>
                <a:latin typeface="Tahoma" pitchFamily="1" charset="0"/>
              </a:rPr>
              <a:t>–3 </a:t>
            </a:r>
            <a:r>
              <a:rPr lang="en-US" sz="3000" b="1">
                <a:solidFill>
                  <a:srgbClr val="C00000"/>
                </a:solidFill>
                <a:latin typeface="Tahoma" pitchFamily="1" charset="0"/>
              </a:rPr>
              <a:t>°C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419600" y="4140200"/>
            <a:ext cx="2713038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000" b="1">
                <a:solidFill>
                  <a:srgbClr val="C00000"/>
                </a:solidFill>
                <a:latin typeface="Tahoma" pitchFamily="1" charset="0"/>
              </a:rPr>
              <a:t>1.48 × 10</a:t>
            </a:r>
            <a:r>
              <a:rPr lang="en-US" sz="3000" b="1" baseline="30000">
                <a:solidFill>
                  <a:srgbClr val="C00000"/>
                </a:solidFill>
                <a:latin typeface="Tahoma" pitchFamily="1" charset="0"/>
              </a:rPr>
              <a:t>3</a:t>
            </a:r>
            <a:r>
              <a:rPr lang="en-US" sz="3000" b="1">
                <a:solidFill>
                  <a:srgbClr val="C00000"/>
                </a:solidFill>
                <a:latin typeface="Tahoma" pitchFamily="1" charset="0"/>
              </a:rPr>
              <a:t> m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876800" y="5283200"/>
            <a:ext cx="367347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000" b="1">
                <a:solidFill>
                  <a:srgbClr val="C00000"/>
                </a:solidFill>
                <a:latin typeface="Tahoma" pitchFamily="1" charset="0"/>
              </a:rPr>
              <a:t>0.6627 g/mL </a:t>
            </a:r>
            <a:r>
              <a:rPr lang="en-US" sz="3000">
                <a:solidFill>
                  <a:srgbClr val="000000"/>
                </a:solidFill>
                <a:latin typeface="Tahoma" pitchFamily="1" charset="0"/>
              </a:rPr>
              <a:t>or</a:t>
            </a:r>
            <a:r>
              <a:rPr lang="en-US" sz="3000">
                <a:solidFill>
                  <a:srgbClr val="C00000"/>
                </a:solidFill>
                <a:latin typeface="Tahoma" pitchFamily="1" charset="0"/>
              </a:rPr>
              <a:t> </a:t>
            </a:r>
            <a:endParaRPr lang="en-US" sz="3000" b="1">
              <a:solidFill>
                <a:srgbClr val="C00000"/>
              </a:solidFill>
              <a:latin typeface="Tahoma" pitchFamily="1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Tahoma" pitchFamily="1" charset="0"/>
              </a:rPr>
              <a:t>6.627 × 10</a:t>
            </a:r>
            <a:r>
              <a:rPr lang="en-US" sz="3000" b="1" baseline="30000">
                <a:solidFill>
                  <a:srgbClr val="C00000"/>
                </a:solidFill>
                <a:latin typeface="Tahoma" pitchFamily="1" charset="0"/>
              </a:rPr>
              <a:t>–1</a:t>
            </a:r>
            <a:r>
              <a:rPr lang="en-US" sz="3000" b="1">
                <a:solidFill>
                  <a:srgbClr val="C00000"/>
                </a:solidFill>
                <a:latin typeface="Tahoma" pitchFamily="1" charset="0"/>
              </a:rPr>
              <a:t> </a:t>
            </a:r>
            <a:r>
              <a:rPr lang="en-US" sz="3000" b="1">
                <a:solidFill>
                  <a:srgbClr val="C00000"/>
                </a:solidFill>
              </a:rPr>
              <a:t>g/mL</a:t>
            </a:r>
            <a:endParaRPr lang="en-US" sz="3000" b="1">
              <a:solidFill>
                <a:srgbClr val="C00000"/>
              </a:solidFill>
              <a:latin typeface="Tahoma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145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Your Turn!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2400" y="762000"/>
            <a:ext cx="8991600" cy="4572000"/>
          </a:xfrm>
        </p:spPr>
        <p:txBody>
          <a:bodyPr/>
          <a:lstStyle/>
          <a:p>
            <a:pPr marL="0" inden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>
                <a:latin typeface="Tahoma" pitchFamily="1" charset="0"/>
                <a:cs typeface="Tahoma" pitchFamily="1" charset="0"/>
              </a:rPr>
              <a:t>When the expression,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>
                <a:latin typeface="Tahoma" pitchFamily="1" charset="0"/>
                <a:cs typeface="Tahoma" pitchFamily="1" charset="0"/>
              </a:rPr>
              <a:t>412.272 + 0.00031 – 1.00797 + 0.000024 + 12.8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>
                <a:latin typeface="Tahoma" pitchFamily="1" charset="0"/>
                <a:cs typeface="Tahoma" pitchFamily="1" charset="0"/>
              </a:rPr>
              <a:t>is evaluated, the result should be expressed as: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sz="3000">
              <a:latin typeface="Tahoma" pitchFamily="1" charset="0"/>
              <a:cs typeface="Tahoma" pitchFamily="1" charset="0"/>
            </a:endParaRP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3000">
                <a:latin typeface="Tahoma" pitchFamily="1" charset="0"/>
                <a:cs typeface="Tahoma" pitchFamily="1" charset="0"/>
              </a:rPr>
              <a:t> 424.06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3000">
                <a:latin typeface="Tahoma" pitchFamily="1" charset="0"/>
                <a:cs typeface="Tahoma" pitchFamily="1" charset="0"/>
              </a:rPr>
              <a:t> 424.064364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3000">
                <a:latin typeface="Tahoma" pitchFamily="1" charset="0"/>
                <a:cs typeface="Tahoma" pitchFamily="1" charset="0"/>
              </a:rPr>
              <a:t> 424.1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3000">
                <a:latin typeface="Tahoma" pitchFamily="1" charset="0"/>
                <a:cs typeface="Tahoma" pitchFamily="1" charset="0"/>
              </a:rPr>
              <a:t> 424.064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3000">
                <a:latin typeface="Tahoma" pitchFamily="1" charset="0"/>
                <a:cs typeface="Tahoma" pitchFamily="1" charset="0"/>
              </a:rPr>
              <a:t> 424</a:t>
            </a:r>
          </a:p>
        </p:txBody>
      </p:sp>
      <p:sp>
        <p:nvSpPr>
          <p:cNvPr id="75780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2FB14C8C-4BE6-C748-8EA8-FF5621B5F4B0}" type="slidenum">
              <a:rPr lang="en-US" sz="1200">
                <a:solidFill>
                  <a:srgbClr val="000000"/>
                </a:solidFill>
                <a:latin typeface="Verdana" pitchFamily="1" charset="0"/>
              </a:rPr>
              <a:pPr algn="r"/>
              <a:t>40</a:t>
            </a:fld>
            <a:endParaRPr lang="en-US" sz="1200">
              <a:solidFill>
                <a:srgbClr val="000000"/>
              </a:solidFill>
              <a:latin typeface="Verdana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5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60DB8D6-B99A-46C1-8AFB-7B584578EBA6}" type="slidenum">
              <a:rPr lang="en-US" altLang="en-US" sz="14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41</a:t>
            </a:fld>
            <a:endParaRPr lang="en-US" altLang="en-US" sz="1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3795" name="Text Box 2"/>
          <p:cNvSpPr txBox="1">
            <a:spLocks noChangeArrowheads="1"/>
          </p:cNvSpPr>
          <p:nvPr/>
        </p:nvSpPr>
        <p:spPr bwMode="auto">
          <a:xfrm>
            <a:off x="2860675" y="106363"/>
            <a:ext cx="34337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sz="3200">
                <a:solidFill>
                  <a:srgbClr val="000000"/>
                </a:solidFill>
                <a:cs typeface="+mn-cs"/>
              </a:rPr>
              <a:t>Scientific Notation</a:t>
            </a: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304800" y="762000"/>
            <a:ext cx="1287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00"/>
                </a:solidFill>
                <a:cs typeface="+mn-cs"/>
              </a:rPr>
              <a:t>568.762</a:t>
            </a: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1568450" y="1727200"/>
            <a:ext cx="86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i="1">
                <a:solidFill>
                  <a:srgbClr val="FF0000"/>
                </a:solidFill>
                <a:cs typeface="+mn-cs"/>
              </a:rPr>
              <a:t>n &gt; 0</a:t>
            </a:r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304800" y="2209800"/>
            <a:ext cx="3509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00"/>
                </a:solidFill>
                <a:cs typeface="+mn-cs"/>
              </a:rPr>
              <a:t>568.762 = 5.68762 x 10</a:t>
            </a:r>
            <a:r>
              <a:rPr lang="en-US" altLang="en-US" b="1" baseline="30000">
                <a:solidFill>
                  <a:srgbClr val="FF0000"/>
                </a:solidFill>
                <a:cs typeface="+mn-cs"/>
              </a:rPr>
              <a:t>2</a:t>
            </a:r>
            <a:endParaRPr lang="en-US" altLang="en-US" b="1">
              <a:solidFill>
                <a:srgbClr val="FF0000"/>
              </a:solidFill>
              <a:cs typeface="+mn-cs"/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558800" y="1244600"/>
            <a:ext cx="2997200" cy="457200"/>
            <a:chOff x="936" y="736"/>
            <a:chExt cx="1888" cy="288"/>
          </a:xfrm>
        </p:grpSpPr>
        <p:sp>
          <p:nvSpPr>
            <p:cNvPr id="33811" name="Line 7"/>
            <p:cNvSpPr>
              <a:spLocks noChangeShapeType="1"/>
            </p:cNvSpPr>
            <p:nvPr/>
          </p:nvSpPr>
          <p:spPr bwMode="auto">
            <a:xfrm flipH="1">
              <a:off x="936" y="880"/>
              <a:ext cx="240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en-US" sz="2400">
                <a:solidFill>
                  <a:srgbClr val="000000"/>
                </a:solidFill>
                <a:latin typeface="Arial" charset="0"/>
                <a:cs typeface="+mn-cs"/>
              </a:endParaRPr>
            </a:p>
          </p:txBody>
        </p:sp>
        <p:sp>
          <p:nvSpPr>
            <p:cNvPr id="33812" name="Text Box 10"/>
            <p:cNvSpPr txBox="1">
              <a:spLocks noChangeArrowheads="1"/>
            </p:cNvSpPr>
            <p:nvPr/>
          </p:nvSpPr>
          <p:spPr bwMode="auto">
            <a:xfrm>
              <a:off x="1213" y="736"/>
              <a:ext cx="161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000000"/>
                  </a:solidFill>
                  <a:cs typeface="+mn-cs"/>
                </a:rPr>
                <a:t>move decimal left</a:t>
              </a:r>
            </a:p>
          </p:txBody>
        </p:sp>
      </p:grp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5010150" y="762000"/>
            <a:ext cx="1797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00"/>
                </a:solidFill>
                <a:cs typeface="+mn-cs"/>
              </a:rPr>
              <a:t>0.00000772</a:t>
            </a:r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6288088" y="1727200"/>
            <a:ext cx="86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i="1">
                <a:solidFill>
                  <a:srgbClr val="FF0000"/>
                </a:solidFill>
                <a:cs typeface="+mn-cs"/>
              </a:rPr>
              <a:t>n &lt; 0</a:t>
            </a:r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5000625" y="2209800"/>
            <a:ext cx="3578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00"/>
                </a:solidFill>
                <a:cs typeface="+mn-cs"/>
              </a:rPr>
              <a:t>0.00000772 = 7.72 x 10</a:t>
            </a:r>
            <a:r>
              <a:rPr lang="en-US" altLang="en-US" b="1" baseline="30000">
                <a:solidFill>
                  <a:srgbClr val="FF0000"/>
                </a:solidFill>
                <a:cs typeface="+mn-cs"/>
              </a:rPr>
              <a:t>-6</a:t>
            </a:r>
            <a:endParaRPr lang="en-US" altLang="en-US" b="1">
              <a:solidFill>
                <a:srgbClr val="FF0000"/>
              </a:solidFill>
              <a:cs typeface="+mn-cs"/>
            </a:endParaRPr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5278438" y="1244600"/>
            <a:ext cx="3636962" cy="457200"/>
            <a:chOff x="3325" y="784"/>
            <a:chExt cx="2291" cy="288"/>
          </a:xfrm>
        </p:grpSpPr>
        <p:sp>
          <p:nvSpPr>
            <p:cNvPr id="33809" name="Line 16"/>
            <p:cNvSpPr>
              <a:spLocks noChangeShapeType="1"/>
            </p:cNvSpPr>
            <p:nvPr/>
          </p:nvSpPr>
          <p:spPr bwMode="auto">
            <a:xfrm>
              <a:off x="3325" y="928"/>
              <a:ext cx="563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en-US" sz="2400">
                <a:solidFill>
                  <a:srgbClr val="000000"/>
                </a:solidFill>
                <a:latin typeface="Arial" charset="0"/>
                <a:cs typeface="+mn-cs"/>
              </a:endParaRPr>
            </a:p>
          </p:txBody>
        </p:sp>
        <p:sp>
          <p:nvSpPr>
            <p:cNvPr id="33810" name="Text Box 17"/>
            <p:cNvSpPr txBox="1">
              <a:spLocks noChangeArrowheads="1"/>
            </p:cNvSpPr>
            <p:nvPr/>
          </p:nvSpPr>
          <p:spPr bwMode="auto">
            <a:xfrm>
              <a:off x="3887" y="784"/>
              <a:ext cx="17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000000"/>
                  </a:solidFill>
                  <a:cs typeface="+mn-cs"/>
                </a:rPr>
                <a:t>move decimal right</a:t>
              </a:r>
            </a:p>
          </p:txBody>
        </p:sp>
      </p:grpSp>
      <p:sp>
        <p:nvSpPr>
          <p:cNvPr id="21523" name="Text Box 19"/>
          <p:cNvSpPr txBox="1">
            <a:spLocks noChangeArrowheads="1"/>
          </p:cNvSpPr>
          <p:nvPr/>
        </p:nvSpPr>
        <p:spPr bwMode="auto">
          <a:xfrm>
            <a:off x="288925" y="3036888"/>
            <a:ext cx="3787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800" u="sng">
                <a:solidFill>
                  <a:srgbClr val="000000"/>
                </a:solidFill>
                <a:cs typeface="+mn-cs"/>
              </a:rPr>
              <a:t>Addition or Subtraction</a:t>
            </a:r>
          </a:p>
        </p:txBody>
      </p:sp>
      <p:sp>
        <p:nvSpPr>
          <p:cNvPr id="21524" name="Text Box 20"/>
          <p:cNvSpPr txBox="1">
            <a:spLocks noChangeArrowheads="1"/>
          </p:cNvSpPr>
          <p:nvPr/>
        </p:nvSpPr>
        <p:spPr bwMode="auto">
          <a:xfrm>
            <a:off x="212725" y="3733800"/>
            <a:ext cx="4206875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en-US" altLang="en-US">
                <a:solidFill>
                  <a:srgbClr val="000000"/>
                </a:solidFill>
                <a:cs typeface="+mn-cs"/>
              </a:rPr>
              <a:t>Write each quantity with the same exponent </a:t>
            </a:r>
            <a:r>
              <a:rPr lang="en-US" altLang="en-US" i="1">
                <a:solidFill>
                  <a:srgbClr val="FF0000"/>
                </a:solidFill>
                <a:cs typeface="+mn-cs"/>
              </a:rPr>
              <a:t>n</a:t>
            </a:r>
          </a:p>
          <a:p>
            <a:pPr eaLnBrk="1" hangingPunct="1">
              <a:buFontTx/>
              <a:buAutoNum type="arabicPeriod"/>
            </a:pPr>
            <a:r>
              <a:rPr lang="en-US" altLang="en-US">
                <a:solidFill>
                  <a:srgbClr val="000000"/>
                </a:solidFill>
                <a:cs typeface="+mn-cs"/>
              </a:rPr>
              <a:t>Combine N</a:t>
            </a:r>
            <a:r>
              <a:rPr lang="en-US" altLang="en-US" baseline="-25000">
                <a:solidFill>
                  <a:srgbClr val="000000"/>
                </a:solidFill>
                <a:cs typeface="+mn-cs"/>
              </a:rPr>
              <a:t>1</a:t>
            </a:r>
            <a:r>
              <a:rPr lang="en-US" altLang="en-US">
                <a:solidFill>
                  <a:srgbClr val="000000"/>
                </a:solidFill>
                <a:cs typeface="+mn-cs"/>
              </a:rPr>
              <a:t> and N</a:t>
            </a:r>
            <a:r>
              <a:rPr lang="en-US" altLang="en-US" baseline="-25000">
                <a:solidFill>
                  <a:srgbClr val="000000"/>
                </a:solidFill>
                <a:cs typeface="+mn-cs"/>
              </a:rPr>
              <a:t>2</a:t>
            </a:r>
            <a:r>
              <a:rPr lang="en-US" altLang="en-US">
                <a:solidFill>
                  <a:srgbClr val="000000"/>
                </a:solidFill>
                <a:cs typeface="+mn-cs"/>
              </a:rPr>
              <a:t> </a:t>
            </a:r>
          </a:p>
          <a:p>
            <a:pPr eaLnBrk="1" hangingPunct="1">
              <a:buFontTx/>
              <a:buAutoNum type="arabicPeriod"/>
            </a:pPr>
            <a:r>
              <a:rPr lang="en-US" altLang="en-US">
                <a:solidFill>
                  <a:srgbClr val="000000"/>
                </a:solidFill>
                <a:cs typeface="+mn-cs"/>
              </a:rPr>
              <a:t>The exponent, </a:t>
            </a:r>
            <a:r>
              <a:rPr lang="en-US" altLang="en-US" i="1">
                <a:solidFill>
                  <a:srgbClr val="FF0000"/>
                </a:solidFill>
                <a:cs typeface="+mn-cs"/>
              </a:rPr>
              <a:t>n</a:t>
            </a:r>
            <a:r>
              <a:rPr lang="en-US" altLang="en-US">
                <a:solidFill>
                  <a:srgbClr val="000000"/>
                </a:solidFill>
                <a:cs typeface="+mn-cs"/>
              </a:rPr>
              <a:t>, remains the same</a:t>
            </a:r>
          </a:p>
        </p:txBody>
      </p:sp>
      <p:sp>
        <p:nvSpPr>
          <p:cNvPr id="21525" name="Text Box 21"/>
          <p:cNvSpPr txBox="1">
            <a:spLocks noChangeArrowheads="1"/>
          </p:cNvSpPr>
          <p:nvPr/>
        </p:nvSpPr>
        <p:spPr bwMode="auto">
          <a:xfrm>
            <a:off x="5033963" y="3784600"/>
            <a:ext cx="3355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00"/>
                </a:solidFill>
                <a:cs typeface="+mn-cs"/>
              </a:rPr>
              <a:t>4.31 x 10</a:t>
            </a:r>
            <a:r>
              <a:rPr lang="en-US" altLang="en-US" b="1" baseline="30000">
                <a:solidFill>
                  <a:srgbClr val="FF0000"/>
                </a:solidFill>
                <a:cs typeface="+mn-cs"/>
              </a:rPr>
              <a:t>4</a:t>
            </a:r>
            <a:r>
              <a:rPr lang="en-US" altLang="en-US">
                <a:solidFill>
                  <a:srgbClr val="000000"/>
                </a:solidFill>
                <a:cs typeface="+mn-cs"/>
              </a:rPr>
              <a:t> + 3.9 x 10</a:t>
            </a:r>
            <a:r>
              <a:rPr lang="en-US" altLang="en-US" b="1" baseline="30000">
                <a:solidFill>
                  <a:srgbClr val="FF0000"/>
                </a:solidFill>
                <a:cs typeface="+mn-cs"/>
              </a:rPr>
              <a:t>3</a:t>
            </a:r>
            <a:r>
              <a:rPr lang="en-US" altLang="en-US">
                <a:solidFill>
                  <a:srgbClr val="000000"/>
                </a:solidFill>
                <a:cs typeface="+mn-cs"/>
              </a:rPr>
              <a:t> =</a:t>
            </a:r>
          </a:p>
        </p:txBody>
      </p:sp>
      <p:sp>
        <p:nvSpPr>
          <p:cNvPr id="21526" name="Text Box 22"/>
          <p:cNvSpPr txBox="1">
            <a:spLocks noChangeArrowheads="1"/>
          </p:cNvSpPr>
          <p:nvPr/>
        </p:nvSpPr>
        <p:spPr bwMode="auto">
          <a:xfrm>
            <a:off x="4856163" y="4330700"/>
            <a:ext cx="3525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00"/>
                </a:solidFill>
                <a:cs typeface="+mn-cs"/>
              </a:rPr>
              <a:t>4.31 x 10</a:t>
            </a:r>
            <a:r>
              <a:rPr lang="en-US" altLang="en-US" b="1" baseline="30000">
                <a:solidFill>
                  <a:srgbClr val="FF0000"/>
                </a:solidFill>
                <a:cs typeface="+mn-cs"/>
              </a:rPr>
              <a:t>4</a:t>
            </a:r>
            <a:r>
              <a:rPr lang="en-US" altLang="en-US">
                <a:solidFill>
                  <a:srgbClr val="000000"/>
                </a:solidFill>
                <a:cs typeface="+mn-cs"/>
              </a:rPr>
              <a:t> + 0.39 x 10</a:t>
            </a:r>
            <a:r>
              <a:rPr lang="en-US" altLang="en-US" b="1" baseline="30000">
                <a:solidFill>
                  <a:srgbClr val="FF0000"/>
                </a:solidFill>
                <a:cs typeface="+mn-cs"/>
              </a:rPr>
              <a:t>4</a:t>
            </a:r>
            <a:r>
              <a:rPr lang="en-US" altLang="en-US">
                <a:solidFill>
                  <a:srgbClr val="000000"/>
                </a:solidFill>
                <a:cs typeface="+mn-cs"/>
              </a:rPr>
              <a:t> =</a:t>
            </a:r>
          </a:p>
        </p:txBody>
      </p:sp>
      <p:sp>
        <p:nvSpPr>
          <p:cNvPr id="21527" name="Text Box 23"/>
          <p:cNvSpPr txBox="1">
            <a:spLocks noChangeArrowheads="1"/>
          </p:cNvSpPr>
          <p:nvPr/>
        </p:nvSpPr>
        <p:spPr bwMode="auto">
          <a:xfrm>
            <a:off x="6577013" y="4876800"/>
            <a:ext cx="15509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0000"/>
                </a:solidFill>
                <a:cs typeface="+mn-cs"/>
              </a:rPr>
              <a:t>4.70 x 10</a:t>
            </a:r>
            <a:r>
              <a:rPr lang="en-US" altLang="en-US" b="1" baseline="30000">
                <a:solidFill>
                  <a:srgbClr val="FF0000"/>
                </a:solidFill>
                <a:cs typeface="+mn-cs"/>
              </a:rPr>
              <a:t>4</a:t>
            </a:r>
            <a:endParaRPr lang="en-US" altLang="en-US" b="1">
              <a:solidFill>
                <a:srgbClr val="FF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6255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5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5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 autoUpdateAnimBg="0"/>
      <p:bldP spid="21512" grpId="0" autoUpdateAnimBg="0"/>
      <p:bldP spid="21513" grpId="0" autoUpdateAnimBg="0"/>
      <p:bldP spid="21516" grpId="0" autoUpdateAnimBg="0"/>
      <p:bldP spid="21517" grpId="0" autoUpdateAnimBg="0"/>
      <p:bldP spid="21518" grpId="0" autoUpdateAnimBg="0"/>
      <p:bldP spid="21523" grpId="0" autoUpdateAnimBg="0"/>
      <p:bldP spid="21524" grpId="0" build="p" autoUpdateAnimBg="0"/>
      <p:bldP spid="21525" grpId="0" autoUpdateAnimBg="0"/>
      <p:bldP spid="21526" grpId="0" autoUpdateAnimBg="0"/>
      <p:bldP spid="21527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8FAB3F3-3AA2-4C46-B676-29084F8F58A1}" type="slidenum">
              <a:rPr lang="en-US" altLang="en-US" sz="14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42</a:t>
            </a:fld>
            <a:endParaRPr lang="en-US" altLang="en-US" sz="1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4819" name="Text Box 2"/>
          <p:cNvSpPr txBox="1">
            <a:spLocks noChangeArrowheads="1"/>
          </p:cNvSpPr>
          <p:nvPr/>
        </p:nvSpPr>
        <p:spPr bwMode="auto">
          <a:xfrm>
            <a:off x="2860675" y="106363"/>
            <a:ext cx="34337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sz="3200">
                <a:solidFill>
                  <a:srgbClr val="000000"/>
                </a:solidFill>
                <a:cs typeface="+mn-cs"/>
              </a:rPr>
              <a:t>Scientific Notation</a:t>
            </a: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228600" y="1027113"/>
            <a:ext cx="2244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800" u="sng">
                <a:solidFill>
                  <a:srgbClr val="000000"/>
                </a:solidFill>
                <a:cs typeface="+mn-cs"/>
              </a:rPr>
              <a:t>Multiplication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228600" y="1600200"/>
            <a:ext cx="40036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en-US" altLang="en-US">
                <a:solidFill>
                  <a:srgbClr val="000000"/>
                </a:solidFill>
                <a:cs typeface="+mn-cs"/>
              </a:rPr>
              <a:t>Multiply N</a:t>
            </a:r>
            <a:r>
              <a:rPr lang="en-US" altLang="en-US" baseline="-25000">
                <a:solidFill>
                  <a:srgbClr val="000000"/>
                </a:solidFill>
                <a:cs typeface="+mn-cs"/>
              </a:rPr>
              <a:t>1</a:t>
            </a:r>
            <a:r>
              <a:rPr lang="en-US" altLang="en-US">
                <a:solidFill>
                  <a:srgbClr val="000000"/>
                </a:solidFill>
                <a:cs typeface="+mn-cs"/>
              </a:rPr>
              <a:t> and N</a:t>
            </a:r>
            <a:r>
              <a:rPr lang="en-US" altLang="en-US" baseline="-25000">
                <a:solidFill>
                  <a:srgbClr val="000000"/>
                </a:solidFill>
                <a:cs typeface="+mn-cs"/>
              </a:rPr>
              <a:t>2</a:t>
            </a:r>
            <a:endParaRPr lang="en-US" altLang="en-US">
              <a:solidFill>
                <a:srgbClr val="000000"/>
              </a:solidFill>
              <a:cs typeface="+mn-cs"/>
            </a:endParaRPr>
          </a:p>
          <a:p>
            <a:pPr eaLnBrk="1" hangingPunct="1">
              <a:buFontTx/>
              <a:buAutoNum type="arabicPeriod"/>
            </a:pPr>
            <a:r>
              <a:rPr lang="en-US" altLang="en-US">
                <a:solidFill>
                  <a:srgbClr val="000000"/>
                </a:solidFill>
                <a:cs typeface="+mn-cs"/>
              </a:rPr>
              <a:t>Add exponents </a:t>
            </a:r>
            <a:r>
              <a:rPr lang="en-US" altLang="en-US" i="1">
                <a:solidFill>
                  <a:srgbClr val="000000"/>
                </a:solidFill>
                <a:cs typeface="+mn-cs"/>
              </a:rPr>
              <a:t>n</a:t>
            </a:r>
            <a:r>
              <a:rPr lang="en-US" altLang="en-US" i="1" baseline="-25000">
                <a:solidFill>
                  <a:srgbClr val="000000"/>
                </a:solidFill>
                <a:cs typeface="+mn-cs"/>
              </a:rPr>
              <a:t>1</a:t>
            </a:r>
            <a:r>
              <a:rPr lang="en-US" altLang="en-US" i="1">
                <a:solidFill>
                  <a:srgbClr val="000000"/>
                </a:solidFill>
                <a:cs typeface="+mn-cs"/>
              </a:rPr>
              <a:t> </a:t>
            </a:r>
            <a:r>
              <a:rPr lang="en-US" altLang="en-US">
                <a:solidFill>
                  <a:srgbClr val="000000"/>
                </a:solidFill>
                <a:cs typeface="+mn-cs"/>
              </a:rPr>
              <a:t>and </a:t>
            </a:r>
            <a:r>
              <a:rPr lang="en-US" altLang="en-US" i="1">
                <a:solidFill>
                  <a:srgbClr val="000000"/>
                </a:solidFill>
                <a:cs typeface="+mn-cs"/>
              </a:rPr>
              <a:t>n</a:t>
            </a:r>
            <a:r>
              <a:rPr lang="en-US" altLang="en-US" i="1" baseline="-25000">
                <a:solidFill>
                  <a:srgbClr val="000000"/>
                </a:solidFill>
                <a:cs typeface="+mn-cs"/>
              </a:rPr>
              <a:t>2</a:t>
            </a:r>
            <a:endParaRPr lang="en-US" altLang="en-US">
              <a:solidFill>
                <a:srgbClr val="000000"/>
              </a:solidFill>
              <a:cs typeface="+mn-cs"/>
            </a:endParaRP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4949825" y="1447800"/>
            <a:ext cx="36353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altLang="en-US">
                <a:solidFill>
                  <a:srgbClr val="000000"/>
                </a:solidFill>
                <a:cs typeface="+mn-cs"/>
              </a:rPr>
              <a:t>(4.0 x 10</a:t>
            </a:r>
            <a:r>
              <a:rPr lang="en-US" altLang="en-US" baseline="30000">
                <a:solidFill>
                  <a:srgbClr val="000000"/>
                </a:solidFill>
                <a:cs typeface="+mn-cs"/>
              </a:rPr>
              <a:t>-5</a:t>
            </a:r>
            <a:r>
              <a:rPr lang="en-US" altLang="en-US">
                <a:solidFill>
                  <a:srgbClr val="000000"/>
                </a:solidFill>
                <a:cs typeface="+mn-cs"/>
              </a:rPr>
              <a:t>) x (7.0 x 10</a:t>
            </a:r>
            <a:r>
              <a:rPr lang="en-US" altLang="en-US" baseline="30000">
                <a:solidFill>
                  <a:srgbClr val="000000"/>
                </a:solidFill>
                <a:cs typeface="+mn-cs"/>
              </a:rPr>
              <a:t>3</a:t>
            </a:r>
            <a:r>
              <a:rPr lang="en-US" altLang="en-US">
                <a:solidFill>
                  <a:srgbClr val="000000"/>
                </a:solidFill>
                <a:cs typeface="+mn-cs"/>
              </a:rPr>
              <a:t>) =</a:t>
            </a:r>
          </a:p>
          <a:p>
            <a:pPr algn="r" eaLnBrk="1" hangingPunct="1"/>
            <a:r>
              <a:rPr lang="en-US" altLang="en-US">
                <a:solidFill>
                  <a:srgbClr val="000000"/>
                </a:solidFill>
                <a:cs typeface="+mn-cs"/>
              </a:rPr>
              <a:t>(4.0 x 7.0) x (10</a:t>
            </a:r>
            <a:r>
              <a:rPr lang="en-US" altLang="en-US" baseline="30000">
                <a:solidFill>
                  <a:srgbClr val="000000"/>
                </a:solidFill>
                <a:cs typeface="+mn-cs"/>
              </a:rPr>
              <a:t>-5</a:t>
            </a:r>
            <a:r>
              <a:rPr lang="en-US" altLang="en-US" b="1" baseline="30000">
                <a:solidFill>
                  <a:srgbClr val="FF0000"/>
                </a:solidFill>
                <a:cs typeface="+mn-cs"/>
              </a:rPr>
              <a:t>+</a:t>
            </a:r>
            <a:r>
              <a:rPr lang="en-US" altLang="en-US" baseline="30000">
                <a:solidFill>
                  <a:srgbClr val="000000"/>
                </a:solidFill>
                <a:cs typeface="+mn-cs"/>
              </a:rPr>
              <a:t>3</a:t>
            </a:r>
            <a:r>
              <a:rPr lang="en-US" altLang="en-US">
                <a:solidFill>
                  <a:srgbClr val="000000"/>
                </a:solidFill>
                <a:cs typeface="+mn-cs"/>
              </a:rPr>
              <a:t>) =</a:t>
            </a:r>
          </a:p>
          <a:p>
            <a:pPr algn="r" eaLnBrk="1" hangingPunct="1"/>
            <a:r>
              <a:rPr lang="en-US" altLang="en-US">
                <a:solidFill>
                  <a:srgbClr val="000000"/>
                </a:solidFill>
                <a:cs typeface="+mn-cs"/>
              </a:rPr>
              <a:t>28 x 10</a:t>
            </a:r>
            <a:r>
              <a:rPr lang="en-US" altLang="en-US" baseline="30000">
                <a:solidFill>
                  <a:srgbClr val="000000"/>
                </a:solidFill>
                <a:cs typeface="+mn-cs"/>
              </a:rPr>
              <a:t>-2</a:t>
            </a:r>
            <a:r>
              <a:rPr lang="en-US" altLang="en-US">
                <a:solidFill>
                  <a:srgbClr val="000000"/>
                </a:solidFill>
                <a:cs typeface="+mn-cs"/>
              </a:rPr>
              <a:t> =</a:t>
            </a:r>
          </a:p>
          <a:p>
            <a:pPr algn="r" eaLnBrk="1" hangingPunct="1"/>
            <a:r>
              <a:rPr lang="en-US" altLang="en-US">
                <a:solidFill>
                  <a:srgbClr val="000000"/>
                </a:solidFill>
                <a:cs typeface="+mn-cs"/>
              </a:rPr>
              <a:t>2.8 x 10</a:t>
            </a:r>
            <a:r>
              <a:rPr lang="en-US" altLang="en-US" baseline="30000">
                <a:solidFill>
                  <a:srgbClr val="000000"/>
                </a:solidFill>
                <a:cs typeface="+mn-cs"/>
              </a:rPr>
              <a:t>-1</a:t>
            </a:r>
            <a:r>
              <a:rPr lang="en-US" altLang="en-US">
                <a:solidFill>
                  <a:srgbClr val="000000"/>
                </a:solidFill>
                <a:cs typeface="+mn-cs"/>
              </a:rPr>
              <a:t>   </a:t>
            </a: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228600" y="3481388"/>
            <a:ext cx="1431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800" u="sng">
                <a:solidFill>
                  <a:srgbClr val="000000"/>
                </a:solidFill>
                <a:cs typeface="+mn-cs"/>
              </a:rPr>
              <a:t>Division</a:t>
            </a:r>
          </a:p>
        </p:txBody>
      </p: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228600" y="4054475"/>
            <a:ext cx="45958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en-US" altLang="en-US">
                <a:solidFill>
                  <a:srgbClr val="000000"/>
                </a:solidFill>
                <a:cs typeface="+mn-cs"/>
              </a:rPr>
              <a:t>Divide N</a:t>
            </a:r>
            <a:r>
              <a:rPr lang="en-US" altLang="en-US" baseline="-25000">
                <a:solidFill>
                  <a:srgbClr val="000000"/>
                </a:solidFill>
                <a:cs typeface="+mn-cs"/>
              </a:rPr>
              <a:t>1</a:t>
            </a:r>
            <a:r>
              <a:rPr lang="en-US" altLang="en-US">
                <a:solidFill>
                  <a:srgbClr val="000000"/>
                </a:solidFill>
                <a:cs typeface="+mn-cs"/>
              </a:rPr>
              <a:t> and N</a:t>
            </a:r>
            <a:r>
              <a:rPr lang="en-US" altLang="en-US" baseline="-25000">
                <a:solidFill>
                  <a:srgbClr val="000000"/>
                </a:solidFill>
                <a:cs typeface="+mn-cs"/>
              </a:rPr>
              <a:t>2</a:t>
            </a:r>
            <a:endParaRPr lang="en-US" altLang="en-US">
              <a:solidFill>
                <a:srgbClr val="000000"/>
              </a:solidFill>
              <a:cs typeface="+mn-cs"/>
            </a:endParaRPr>
          </a:p>
          <a:p>
            <a:pPr eaLnBrk="1" hangingPunct="1">
              <a:buFontTx/>
              <a:buAutoNum type="arabicPeriod"/>
            </a:pPr>
            <a:r>
              <a:rPr lang="en-US" altLang="en-US">
                <a:solidFill>
                  <a:srgbClr val="000000"/>
                </a:solidFill>
                <a:cs typeface="+mn-cs"/>
              </a:rPr>
              <a:t>Subtract exponents </a:t>
            </a:r>
            <a:r>
              <a:rPr lang="en-US" altLang="en-US" i="1">
                <a:solidFill>
                  <a:srgbClr val="000000"/>
                </a:solidFill>
                <a:cs typeface="+mn-cs"/>
              </a:rPr>
              <a:t>n</a:t>
            </a:r>
            <a:r>
              <a:rPr lang="en-US" altLang="en-US" i="1" baseline="-25000">
                <a:solidFill>
                  <a:srgbClr val="000000"/>
                </a:solidFill>
                <a:cs typeface="+mn-cs"/>
              </a:rPr>
              <a:t>1</a:t>
            </a:r>
            <a:r>
              <a:rPr lang="en-US" altLang="en-US" i="1">
                <a:solidFill>
                  <a:srgbClr val="000000"/>
                </a:solidFill>
                <a:cs typeface="+mn-cs"/>
              </a:rPr>
              <a:t> </a:t>
            </a:r>
            <a:r>
              <a:rPr lang="en-US" altLang="en-US">
                <a:solidFill>
                  <a:srgbClr val="000000"/>
                </a:solidFill>
                <a:cs typeface="+mn-cs"/>
              </a:rPr>
              <a:t>and </a:t>
            </a:r>
            <a:r>
              <a:rPr lang="en-US" altLang="en-US" i="1">
                <a:solidFill>
                  <a:srgbClr val="000000"/>
                </a:solidFill>
                <a:cs typeface="+mn-cs"/>
              </a:rPr>
              <a:t>n</a:t>
            </a:r>
            <a:r>
              <a:rPr lang="en-US" altLang="en-US" i="1" baseline="-25000">
                <a:solidFill>
                  <a:srgbClr val="000000"/>
                </a:solidFill>
                <a:cs typeface="+mn-cs"/>
              </a:rPr>
              <a:t>2</a:t>
            </a:r>
            <a:endParaRPr lang="en-US" altLang="en-US">
              <a:solidFill>
                <a:srgbClr val="000000"/>
              </a:solidFill>
              <a:cs typeface="+mn-cs"/>
            </a:endParaRPr>
          </a:p>
        </p:txBody>
      </p:sp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5410200" y="3581400"/>
            <a:ext cx="3175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altLang="en-US">
                <a:solidFill>
                  <a:srgbClr val="000000"/>
                </a:solidFill>
                <a:cs typeface="+mn-cs"/>
              </a:rPr>
              <a:t>8.5 x 10</a:t>
            </a:r>
            <a:r>
              <a:rPr lang="en-US" altLang="en-US" baseline="30000">
                <a:solidFill>
                  <a:srgbClr val="000000"/>
                </a:solidFill>
                <a:cs typeface="+mn-cs"/>
              </a:rPr>
              <a:t>4</a:t>
            </a:r>
            <a:r>
              <a:rPr lang="en-US" altLang="en-US">
                <a:solidFill>
                  <a:srgbClr val="000000"/>
                </a:solidFill>
                <a:cs typeface="+mn-cs"/>
              </a:rPr>
              <a:t> </a:t>
            </a:r>
            <a:r>
              <a:rPr lang="en-US" altLang="en-US">
                <a:solidFill>
                  <a:srgbClr val="000000"/>
                </a:solidFill>
                <a:cs typeface="Arial" charset="0"/>
              </a:rPr>
              <a:t>÷ 5.0 x 10</a:t>
            </a:r>
            <a:r>
              <a:rPr lang="en-US" altLang="en-US" baseline="30000">
                <a:solidFill>
                  <a:srgbClr val="000000"/>
                </a:solidFill>
                <a:cs typeface="Arial" charset="0"/>
              </a:rPr>
              <a:t>9</a:t>
            </a:r>
            <a:r>
              <a:rPr lang="en-US" altLang="en-US">
                <a:solidFill>
                  <a:srgbClr val="000000"/>
                </a:solidFill>
                <a:cs typeface="Arial" charset="0"/>
              </a:rPr>
              <a:t> =</a:t>
            </a:r>
          </a:p>
          <a:p>
            <a:pPr algn="r" eaLnBrk="1" hangingPunct="1"/>
            <a:r>
              <a:rPr lang="en-US" altLang="en-US">
                <a:solidFill>
                  <a:srgbClr val="000000"/>
                </a:solidFill>
                <a:cs typeface="Arial" charset="0"/>
              </a:rPr>
              <a:t>(8.5 ÷ 5.0) x 10</a:t>
            </a:r>
            <a:r>
              <a:rPr lang="en-US" altLang="en-US" baseline="30000">
                <a:solidFill>
                  <a:srgbClr val="000000"/>
                </a:solidFill>
                <a:cs typeface="Arial" charset="0"/>
              </a:rPr>
              <a:t>4</a:t>
            </a:r>
            <a:r>
              <a:rPr lang="en-US" altLang="en-US" b="1" baseline="30000">
                <a:solidFill>
                  <a:srgbClr val="FF0000"/>
                </a:solidFill>
                <a:cs typeface="Arial" charset="0"/>
              </a:rPr>
              <a:t>-</a:t>
            </a:r>
            <a:r>
              <a:rPr lang="en-US" altLang="en-US" baseline="30000">
                <a:solidFill>
                  <a:srgbClr val="000000"/>
                </a:solidFill>
                <a:cs typeface="Arial" charset="0"/>
              </a:rPr>
              <a:t>9</a:t>
            </a:r>
            <a:r>
              <a:rPr lang="en-US" altLang="en-US">
                <a:solidFill>
                  <a:srgbClr val="000000"/>
                </a:solidFill>
                <a:cs typeface="Arial" charset="0"/>
              </a:rPr>
              <a:t> =</a:t>
            </a:r>
          </a:p>
          <a:p>
            <a:pPr algn="r" eaLnBrk="1" hangingPunct="1"/>
            <a:r>
              <a:rPr lang="en-US" altLang="en-US">
                <a:solidFill>
                  <a:srgbClr val="000000"/>
                </a:solidFill>
                <a:cs typeface="Arial" charset="0"/>
              </a:rPr>
              <a:t>1.7 x 10</a:t>
            </a:r>
            <a:r>
              <a:rPr lang="en-US" altLang="en-US" baseline="30000">
                <a:solidFill>
                  <a:srgbClr val="000000"/>
                </a:solidFill>
                <a:cs typeface="Arial" charset="0"/>
              </a:rPr>
              <a:t>-5    </a:t>
            </a:r>
            <a:endParaRPr lang="en-US" altLang="en-US">
              <a:solidFill>
                <a:srgbClr val="00000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06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5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5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5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5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5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5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 build="p" autoUpdateAnimBg="0"/>
      <p:bldP spid="22535" grpId="0" build="p" autoUpdateAnimBg="0"/>
      <p:bldP spid="22536" grpId="0" autoUpdateAnimBg="0"/>
      <p:bldP spid="22537" grpId="0" build="p" autoUpdateAnimBg="0"/>
      <p:bldP spid="22538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Learning Check</a:t>
            </a:r>
          </a:p>
        </p:txBody>
      </p:sp>
      <p:sp>
        <p:nvSpPr>
          <p:cNvPr id="69635" name="Content Placeholder 2"/>
          <p:cNvSpPr>
            <a:spLocks noGrp="1"/>
          </p:cNvSpPr>
          <p:nvPr>
            <p:ph idx="4294967295"/>
          </p:nvPr>
        </p:nvSpPr>
        <p:spPr>
          <a:xfrm>
            <a:off x="152400" y="762000"/>
            <a:ext cx="8991600" cy="4572000"/>
          </a:xfrm>
        </p:spPr>
        <p:txBody>
          <a:bodyPr/>
          <a:lstStyle/>
          <a:p>
            <a:pPr marL="0" inden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dirty="0">
                <a:latin typeface="Tahoma" pitchFamily="1" charset="0"/>
                <a:cs typeface="Tahoma" pitchFamily="1" charset="0"/>
              </a:rPr>
              <a:t>Round each of the following to three significant figures. Use scientific notation where needed.</a:t>
            </a:r>
          </a:p>
          <a:p>
            <a:pPr marL="0" indent="0">
              <a:spcBef>
                <a:spcPts val="24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en-US" dirty="0">
                <a:latin typeface="Tahoma" pitchFamily="1" charset="0"/>
                <a:cs typeface="Tahoma" pitchFamily="1" charset="0"/>
              </a:rPr>
              <a:t>  37.459</a:t>
            </a:r>
          </a:p>
          <a:p>
            <a:pPr marL="0" indent="0">
              <a:spcBef>
                <a:spcPts val="24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en-US" dirty="0">
                <a:latin typeface="Tahoma" pitchFamily="1" charset="0"/>
                <a:cs typeface="Tahoma" pitchFamily="1" charset="0"/>
              </a:rPr>
              <a:t>  5431978</a:t>
            </a:r>
          </a:p>
          <a:p>
            <a:pPr marL="0" indent="0">
              <a:spcBef>
                <a:spcPts val="24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en-US" dirty="0">
                <a:latin typeface="Tahoma" pitchFamily="1" charset="0"/>
                <a:cs typeface="Tahoma" pitchFamily="1" charset="0"/>
              </a:rPr>
              <a:t>  132.7789003		</a:t>
            </a:r>
          </a:p>
          <a:p>
            <a:pPr marL="0" indent="0">
              <a:spcBef>
                <a:spcPts val="24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en-US" dirty="0">
                <a:latin typeface="Tahoma" pitchFamily="1" charset="0"/>
                <a:cs typeface="Tahoma" pitchFamily="1" charset="0"/>
              </a:rPr>
              <a:t>  0.00087564	</a:t>
            </a:r>
          </a:p>
          <a:p>
            <a:pPr marL="0" indent="0">
              <a:spcBef>
                <a:spcPts val="24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en-US" dirty="0">
                <a:latin typeface="Tahoma" pitchFamily="1" charset="0"/>
                <a:cs typeface="Tahoma" pitchFamily="1" charset="0"/>
              </a:rPr>
              <a:t>  7.665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dirty="0">
              <a:latin typeface="Tahoma" pitchFamily="1" charset="0"/>
              <a:cs typeface="Tahoma" pitchFamily="1" charset="0"/>
            </a:endParaRPr>
          </a:p>
        </p:txBody>
      </p:sp>
      <p:sp>
        <p:nvSpPr>
          <p:cNvPr id="69636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2ACB6E2C-0EAA-8742-A7EB-13C23D1423D6}" type="slidenum">
              <a:rPr lang="en-US" sz="1200">
                <a:solidFill>
                  <a:srgbClr val="000000"/>
                </a:solidFill>
                <a:latin typeface="Verdana" pitchFamily="1" charset="0"/>
              </a:rPr>
              <a:pPr algn="r"/>
              <a:t>43</a:t>
            </a:fld>
            <a:endParaRPr lang="en-US" sz="1200">
              <a:solidFill>
                <a:srgbClr val="000000"/>
              </a:solidFill>
              <a:latin typeface="Verdana" pitchFamily="1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267200" y="2014538"/>
            <a:ext cx="44196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ahoma" pitchFamily="1" charset="0"/>
              </a:rPr>
              <a:t>37.5 </a:t>
            </a:r>
            <a:r>
              <a:rPr lang="en-US" sz="3200" b="1" dirty="0">
                <a:solidFill>
                  <a:srgbClr val="000000"/>
                </a:solidFill>
                <a:latin typeface="Tahoma" pitchFamily="1" charset="0"/>
              </a:rPr>
              <a:t>or</a:t>
            </a:r>
            <a:r>
              <a:rPr lang="en-US" sz="3200" b="1" dirty="0">
                <a:solidFill>
                  <a:srgbClr val="C00000"/>
                </a:solidFill>
                <a:latin typeface="Tahoma" pitchFamily="1" charset="0"/>
              </a:rPr>
              <a:t> 3.75 × 10</a:t>
            </a:r>
            <a:r>
              <a:rPr lang="en-US" sz="3200" b="1" baseline="30000" dirty="0">
                <a:solidFill>
                  <a:srgbClr val="C00000"/>
                </a:solidFill>
                <a:latin typeface="Tahoma" pitchFamily="1" charset="0"/>
              </a:rPr>
              <a:t>1</a:t>
            </a:r>
            <a:endParaRPr lang="en-US" sz="3200" b="1" dirty="0">
              <a:solidFill>
                <a:srgbClr val="C00000"/>
              </a:solidFill>
              <a:latin typeface="Tahoma" pitchFamily="1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267200" y="2808288"/>
            <a:ext cx="23701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C00000"/>
                </a:solidFill>
                <a:latin typeface="Tahoma" pitchFamily="1" charset="0"/>
              </a:rPr>
              <a:t>5.43 × 10</a:t>
            </a:r>
            <a:r>
              <a:rPr lang="en-US" sz="3200" b="1" baseline="30000">
                <a:solidFill>
                  <a:srgbClr val="C00000"/>
                </a:solidFill>
                <a:latin typeface="Tahoma" pitchFamily="1" charset="0"/>
              </a:rPr>
              <a:t>6</a:t>
            </a:r>
            <a:endParaRPr lang="en-US" sz="3200" b="1">
              <a:solidFill>
                <a:srgbClr val="C00000"/>
              </a:solidFill>
              <a:latin typeface="Tahoma" pitchFamily="1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267200" y="3622675"/>
            <a:ext cx="3634796" cy="5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ahoma" pitchFamily="1" charset="0"/>
              </a:rPr>
              <a:t>133 </a:t>
            </a:r>
            <a:r>
              <a:rPr lang="en-US" sz="3200" b="1" dirty="0">
                <a:solidFill>
                  <a:srgbClr val="000000"/>
                </a:solidFill>
                <a:latin typeface="Tahoma" pitchFamily="1" charset="0"/>
              </a:rPr>
              <a:t>or</a:t>
            </a:r>
            <a:r>
              <a:rPr lang="en-US" sz="3200" b="1" dirty="0">
                <a:solidFill>
                  <a:srgbClr val="C00000"/>
                </a:solidFill>
                <a:latin typeface="Tahoma" pitchFamily="1" charset="0"/>
              </a:rPr>
              <a:t> 1.33 </a:t>
            </a:r>
            <a:r>
              <a:rPr lang="en-US" sz="3200" b="1" dirty="0">
                <a:solidFill>
                  <a:srgbClr val="C00000"/>
                </a:solidFill>
              </a:rPr>
              <a:t>× 10</a:t>
            </a:r>
            <a:r>
              <a:rPr lang="en-US" sz="3200" b="1" baseline="30000" dirty="0">
                <a:solidFill>
                  <a:srgbClr val="C00000"/>
                </a:solidFill>
              </a:rPr>
              <a:t>2</a:t>
            </a:r>
            <a:r>
              <a:rPr lang="en-US" sz="3200" b="1" dirty="0">
                <a:solidFill>
                  <a:srgbClr val="C00000"/>
                </a:solidFill>
                <a:latin typeface="Tahoma" pitchFamily="1" charset="0"/>
              </a:rPr>
              <a:t> 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343400" y="4418013"/>
            <a:ext cx="23320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C00000"/>
                </a:solidFill>
                <a:latin typeface="Tahoma" pitchFamily="1" charset="0"/>
              </a:rPr>
              <a:t>8.77 </a:t>
            </a:r>
            <a:r>
              <a:rPr lang="en-US" sz="3200" b="1">
                <a:solidFill>
                  <a:srgbClr val="C00000"/>
                </a:solidFill>
              </a:rPr>
              <a:t>× 10</a:t>
            </a:r>
            <a:r>
              <a:rPr lang="en-US" sz="3200" b="1" baseline="30000">
                <a:solidFill>
                  <a:srgbClr val="C00000"/>
                </a:solidFill>
                <a:ea typeface="Arial" pitchFamily="1" charset="0"/>
                <a:cs typeface="Arial" pitchFamily="1" charset="0"/>
              </a:rPr>
              <a:t>–4</a:t>
            </a:r>
            <a:endParaRPr lang="en-US" sz="3200" b="1" baseline="3000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43400" y="5181600"/>
            <a:ext cx="1096963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rgbClr val="C00000"/>
                </a:solidFill>
                <a:latin typeface="Tahoma"/>
                <a:cs typeface="+mn-cs"/>
              </a:rPr>
              <a:t>7.66</a:t>
            </a:r>
          </a:p>
        </p:txBody>
      </p:sp>
    </p:spTree>
    <p:extLst>
      <p:ext uri="{BB962C8B-B14F-4D97-AF65-F5344CB8AC3E}">
        <p14:creationId xmlns:p14="http://schemas.microsoft.com/office/powerpoint/2010/main" val="313583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/>
          </p:cNvSpPr>
          <p:nvPr/>
        </p:nvSpPr>
        <p:spPr bwMode="auto">
          <a:xfrm>
            <a:off x="152400" y="76200"/>
            <a:ext cx="8839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4000" b="1">
                <a:solidFill>
                  <a:srgbClr val="0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Your Turn!</a:t>
            </a:r>
          </a:p>
        </p:txBody>
      </p:sp>
      <p:sp>
        <p:nvSpPr>
          <p:cNvPr id="3" name="Content Placeholder 2"/>
          <p:cNvSpPr>
            <a:spLocks/>
          </p:cNvSpPr>
          <p:nvPr/>
        </p:nvSpPr>
        <p:spPr bwMode="auto">
          <a:xfrm>
            <a:off x="152400" y="838200"/>
            <a:ext cx="89916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eaLnBrk="0" hangingPunct="0">
              <a:spcBef>
                <a:spcPts val="900"/>
              </a:spcBef>
              <a:buClr>
                <a:srgbClr val="000000"/>
              </a:buClr>
              <a:buFont typeface="Wingdings" pitchFamily="1" charset="2"/>
              <a:buNone/>
            </a:pPr>
            <a:r>
              <a:rPr lang="en-US" sz="3000">
                <a:solidFill>
                  <a:srgbClr val="0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Round 0.00564458 to four significant figures and express using scientific notation.</a:t>
            </a:r>
          </a:p>
          <a:p>
            <a:pPr eaLnBrk="0" hangingPunct="0">
              <a:spcBef>
                <a:spcPts val="900"/>
              </a:spcBef>
              <a:buClr>
                <a:srgbClr val="000000"/>
              </a:buClr>
              <a:buFont typeface="Wingdings" pitchFamily="1" charset="2"/>
              <a:buNone/>
            </a:pPr>
            <a:endParaRPr lang="en-US" sz="3000">
              <a:solidFill>
                <a:srgbClr val="000000"/>
              </a:solidFill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marL="841375" lvl="1" indent="-514350" eaLnBrk="0" hangingPunct="0">
              <a:spcBef>
                <a:spcPts val="900"/>
              </a:spcBef>
              <a:buClr>
                <a:srgbClr val="000000"/>
              </a:buClr>
              <a:buFont typeface="Tahoma" pitchFamily="1" charset="0"/>
              <a:buAutoNum type="alphaUcPeriod"/>
            </a:pPr>
            <a:r>
              <a:rPr lang="en-US" sz="2800">
                <a:solidFill>
                  <a:srgbClr val="0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5.64 </a:t>
            </a:r>
            <a:r>
              <a:rPr lang="en-US" sz="2600">
                <a:solidFill>
                  <a:srgbClr val="000000"/>
                </a:solidFill>
                <a:latin typeface="Tahoma" pitchFamily="1" charset="0"/>
                <a:ea typeface="Tahoma" pitchFamily="1" charset="0"/>
                <a:cs typeface="Tahoma" pitchFamily="1" charset="0"/>
                <a:sym typeface="Symbol" pitchFamily="1" charset="2"/>
              </a:rPr>
              <a:t> </a:t>
            </a:r>
            <a:r>
              <a:rPr lang="en-US" sz="2600">
                <a:solidFill>
                  <a:srgbClr val="0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10</a:t>
            </a:r>
            <a:r>
              <a:rPr lang="en-US" sz="2600" baseline="30000">
                <a:solidFill>
                  <a:srgbClr val="0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-2</a:t>
            </a:r>
            <a:endParaRPr lang="en-US" sz="2800">
              <a:solidFill>
                <a:srgbClr val="000000"/>
              </a:solidFill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marL="841375" lvl="1" indent="-514350" eaLnBrk="0" hangingPunct="0">
              <a:spcBef>
                <a:spcPts val="900"/>
              </a:spcBef>
              <a:buClr>
                <a:srgbClr val="000000"/>
              </a:buClr>
              <a:buFont typeface="Tahoma" pitchFamily="1" charset="0"/>
              <a:buAutoNum type="alphaUcPeriod"/>
            </a:pPr>
            <a:r>
              <a:rPr lang="en-US" sz="2800">
                <a:solidFill>
                  <a:srgbClr val="0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5.000 </a:t>
            </a:r>
            <a:r>
              <a:rPr lang="en-US" sz="2600">
                <a:solidFill>
                  <a:srgbClr val="000000"/>
                </a:solidFill>
                <a:latin typeface="Tahoma" pitchFamily="1" charset="0"/>
                <a:ea typeface="Tahoma" pitchFamily="1" charset="0"/>
                <a:cs typeface="Tahoma" pitchFamily="1" charset="0"/>
                <a:sym typeface="Symbol" pitchFamily="1" charset="2"/>
              </a:rPr>
              <a:t> </a:t>
            </a:r>
            <a:r>
              <a:rPr lang="en-US" sz="2600">
                <a:solidFill>
                  <a:srgbClr val="0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10</a:t>
            </a:r>
            <a:r>
              <a:rPr lang="en-US" sz="2600" baseline="30000">
                <a:solidFill>
                  <a:srgbClr val="0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-3</a:t>
            </a:r>
            <a:endParaRPr lang="en-US" sz="2800">
              <a:solidFill>
                <a:srgbClr val="000000"/>
              </a:solidFill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marL="841375" lvl="1" indent="-514350" eaLnBrk="0" hangingPunct="0">
              <a:spcBef>
                <a:spcPts val="900"/>
              </a:spcBef>
              <a:buClr>
                <a:srgbClr val="000000"/>
              </a:buClr>
              <a:buFont typeface="Tahoma" pitchFamily="1" charset="0"/>
              <a:buAutoNum type="alphaUcPeriod"/>
            </a:pPr>
            <a:r>
              <a:rPr lang="en-US" sz="2800">
                <a:solidFill>
                  <a:srgbClr val="0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5.645 </a:t>
            </a:r>
            <a:r>
              <a:rPr lang="en-US" sz="2600">
                <a:solidFill>
                  <a:srgbClr val="000000"/>
                </a:solidFill>
                <a:latin typeface="Tahoma" pitchFamily="1" charset="0"/>
                <a:ea typeface="Tahoma" pitchFamily="1" charset="0"/>
                <a:cs typeface="Tahoma" pitchFamily="1" charset="0"/>
                <a:sym typeface="Symbol" pitchFamily="1" charset="2"/>
              </a:rPr>
              <a:t> </a:t>
            </a:r>
            <a:r>
              <a:rPr lang="en-US" sz="2600">
                <a:solidFill>
                  <a:srgbClr val="0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10</a:t>
            </a:r>
            <a:r>
              <a:rPr lang="en-US" sz="2600" baseline="30000">
                <a:solidFill>
                  <a:srgbClr val="0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-4</a:t>
            </a:r>
            <a:endParaRPr lang="en-US" sz="2800">
              <a:solidFill>
                <a:srgbClr val="000000"/>
              </a:solidFill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marL="841375" lvl="1" indent="-514350" eaLnBrk="0" hangingPunct="0">
              <a:spcBef>
                <a:spcPts val="900"/>
              </a:spcBef>
              <a:buClr>
                <a:srgbClr val="000000"/>
              </a:buClr>
              <a:buFont typeface="Tahoma" pitchFamily="1" charset="0"/>
              <a:buAutoNum type="alphaUcPeriod"/>
            </a:pPr>
            <a:r>
              <a:rPr lang="en-US" sz="2800">
                <a:solidFill>
                  <a:srgbClr val="0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0.56446</a:t>
            </a:r>
          </a:p>
          <a:p>
            <a:pPr marL="841375" lvl="1" indent="-514350" eaLnBrk="0" hangingPunct="0">
              <a:spcBef>
                <a:spcPts val="900"/>
              </a:spcBef>
              <a:buClr>
                <a:srgbClr val="000000"/>
              </a:buClr>
              <a:buFont typeface="Tahoma" pitchFamily="1" charset="0"/>
              <a:buAutoNum type="alphaUcPeriod"/>
            </a:pPr>
            <a:r>
              <a:rPr lang="en-US" sz="2800">
                <a:solidFill>
                  <a:srgbClr val="0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5.645 </a:t>
            </a:r>
            <a:r>
              <a:rPr lang="en-US" sz="2600">
                <a:solidFill>
                  <a:srgbClr val="000000"/>
                </a:solidFill>
                <a:latin typeface="Tahoma" pitchFamily="1" charset="0"/>
                <a:ea typeface="Tahoma" pitchFamily="1" charset="0"/>
                <a:cs typeface="Tahoma" pitchFamily="1" charset="0"/>
                <a:sym typeface="Symbol" pitchFamily="1" charset="2"/>
              </a:rPr>
              <a:t> </a:t>
            </a:r>
            <a:r>
              <a:rPr lang="en-US" sz="2600">
                <a:solidFill>
                  <a:srgbClr val="0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10</a:t>
            </a:r>
            <a:r>
              <a:rPr lang="en-US" sz="2600" baseline="30000">
                <a:solidFill>
                  <a:srgbClr val="00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-3</a:t>
            </a:r>
            <a:endParaRPr lang="en-US" sz="2800">
              <a:solidFill>
                <a:srgbClr val="000000"/>
              </a:solidFill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marL="841375" lvl="1" indent="-514350" eaLnBrk="0" hangingPunct="0">
              <a:spcBef>
                <a:spcPts val="900"/>
              </a:spcBef>
              <a:buClr>
                <a:srgbClr val="000000"/>
              </a:buClr>
              <a:buFont typeface="Tahoma" pitchFamily="1" charset="0"/>
              <a:buAutoNum type="alphaUcPeriod"/>
            </a:pPr>
            <a:endParaRPr lang="en-US" sz="2800">
              <a:solidFill>
                <a:srgbClr val="000000"/>
              </a:solidFill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eaLnBrk="0" hangingPunct="0">
              <a:spcBef>
                <a:spcPts val="900"/>
              </a:spcBef>
              <a:buClr>
                <a:srgbClr val="000000"/>
              </a:buClr>
              <a:buFont typeface="Wingdings" pitchFamily="1" charset="2"/>
              <a:buChar char="§"/>
            </a:pPr>
            <a:endParaRPr lang="en-US" sz="3000">
              <a:solidFill>
                <a:srgbClr val="000000"/>
              </a:solidFill>
              <a:latin typeface="Tahoma" pitchFamily="1" charset="0"/>
              <a:ea typeface="Tahoma" pitchFamily="1" charset="0"/>
              <a:cs typeface="Tahoma" pitchFamily="1" charset="0"/>
            </a:endParaRPr>
          </a:p>
        </p:txBody>
      </p:sp>
      <p:sp>
        <p:nvSpPr>
          <p:cNvPr id="70660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BB21B6AA-4516-E442-A43A-52767D0BFDB1}" type="slidenum">
              <a:rPr lang="en-US" sz="1200">
                <a:solidFill>
                  <a:srgbClr val="000000"/>
                </a:solidFill>
                <a:latin typeface="Verdana" pitchFamily="1" charset="0"/>
              </a:rPr>
              <a:pPr algn="r"/>
              <a:t>44</a:t>
            </a:fld>
            <a:endParaRPr lang="en-US" sz="1200">
              <a:solidFill>
                <a:srgbClr val="000000"/>
              </a:solidFill>
              <a:latin typeface="Verdana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86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Rounding to Correct Digit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2400" y="838200"/>
            <a:ext cx="8991600" cy="5791200"/>
          </a:xfrm>
        </p:spPr>
        <p:txBody>
          <a:bodyPr/>
          <a:lstStyle/>
          <a:p>
            <a:pPr marL="514350" indent="-514350">
              <a:spcBef>
                <a:spcPts val="5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en-US" sz="2800" dirty="0">
                <a:latin typeface="Tahoma" pitchFamily="1" charset="0"/>
                <a:cs typeface="Tahoma" pitchFamily="1" charset="0"/>
              </a:rPr>
              <a:t>If digit to be dropped is </a:t>
            </a:r>
            <a:r>
              <a:rPr lang="en-US" sz="2800" b="1" dirty="0">
                <a:latin typeface="Tahoma" pitchFamily="1" charset="0"/>
                <a:cs typeface="Tahoma" pitchFamily="1" charset="0"/>
              </a:rPr>
              <a:t>greater than 5</a:t>
            </a:r>
            <a:r>
              <a:rPr lang="en-US" sz="2800" dirty="0">
                <a:latin typeface="Tahoma" pitchFamily="1" charset="0"/>
                <a:cs typeface="Tahoma" pitchFamily="1" charset="0"/>
              </a:rPr>
              <a:t>, last remaining digit is </a:t>
            </a:r>
            <a:r>
              <a:rPr lang="en-US" sz="2800" b="1" dirty="0">
                <a:latin typeface="Tahoma" pitchFamily="1" charset="0"/>
                <a:cs typeface="Tahoma" pitchFamily="1" charset="0"/>
              </a:rPr>
              <a:t>rounded up</a:t>
            </a:r>
            <a:r>
              <a:rPr lang="en-US" sz="2800" dirty="0">
                <a:latin typeface="Tahoma" pitchFamily="1" charset="0"/>
                <a:cs typeface="Tahoma" pitchFamily="1" charset="0"/>
              </a:rPr>
              <a:t>.</a:t>
            </a:r>
          </a:p>
          <a:p>
            <a:pPr lvl="1">
              <a:spcBef>
                <a:spcPts val="5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b="1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e.g.,</a:t>
            </a:r>
            <a:r>
              <a:rPr lang="en-US" b="1" dirty="0">
                <a:solidFill>
                  <a:schemeClr val="tx2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 </a:t>
            </a:r>
            <a:r>
              <a:rPr lang="en-US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3.67</a:t>
            </a:r>
            <a:r>
              <a:rPr lang="en-US" u="sng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7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 is rounded up to </a:t>
            </a:r>
            <a:r>
              <a:rPr lang="en-US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3.68</a:t>
            </a:r>
            <a:r>
              <a:rPr lang="en-US" dirty="0">
                <a:solidFill>
                  <a:srgbClr val="FF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 </a:t>
            </a:r>
            <a:endParaRPr lang="en-US" dirty="0">
              <a:solidFill>
                <a:schemeClr val="bg1"/>
              </a:solidFill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marL="514350" indent="-514350">
              <a:spcBef>
                <a:spcPts val="5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en-US" sz="2800" dirty="0">
                <a:latin typeface="Tahoma" pitchFamily="1" charset="0"/>
                <a:cs typeface="Tahoma" pitchFamily="1" charset="0"/>
              </a:rPr>
              <a:t>If number to be dropped is </a:t>
            </a:r>
            <a:r>
              <a:rPr lang="en-US" sz="2800" b="1" dirty="0">
                <a:latin typeface="Tahoma" pitchFamily="1" charset="0"/>
                <a:cs typeface="Tahoma" pitchFamily="1" charset="0"/>
              </a:rPr>
              <a:t>less than 5</a:t>
            </a:r>
            <a:r>
              <a:rPr lang="en-US" sz="2800" dirty="0">
                <a:latin typeface="Tahoma" pitchFamily="1" charset="0"/>
                <a:cs typeface="Tahoma" pitchFamily="1" charset="0"/>
              </a:rPr>
              <a:t>, last remaining digit </a:t>
            </a:r>
            <a:r>
              <a:rPr lang="en-US" sz="2800" b="1" dirty="0">
                <a:latin typeface="Tahoma" pitchFamily="1" charset="0"/>
                <a:cs typeface="Tahoma" pitchFamily="1" charset="0"/>
              </a:rPr>
              <a:t>stays the same</a:t>
            </a:r>
            <a:r>
              <a:rPr lang="en-US" sz="2800" dirty="0">
                <a:latin typeface="Tahoma" pitchFamily="1" charset="0"/>
                <a:cs typeface="Tahoma" pitchFamily="1" charset="0"/>
              </a:rPr>
              <a:t>.</a:t>
            </a:r>
          </a:p>
          <a:p>
            <a:pPr lvl="1">
              <a:spcBef>
                <a:spcPts val="5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b="1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e.g.,</a:t>
            </a:r>
            <a:r>
              <a:rPr lang="en-US" b="1" dirty="0">
                <a:solidFill>
                  <a:schemeClr val="tx2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 </a:t>
            </a:r>
            <a:r>
              <a:rPr lang="en-US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6.63</a:t>
            </a:r>
            <a:r>
              <a:rPr lang="en-US" u="sng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2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 is rounded to </a:t>
            </a:r>
            <a:r>
              <a:rPr lang="en-US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6.63</a:t>
            </a:r>
          </a:p>
          <a:p>
            <a:pPr marL="514350" indent="-514350">
              <a:spcBef>
                <a:spcPts val="500"/>
              </a:spcBef>
              <a:buClr>
                <a:schemeClr val="tx1"/>
              </a:buClr>
              <a:buFont typeface="Tahoma" pitchFamily="1" charset="0"/>
              <a:buAutoNum type="arabicPeriod"/>
            </a:pPr>
            <a:r>
              <a:rPr lang="en-US" sz="2800" dirty="0">
                <a:latin typeface="Tahoma" pitchFamily="1" charset="0"/>
                <a:cs typeface="Tahoma" pitchFamily="1" charset="0"/>
              </a:rPr>
              <a:t>If number to be dropped is exactly 5, then if digit to left of 5 is </a:t>
            </a:r>
          </a:p>
          <a:p>
            <a:pPr lvl="1">
              <a:spcBef>
                <a:spcPts val="500"/>
              </a:spcBef>
              <a:buClr>
                <a:schemeClr val="tx1"/>
              </a:buClr>
              <a:buFont typeface="Tahoma" pitchFamily="1" charset="0"/>
              <a:buAutoNum type="alphaLcPeriod"/>
            </a:pPr>
            <a:r>
              <a:rPr lang="en-US" b="1" dirty="0">
                <a:latin typeface="Tahoma" pitchFamily="1" charset="0"/>
                <a:ea typeface="Tahoma" pitchFamily="1" charset="0"/>
                <a:cs typeface="Tahoma" pitchFamily="1" charset="0"/>
              </a:rPr>
              <a:t>  Even,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 it </a:t>
            </a:r>
            <a:r>
              <a:rPr lang="en-US" b="1" dirty="0">
                <a:latin typeface="Tahoma" pitchFamily="1" charset="0"/>
                <a:ea typeface="Tahoma" pitchFamily="1" charset="0"/>
                <a:cs typeface="Tahoma" pitchFamily="1" charset="0"/>
              </a:rPr>
              <a:t>remains the same.</a:t>
            </a:r>
          </a:p>
          <a:p>
            <a:pPr lvl="1">
              <a:spcBef>
                <a:spcPts val="5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b="1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e.g</a:t>
            </a:r>
            <a:r>
              <a:rPr lang="en-US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.,</a:t>
            </a:r>
            <a:r>
              <a:rPr lang="en-US" dirty="0">
                <a:solidFill>
                  <a:schemeClr val="tx2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 </a:t>
            </a:r>
            <a:r>
              <a:rPr lang="en-US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6.6</a:t>
            </a:r>
            <a:r>
              <a:rPr lang="en-US" u="sng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5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 is rounded to </a:t>
            </a:r>
            <a:r>
              <a:rPr lang="en-US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6.6</a:t>
            </a:r>
          </a:p>
          <a:p>
            <a:pPr lvl="1">
              <a:spcBef>
                <a:spcPts val="500"/>
              </a:spcBef>
              <a:buClr>
                <a:schemeClr val="tx1"/>
              </a:buClr>
              <a:buFont typeface="Wingdings" pitchFamily="1" charset="2"/>
              <a:buAutoNum type="alphaLcPeriod" startAt="2"/>
            </a:pPr>
            <a:r>
              <a:rPr lang="en-US" b="1" dirty="0">
                <a:latin typeface="Tahoma" pitchFamily="1" charset="0"/>
                <a:ea typeface="Tahoma" pitchFamily="1" charset="0"/>
                <a:cs typeface="Tahoma" pitchFamily="1" charset="0"/>
              </a:rPr>
              <a:t>  Odd, 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it </a:t>
            </a:r>
            <a:r>
              <a:rPr lang="en-US" b="1" dirty="0">
                <a:latin typeface="Tahoma" pitchFamily="1" charset="0"/>
                <a:ea typeface="Tahoma" pitchFamily="1" charset="0"/>
                <a:cs typeface="Tahoma" pitchFamily="1" charset="0"/>
              </a:rPr>
              <a:t>rounds up.</a:t>
            </a:r>
          </a:p>
          <a:p>
            <a:pPr lvl="1">
              <a:spcBef>
                <a:spcPts val="5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b="1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e.g.,</a:t>
            </a:r>
            <a:r>
              <a:rPr lang="en-US" b="1" dirty="0">
                <a:solidFill>
                  <a:schemeClr val="tx2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 </a:t>
            </a:r>
            <a:r>
              <a:rPr lang="en-US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6.3</a:t>
            </a:r>
            <a:r>
              <a:rPr lang="en-US" u="sng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5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 is rounded to </a:t>
            </a:r>
            <a:r>
              <a:rPr lang="en-US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6.4</a:t>
            </a:r>
            <a:r>
              <a:rPr lang="en-US" dirty="0">
                <a:solidFill>
                  <a:srgbClr val="FF00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 </a:t>
            </a:r>
            <a:endParaRPr lang="en-US" dirty="0">
              <a:latin typeface="Tahoma" pitchFamily="1" charset="0"/>
              <a:ea typeface="Tahoma" pitchFamily="1" charset="0"/>
              <a:cs typeface="Tahoma" pitchFamily="1" charset="0"/>
            </a:endParaRPr>
          </a:p>
        </p:txBody>
      </p:sp>
      <p:sp>
        <p:nvSpPr>
          <p:cNvPr id="67588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C221AC06-2C87-864B-80CB-F99DB06E8862}" type="slidenum">
              <a:rPr lang="en-US" sz="1200">
                <a:solidFill>
                  <a:srgbClr val="000000"/>
                </a:solidFill>
                <a:latin typeface="Verdana" pitchFamily="1" charset="0"/>
              </a:rPr>
              <a:pPr algn="r"/>
              <a:t>45</a:t>
            </a:fld>
            <a:endParaRPr lang="en-US" sz="1200">
              <a:solidFill>
                <a:srgbClr val="000000"/>
              </a:solidFill>
              <a:latin typeface="Verdana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226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Accuracy and Precision</a:t>
            </a:r>
          </a:p>
        </p:txBody>
      </p:sp>
      <p:sp>
        <p:nvSpPr>
          <p:cNvPr id="58371" name="Content Placeholder 2"/>
          <p:cNvSpPr>
            <a:spLocks noGrp="1"/>
          </p:cNvSpPr>
          <p:nvPr>
            <p:ph idx="4294967295"/>
          </p:nvPr>
        </p:nvSpPr>
        <p:spPr>
          <a:xfrm>
            <a:off x="152400" y="685800"/>
            <a:ext cx="6630080" cy="6172200"/>
          </a:xfrm>
        </p:spPr>
        <p:txBody>
          <a:bodyPr/>
          <a:lstStyle/>
          <a:p>
            <a:pPr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Accuracy</a:t>
            </a:r>
            <a:endParaRPr lang="en-US" sz="3000" dirty="0">
              <a:solidFill>
                <a:srgbClr val="000099"/>
              </a:solidFill>
              <a:latin typeface="Tahoma" pitchFamily="1" charset="0"/>
              <a:cs typeface="Tahoma" pitchFamily="1" charset="0"/>
            </a:endParaRPr>
          </a:p>
          <a:p>
            <a:pPr lvl="1">
              <a:spcBef>
                <a:spcPts val="900"/>
              </a:spcBef>
              <a:buClr>
                <a:schemeClr val="tx1"/>
              </a:buClr>
            </a:pPr>
            <a:r>
              <a:rPr lang="en-US" sz="2700" dirty="0">
                <a:latin typeface="Tahoma" pitchFamily="1" charset="0"/>
                <a:ea typeface="Tahoma" pitchFamily="1" charset="0"/>
                <a:cs typeface="Tahoma" pitchFamily="1" charset="0"/>
              </a:rPr>
              <a:t>How close measurement is to true or accepted true value</a:t>
            </a:r>
          </a:p>
          <a:p>
            <a:pPr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sz="3000" b="1" dirty="0">
              <a:solidFill>
                <a:srgbClr val="000099"/>
              </a:solidFill>
              <a:latin typeface="Tahoma" pitchFamily="1" charset="0"/>
              <a:cs typeface="Tahoma" pitchFamily="1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Precision</a:t>
            </a:r>
            <a:endParaRPr lang="en-US" sz="3000" dirty="0">
              <a:solidFill>
                <a:srgbClr val="000099"/>
              </a:solidFill>
              <a:latin typeface="Tahoma" pitchFamily="1" charset="0"/>
              <a:cs typeface="Tahoma" pitchFamily="1" charset="0"/>
            </a:endParaRPr>
          </a:p>
          <a:p>
            <a:pPr lvl="1">
              <a:spcBef>
                <a:spcPts val="600"/>
              </a:spcBef>
              <a:buClr>
                <a:schemeClr val="tx1"/>
              </a:buClr>
            </a:pPr>
            <a:r>
              <a:rPr lang="en-US" sz="2700" dirty="0">
                <a:latin typeface="Tahoma" pitchFamily="1" charset="0"/>
                <a:ea typeface="Tahoma" pitchFamily="1" charset="0"/>
                <a:cs typeface="Tahoma" pitchFamily="1" charset="0"/>
              </a:rPr>
              <a:t>How well set of repeated measurements of same quantity </a:t>
            </a:r>
          </a:p>
          <a:p>
            <a:pPr lvl="1">
              <a:spcBef>
                <a:spcPts val="6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2700" dirty="0">
                <a:latin typeface="Tahoma" pitchFamily="1" charset="0"/>
                <a:ea typeface="Tahoma" pitchFamily="1" charset="0"/>
                <a:cs typeface="Tahoma" pitchFamily="1" charset="0"/>
              </a:rPr>
              <a:t>	agree with each other</a:t>
            </a:r>
          </a:p>
        </p:txBody>
      </p:sp>
      <p:sp>
        <p:nvSpPr>
          <p:cNvPr id="66564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C391048C-A5F0-1940-9F33-93CC094569B5}" type="slidenum">
              <a:rPr lang="en-US" sz="1200">
                <a:latin typeface="Verdana" pitchFamily="1" charset="0"/>
              </a:rPr>
              <a:pPr algn="r"/>
              <a:t>46</a:t>
            </a:fld>
            <a:endParaRPr lang="en-US" sz="1200">
              <a:latin typeface="Verdana" pitchFamily="1" charset="0"/>
            </a:endParaRPr>
          </a:p>
        </p:txBody>
      </p:sp>
      <p:pic>
        <p:nvPicPr>
          <p:cNvPr id="6" name="Picture 5" descr="chem7e_fig_01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156" y="1102395"/>
            <a:ext cx="2342802" cy="53096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Exact Numbers</a:t>
            </a:r>
          </a:p>
        </p:txBody>
      </p:sp>
      <p:sp>
        <p:nvSpPr>
          <p:cNvPr id="60419" name="Content Placeholder 2"/>
          <p:cNvSpPr>
            <a:spLocks noGrp="1"/>
          </p:cNvSpPr>
          <p:nvPr>
            <p:ph idx="4294967295"/>
          </p:nvPr>
        </p:nvSpPr>
        <p:spPr>
          <a:xfrm>
            <a:off x="152400" y="762000"/>
            <a:ext cx="8991600" cy="4572000"/>
          </a:xfrm>
        </p:spPr>
        <p:txBody>
          <a:bodyPr/>
          <a:lstStyle/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Numbers that come from definitions</a:t>
            </a:r>
          </a:p>
          <a:p>
            <a:pPr lvl="1">
              <a:spcBef>
                <a:spcPts val="900"/>
              </a:spcBef>
              <a:buClr>
                <a:schemeClr val="tx1"/>
              </a:buClr>
            </a:pP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12 in. = 1 </a:t>
            </a:r>
            <a:r>
              <a:rPr lang="en-US" dirty="0" err="1">
                <a:latin typeface="Tahoma" pitchFamily="1" charset="0"/>
                <a:ea typeface="Tahoma" pitchFamily="1" charset="0"/>
                <a:cs typeface="Tahoma" pitchFamily="1" charset="0"/>
              </a:rPr>
              <a:t>ft</a:t>
            </a:r>
            <a:endParaRPr lang="en-US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lvl="1">
              <a:spcBef>
                <a:spcPts val="900"/>
              </a:spcBef>
              <a:buClr>
                <a:schemeClr val="tx1"/>
              </a:buClr>
            </a:pP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60 s = 1 min</a:t>
            </a:r>
          </a:p>
          <a:p>
            <a:pPr>
              <a:spcBef>
                <a:spcPts val="900"/>
              </a:spcBef>
              <a:buClr>
                <a:schemeClr val="tx1"/>
              </a:buClr>
            </a:pPr>
            <a:endParaRPr lang="en-US" sz="3000" dirty="0">
              <a:latin typeface="Tahoma" pitchFamily="1" charset="0"/>
              <a:cs typeface="Tahoma" pitchFamily="1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Have no uncertainty</a:t>
            </a:r>
          </a:p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Exact number </a:t>
            </a:r>
            <a:r>
              <a:rPr lang="en-US" sz="3000" dirty="0">
                <a:solidFill>
                  <a:srgbClr val="FF3300"/>
                </a:solidFill>
                <a:latin typeface="Tahoma" pitchFamily="1" charset="0"/>
                <a:cs typeface="Tahoma" pitchFamily="1" charset="0"/>
              </a:rPr>
              <a:t>does not affect any calculation</a:t>
            </a:r>
          </a:p>
        </p:txBody>
      </p:sp>
      <p:sp>
        <p:nvSpPr>
          <p:cNvPr id="78852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1B799425-92C9-FE44-ABB3-C25CF696B303}" type="slidenum">
              <a:rPr lang="en-US" sz="1200">
                <a:latin typeface="Verdana" pitchFamily="1" charset="0"/>
              </a:rPr>
              <a:pPr algn="r"/>
              <a:t>47</a:t>
            </a:fld>
            <a:endParaRPr lang="en-US" sz="1200">
              <a:latin typeface="Verdana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/>
          </p:cNvSpPr>
          <p:nvPr/>
        </p:nvSpPr>
        <p:spPr bwMode="auto">
          <a:xfrm>
            <a:off x="152400" y="76200"/>
            <a:ext cx="8839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4000" b="1">
                <a:latin typeface="Tahoma" pitchFamily="1" charset="0"/>
                <a:ea typeface="Tahoma" pitchFamily="1" charset="0"/>
                <a:cs typeface="Tahoma" pitchFamily="1" charset="0"/>
              </a:rPr>
              <a:t>Your Turn!</a:t>
            </a:r>
          </a:p>
        </p:txBody>
      </p:sp>
      <p:sp>
        <p:nvSpPr>
          <p:cNvPr id="3" name="Content Placeholder 2"/>
          <p:cNvSpPr>
            <a:spLocks/>
          </p:cNvSpPr>
          <p:nvPr/>
        </p:nvSpPr>
        <p:spPr bwMode="auto">
          <a:xfrm>
            <a:off x="152400" y="762000"/>
            <a:ext cx="89916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>
                <a:latin typeface="Tahoma" pitchFamily="1" charset="0"/>
                <a:ea typeface="Tahoma" pitchFamily="1" charset="0"/>
                <a:cs typeface="Tahoma" pitchFamily="1" charset="0"/>
              </a:rPr>
              <a:t>Express the answer to the following with the correct number of significant figures:</a:t>
            </a: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sz="300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sz="300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sz="300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3000">
                <a:latin typeface="Tahoma" pitchFamily="1" charset="0"/>
                <a:ea typeface="Tahoma" pitchFamily="1" charset="0"/>
                <a:cs typeface="Tahoma" pitchFamily="1" charset="0"/>
              </a:rPr>
              <a:t> 3 ft.</a:t>
            </a: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3000">
                <a:latin typeface="Tahoma" pitchFamily="1" charset="0"/>
                <a:ea typeface="Tahoma" pitchFamily="1" charset="0"/>
                <a:cs typeface="Tahoma" pitchFamily="1" charset="0"/>
              </a:rPr>
              <a:t> 3.0 ft</a:t>
            </a: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3000">
                <a:latin typeface="Tahoma" pitchFamily="1" charset="0"/>
                <a:ea typeface="Tahoma" pitchFamily="1" charset="0"/>
                <a:cs typeface="Tahoma" pitchFamily="1" charset="0"/>
              </a:rPr>
              <a:t> 3.00 ft.</a:t>
            </a: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3000">
                <a:latin typeface="Tahoma" pitchFamily="1" charset="0"/>
                <a:ea typeface="Tahoma" pitchFamily="1" charset="0"/>
                <a:cs typeface="Tahoma" pitchFamily="1" charset="0"/>
              </a:rPr>
              <a:t> 3.000 ft.</a:t>
            </a: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3000">
                <a:latin typeface="Tahoma" pitchFamily="1" charset="0"/>
                <a:ea typeface="Tahoma" pitchFamily="1" charset="0"/>
                <a:cs typeface="Tahoma" pitchFamily="1" charset="0"/>
              </a:rPr>
              <a:t> 3.00000 ft.</a:t>
            </a:r>
          </a:p>
        </p:txBody>
      </p:sp>
      <p:graphicFrame>
        <p:nvGraphicFramePr>
          <p:cNvPr id="79876" name="Object 6"/>
          <p:cNvGraphicFramePr>
            <a:graphicFrameLocks noChangeAspect="1"/>
          </p:cNvGraphicFramePr>
          <p:nvPr/>
        </p:nvGraphicFramePr>
        <p:xfrm>
          <a:off x="2057400" y="1898650"/>
          <a:ext cx="390525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3" imgW="1104900" imgH="368300" progId="Equation.3">
                  <p:embed/>
                </p:oleObj>
              </mc:Choice>
              <mc:Fallback>
                <p:oleObj name="Equation" r:id="rId3" imgW="1104900" imgH="368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898650"/>
                        <a:ext cx="3905250" cy="1301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255" name="Text Box 7"/>
          <p:cNvSpPr txBox="1">
            <a:spLocks noChangeArrowheads="1"/>
          </p:cNvSpPr>
          <p:nvPr/>
        </p:nvSpPr>
        <p:spPr bwMode="auto">
          <a:xfrm>
            <a:off x="3657600" y="3978275"/>
            <a:ext cx="5105400" cy="204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3200"/>
              <a:t>36.00 has four sig. figs. The conversion is </a:t>
            </a:r>
            <a:r>
              <a:rPr lang="en-US" sz="3200">
                <a:latin typeface="Tahoma" pitchFamily="1" charset="0"/>
              </a:rPr>
              <a:t>exact</a:t>
            </a:r>
            <a:r>
              <a:rPr lang="en-US" sz="3200"/>
              <a:t>. </a:t>
            </a:r>
          </a:p>
          <a:p>
            <a:r>
              <a:rPr lang="en-US" sz="3200"/>
              <a:t>So the answer has four </a:t>
            </a:r>
          </a:p>
          <a:p>
            <a:r>
              <a:rPr lang="en-US" sz="3200"/>
              <a:t>sig. figs.</a:t>
            </a:r>
            <a:r>
              <a:rPr lang="en-US"/>
              <a:t> </a:t>
            </a:r>
          </a:p>
        </p:txBody>
      </p:sp>
      <p:sp>
        <p:nvSpPr>
          <p:cNvPr id="79878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E5A8B0BA-BC72-2D4F-827D-090067EDA217}" type="slidenum">
              <a:rPr lang="en-US" sz="1200">
                <a:latin typeface="Verdana" pitchFamily="1" charset="0"/>
              </a:rPr>
              <a:pPr algn="r"/>
              <a:t>48</a:t>
            </a:fld>
            <a:endParaRPr lang="en-US" sz="1200">
              <a:latin typeface="Verdana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Dimensional Analysis</a:t>
            </a:r>
          </a:p>
        </p:txBody>
      </p:sp>
      <p:sp>
        <p:nvSpPr>
          <p:cNvPr id="62467" name="Content Placeholder 2"/>
          <p:cNvSpPr>
            <a:spLocks noGrp="1"/>
          </p:cNvSpPr>
          <p:nvPr>
            <p:ph idx="4294967295"/>
          </p:nvPr>
        </p:nvSpPr>
        <p:spPr>
          <a:xfrm>
            <a:off x="152400" y="762000"/>
            <a:ext cx="8991600" cy="4572000"/>
          </a:xfrm>
        </p:spPr>
        <p:txBody>
          <a:bodyPr/>
          <a:lstStyle/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Also called the Factor Label Method</a:t>
            </a:r>
          </a:p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Use units (dimensions) to analyze problem</a:t>
            </a:r>
          </a:p>
          <a:p>
            <a:pPr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sz="3000" b="1" dirty="0">
              <a:solidFill>
                <a:srgbClr val="000099"/>
              </a:solidFill>
              <a:latin typeface="Tahoma" pitchFamily="1" charset="0"/>
              <a:cs typeface="Tahoma" pitchFamily="1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Conversion Factor </a:t>
            </a:r>
          </a:p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Used to switch from one system of measurement and units to another</a:t>
            </a:r>
          </a:p>
          <a:p>
            <a:pPr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sz="3000" dirty="0">
              <a:latin typeface="Tahoma" pitchFamily="1" charset="0"/>
              <a:cs typeface="Tahoma" pitchFamily="1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</a:pPr>
            <a:endParaRPr lang="en-US" sz="3000" dirty="0">
              <a:latin typeface="Tahoma" pitchFamily="1" charset="0"/>
              <a:cs typeface="Tahoma" pitchFamily="1" charset="0"/>
            </a:endParaRPr>
          </a:p>
        </p:txBody>
      </p:sp>
      <p:sp>
        <p:nvSpPr>
          <p:cNvPr id="81924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3BCBD9A3-1B1D-D545-9845-DEA46D593966}" type="slidenum">
              <a:rPr lang="en-US" sz="1200">
                <a:latin typeface="Verdana" pitchFamily="1" charset="0"/>
              </a:rPr>
              <a:pPr algn="r"/>
              <a:t>49</a:t>
            </a:fld>
            <a:endParaRPr lang="en-US" sz="1200">
              <a:latin typeface="Verdana" pitchFamily="1" charset="0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533400" y="4670425"/>
            <a:ext cx="6629400" cy="955675"/>
            <a:chOff x="533400" y="5257800"/>
            <a:chExt cx="6629400" cy="955675"/>
          </a:xfrm>
        </p:grpSpPr>
        <p:sp>
          <p:nvSpPr>
            <p:cNvPr id="81926" name="TextBox 6"/>
            <p:cNvSpPr txBox="1">
              <a:spLocks noChangeArrowheads="1"/>
            </p:cNvSpPr>
            <p:nvPr/>
          </p:nvSpPr>
          <p:spPr bwMode="auto">
            <a:xfrm>
              <a:off x="533400" y="5257800"/>
              <a:ext cx="1600200" cy="954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2800" dirty="0">
                  <a:solidFill>
                    <a:srgbClr val="FF3300"/>
                  </a:solidFill>
                  <a:latin typeface="Tahoma" pitchFamily="1" charset="0"/>
                  <a:ea typeface="Tahoma" pitchFamily="1" charset="0"/>
                  <a:cs typeface="Tahoma" pitchFamily="1" charset="0"/>
                </a:rPr>
                <a:t>Given Quantity</a:t>
              </a:r>
            </a:p>
          </p:txBody>
        </p:sp>
        <p:sp>
          <p:nvSpPr>
            <p:cNvPr id="81927" name="TextBox 7"/>
            <p:cNvSpPr txBox="1">
              <a:spLocks noChangeArrowheads="1"/>
            </p:cNvSpPr>
            <p:nvPr/>
          </p:nvSpPr>
          <p:spPr bwMode="auto">
            <a:xfrm>
              <a:off x="5562600" y="5259388"/>
              <a:ext cx="1600200" cy="9540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2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Tahoma" pitchFamily="1" charset="0"/>
                  <a:ea typeface="Tahoma" pitchFamily="1" charset="0"/>
                  <a:cs typeface="Tahoma" pitchFamily="1" charset="0"/>
                </a:rPr>
                <a:t>Desired Quantity</a:t>
              </a:r>
            </a:p>
          </p:txBody>
        </p:sp>
        <p:sp>
          <p:nvSpPr>
            <p:cNvPr id="81928" name="TextBox 8"/>
            <p:cNvSpPr txBox="1">
              <a:spLocks noChangeArrowheads="1"/>
            </p:cNvSpPr>
            <p:nvPr/>
          </p:nvSpPr>
          <p:spPr bwMode="auto">
            <a:xfrm>
              <a:off x="2819400" y="5257800"/>
              <a:ext cx="2209800" cy="954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2800" dirty="0">
                  <a:solidFill>
                    <a:srgbClr val="0033CC"/>
                  </a:solidFill>
                  <a:latin typeface="Tahoma" pitchFamily="1" charset="0"/>
                  <a:ea typeface="Tahoma" pitchFamily="1" charset="0"/>
                  <a:cs typeface="Tahoma" pitchFamily="1" charset="0"/>
                </a:rPr>
                <a:t>Conversion Factor</a:t>
              </a:r>
            </a:p>
          </p:txBody>
        </p:sp>
        <p:sp>
          <p:nvSpPr>
            <p:cNvPr id="81929" name="TextBox 9"/>
            <p:cNvSpPr txBox="1">
              <a:spLocks noChangeArrowheads="1"/>
            </p:cNvSpPr>
            <p:nvPr/>
          </p:nvSpPr>
          <p:spPr bwMode="auto">
            <a:xfrm>
              <a:off x="2209800" y="5334000"/>
              <a:ext cx="482600" cy="584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3200">
                  <a:latin typeface="Tahoma" pitchFamily="1" charset="0"/>
                  <a:ea typeface="Tahoma" pitchFamily="1" charset="0"/>
                  <a:cs typeface="Tahoma" pitchFamily="1" charset="0"/>
                </a:rPr>
                <a:t>×</a:t>
              </a:r>
            </a:p>
          </p:txBody>
        </p:sp>
        <p:sp>
          <p:nvSpPr>
            <p:cNvPr id="81930" name="TextBox 10"/>
            <p:cNvSpPr txBox="1">
              <a:spLocks noChangeArrowheads="1"/>
            </p:cNvSpPr>
            <p:nvPr/>
          </p:nvSpPr>
          <p:spPr bwMode="auto">
            <a:xfrm>
              <a:off x="4927600" y="5334000"/>
              <a:ext cx="482600" cy="584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3200">
                  <a:latin typeface="Tahoma" pitchFamily="1" charset="0"/>
                  <a:ea typeface="Tahoma" pitchFamily="1" charset="0"/>
                  <a:cs typeface="Tahoma" pitchFamily="1" charset="0"/>
                </a:rPr>
                <a:t>=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Conversion Factors</a:t>
            </a:r>
          </a:p>
        </p:txBody>
      </p:sp>
      <p:sp>
        <p:nvSpPr>
          <p:cNvPr id="10245" name="Content Placeholder 2"/>
          <p:cNvSpPr>
            <a:spLocks noGrp="1"/>
          </p:cNvSpPr>
          <p:nvPr>
            <p:ph idx="4294967295"/>
          </p:nvPr>
        </p:nvSpPr>
        <p:spPr>
          <a:xfrm>
            <a:off x="152400" y="762000"/>
            <a:ext cx="8991600" cy="4572000"/>
          </a:xfrm>
        </p:spPr>
        <p:txBody>
          <a:bodyPr/>
          <a:lstStyle/>
          <a:p>
            <a:pPr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Example:</a:t>
            </a:r>
            <a:r>
              <a:rPr lang="en-US" sz="3000" b="1" dirty="0">
                <a:solidFill>
                  <a:schemeClr val="tx2"/>
                </a:solidFill>
                <a:latin typeface="Tahoma" pitchFamily="1" charset="0"/>
                <a:cs typeface="Tahoma" pitchFamily="1" charset="0"/>
              </a:rPr>
              <a:t> 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How to convert a person</a:t>
            </a:r>
            <a:r>
              <a:rPr lang="ja-JP" altLang="en-US" sz="3000" dirty="0">
                <a:latin typeface="Tahoma" pitchFamily="1" charset="0"/>
                <a:cs typeface="Tahoma" pitchFamily="1" charset="0"/>
              </a:rPr>
              <a:t>’</a:t>
            </a:r>
            <a:r>
              <a:rPr lang="en-US" altLang="ja-JP" sz="3000" dirty="0">
                <a:latin typeface="Tahoma" pitchFamily="1" charset="0"/>
                <a:cs typeface="Tahoma" pitchFamily="1" charset="0"/>
              </a:rPr>
              <a:t>s height from 68.0 in to cm?</a:t>
            </a:r>
          </a:p>
          <a:p>
            <a:pPr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altLang="ja-JP" sz="3000" dirty="0">
              <a:latin typeface="Tahoma" pitchFamily="1" charset="0"/>
              <a:cs typeface="Tahoma" pitchFamily="1" charset="0"/>
            </a:endParaRPr>
          </a:p>
          <a:p>
            <a:pPr lvl="1">
              <a:spcBef>
                <a:spcPts val="900"/>
              </a:spcBef>
              <a:buClr>
                <a:schemeClr val="tx1"/>
              </a:buClr>
            </a:pP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Start with fact</a:t>
            </a:r>
          </a:p>
          <a:p>
            <a:pPr lvl="1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		</a:t>
            </a:r>
            <a:r>
              <a:rPr lang="en-US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2.54 cm = 1 in. (</a:t>
            </a:r>
            <a:r>
              <a:rPr lang="en-US" dirty="0">
                <a:solidFill>
                  <a:srgbClr val="FF3300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exact</a:t>
            </a:r>
            <a:r>
              <a:rPr lang="en-US" dirty="0">
                <a:solidFill>
                  <a:srgbClr val="000099"/>
                </a:solidFill>
                <a:latin typeface="Tahoma" pitchFamily="1" charset="0"/>
                <a:ea typeface="Tahoma" pitchFamily="1" charset="0"/>
                <a:cs typeface="Tahoma" pitchFamily="1" charset="0"/>
              </a:rPr>
              <a:t>)</a:t>
            </a:r>
          </a:p>
        </p:txBody>
      </p:sp>
      <p:sp>
        <p:nvSpPr>
          <p:cNvPr id="82948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0991C825-FF37-AA4A-9F45-3FD0D34B4F55}" type="slidenum">
              <a:rPr lang="en-US" sz="1200">
                <a:latin typeface="Verdana" pitchFamily="1" charset="0"/>
              </a:rPr>
              <a:pPr algn="r"/>
              <a:t>50</a:t>
            </a:fld>
            <a:endParaRPr lang="en-US" sz="1200">
              <a:latin typeface="Verdana" pitchFamily="1" charset="0"/>
            </a:endParaRPr>
          </a:p>
        </p:txBody>
      </p:sp>
      <p:sp>
        <p:nvSpPr>
          <p:cNvPr id="3" name="AutoShape 2" descr="Image result for thinking carto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Image result for thinking cartoo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933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4685" y="3752850"/>
            <a:ext cx="1352550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53540" y="5105400"/>
            <a:ext cx="4732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Will this conversion fact make any impact on SF of the result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Dimensional Analysis</a:t>
            </a:r>
          </a:p>
        </p:txBody>
      </p:sp>
      <p:sp>
        <p:nvSpPr>
          <p:cNvPr id="11269" name="Content Placeholder 2"/>
          <p:cNvSpPr>
            <a:spLocks noGrp="1"/>
          </p:cNvSpPr>
          <p:nvPr>
            <p:ph idx="4294967295"/>
          </p:nvPr>
        </p:nvSpPr>
        <p:spPr>
          <a:xfrm>
            <a:off x="152400" y="762000"/>
            <a:ext cx="8991600" cy="4572000"/>
          </a:xfrm>
        </p:spPr>
        <p:txBody>
          <a:bodyPr/>
          <a:lstStyle/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Now multiply original number by conversion factor that cancels old units and leaves new</a:t>
            </a:r>
          </a:p>
          <a:p>
            <a:pPr lvl="1">
              <a:spcBef>
                <a:spcPts val="900"/>
              </a:spcBef>
              <a:buClr>
                <a:schemeClr val="tx1"/>
              </a:buClr>
            </a:pPr>
            <a:endParaRPr lang="en-US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lvl="1">
              <a:spcBef>
                <a:spcPts val="900"/>
              </a:spcBef>
              <a:buClr>
                <a:schemeClr val="tx1"/>
              </a:buClr>
            </a:pPr>
            <a:endParaRPr lang="en-US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lvl="1">
              <a:spcBef>
                <a:spcPts val="900"/>
              </a:spcBef>
              <a:buClr>
                <a:schemeClr val="tx1"/>
              </a:buClr>
            </a:pPr>
            <a:endParaRPr lang="en-US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lvl="1">
              <a:spcBef>
                <a:spcPts val="900"/>
              </a:spcBef>
              <a:buClr>
                <a:schemeClr val="tx1"/>
              </a:buClr>
            </a:pPr>
            <a:endParaRPr lang="en-US" dirty="0">
              <a:latin typeface="Tahoma" pitchFamily="1" charset="0"/>
              <a:ea typeface="Tahoma" pitchFamily="1" charset="0"/>
              <a:cs typeface="Tahoma" pitchFamily="1" charset="0"/>
            </a:endParaRPr>
          </a:p>
        </p:txBody>
      </p:sp>
      <p:sp>
        <p:nvSpPr>
          <p:cNvPr id="83972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F6C2833B-EBD3-F64A-891A-A3887F66E737}" type="slidenum">
              <a:rPr lang="en-US" sz="1200">
                <a:latin typeface="Verdana" pitchFamily="1" charset="0"/>
              </a:rPr>
              <a:pPr algn="r"/>
              <a:t>51</a:t>
            </a:fld>
            <a:endParaRPr lang="en-US" sz="1200">
              <a:latin typeface="Verdana" pitchFamily="1" charset="0"/>
            </a:endParaRPr>
          </a:p>
        </p:txBody>
      </p:sp>
      <p:graphicFrame>
        <p:nvGraphicFramePr>
          <p:cNvPr id="11266" name="Object 3"/>
          <p:cNvGraphicFramePr>
            <a:graphicFrameLocks noChangeAspect="1"/>
          </p:cNvGraphicFramePr>
          <p:nvPr/>
        </p:nvGraphicFramePr>
        <p:xfrm>
          <a:off x="685800" y="2819400"/>
          <a:ext cx="312578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3" imgW="1282700" imgH="406400" progId="Equation.3">
                  <p:embed/>
                </p:oleObj>
              </mc:Choice>
              <mc:Fallback>
                <p:oleObj name="Equation" r:id="rId3" imgW="1282700" imgH="406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819400"/>
                        <a:ext cx="3125788" cy="9906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/>
          <p:cNvCxnSpPr/>
          <p:nvPr/>
        </p:nvCxnSpPr>
        <p:spPr>
          <a:xfrm rot="5400000" flipH="1" flipV="1">
            <a:off x="1600200" y="3124200"/>
            <a:ext cx="457200" cy="4572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5400000" flipH="1" flipV="1">
            <a:off x="2971800" y="3352800"/>
            <a:ext cx="457200" cy="4572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762000" y="1752600"/>
            <a:ext cx="6934200" cy="955675"/>
            <a:chOff x="762000" y="1752600"/>
            <a:chExt cx="6934200" cy="955695"/>
          </a:xfrm>
        </p:grpSpPr>
        <p:sp>
          <p:nvSpPr>
            <p:cNvPr id="83980" name="TextBox 8"/>
            <p:cNvSpPr txBox="1">
              <a:spLocks noChangeArrowheads="1"/>
            </p:cNvSpPr>
            <p:nvPr/>
          </p:nvSpPr>
          <p:spPr bwMode="auto">
            <a:xfrm>
              <a:off x="762000" y="1752600"/>
              <a:ext cx="1905000" cy="954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2800" b="1">
                  <a:solidFill>
                    <a:srgbClr val="000099"/>
                  </a:solidFill>
                  <a:latin typeface="Tahoma" pitchFamily="1" charset="0"/>
                  <a:ea typeface="Tahoma" pitchFamily="1" charset="0"/>
                  <a:cs typeface="Tahoma" pitchFamily="1" charset="0"/>
                </a:rPr>
                <a:t>Given Quantity</a:t>
              </a:r>
            </a:p>
          </p:txBody>
        </p:sp>
        <p:sp>
          <p:nvSpPr>
            <p:cNvPr id="83981" name="TextBox 9"/>
            <p:cNvSpPr txBox="1">
              <a:spLocks noChangeArrowheads="1"/>
            </p:cNvSpPr>
            <p:nvPr/>
          </p:nvSpPr>
          <p:spPr bwMode="auto">
            <a:xfrm>
              <a:off x="5791200" y="1754188"/>
              <a:ext cx="1905000" cy="954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2800" b="1">
                  <a:solidFill>
                    <a:srgbClr val="000099"/>
                  </a:solidFill>
                  <a:latin typeface="Tahoma" pitchFamily="1" charset="0"/>
                  <a:ea typeface="Tahoma" pitchFamily="1" charset="0"/>
                  <a:cs typeface="Tahoma" pitchFamily="1" charset="0"/>
                </a:rPr>
                <a:t>Desired Quantity</a:t>
              </a:r>
            </a:p>
          </p:txBody>
        </p:sp>
        <p:sp>
          <p:nvSpPr>
            <p:cNvPr id="83982" name="TextBox 10"/>
            <p:cNvSpPr txBox="1">
              <a:spLocks noChangeArrowheads="1"/>
            </p:cNvSpPr>
            <p:nvPr/>
          </p:nvSpPr>
          <p:spPr bwMode="auto">
            <a:xfrm>
              <a:off x="2931886" y="1752600"/>
              <a:ext cx="2630714" cy="954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2800" b="1">
                  <a:solidFill>
                    <a:srgbClr val="000099"/>
                  </a:solidFill>
                  <a:latin typeface="Tahoma" pitchFamily="1" charset="0"/>
                  <a:ea typeface="Tahoma" pitchFamily="1" charset="0"/>
                  <a:cs typeface="Tahoma" pitchFamily="1" charset="0"/>
                </a:rPr>
                <a:t>Conversion Factor</a:t>
              </a:r>
            </a:p>
          </p:txBody>
        </p:sp>
        <p:sp>
          <p:nvSpPr>
            <p:cNvPr id="83983" name="TextBox 11"/>
            <p:cNvSpPr txBox="1">
              <a:spLocks noChangeArrowheads="1"/>
            </p:cNvSpPr>
            <p:nvPr/>
          </p:nvSpPr>
          <p:spPr bwMode="auto">
            <a:xfrm>
              <a:off x="2427408" y="1828800"/>
              <a:ext cx="620592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3200" b="1">
                  <a:solidFill>
                    <a:srgbClr val="000099"/>
                  </a:solidFill>
                  <a:latin typeface="Tahoma" pitchFamily="1" charset="0"/>
                  <a:ea typeface="Tahoma" pitchFamily="1" charset="0"/>
                  <a:cs typeface="Tahoma" pitchFamily="1" charset="0"/>
                </a:rPr>
                <a:t>×</a:t>
              </a:r>
            </a:p>
          </p:txBody>
        </p:sp>
        <p:sp>
          <p:nvSpPr>
            <p:cNvPr id="83984" name="TextBox 12"/>
            <p:cNvSpPr txBox="1">
              <a:spLocks noChangeArrowheads="1"/>
            </p:cNvSpPr>
            <p:nvPr/>
          </p:nvSpPr>
          <p:spPr bwMode="auto">
            <a:xfrm>
              <a:off x="5181600" y="1828800"/>
              <a:ext cx="620592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3200" b="1">
                  <a:solidFill>
                    <a:srgbClr val="000099"/>
                  </a:solidFill>
                  <a:latin typeface="Tahoma" pitchFamily="1" charset="0"/>
                  <a:ea typeface="Tahoma" pitchFamily="1" charset="0"/>
                  <a:cs typeface="Tahoma" pitchFamily="1" charset="0"/>
                </a:rPr>
                <a:t>=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962400" y="3048000"/>
            <a:ext cx="1909763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= 173 cm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Using Dimensional Analysis</a:t>
            </a:r>
          </a:p>
        </p:txBody>
      </p:sp>
      <p:sp>
        <p:nvSpPr>
          <p:cNvPr id="12294" name="Content Placeholder 2"/>
          <p:cNvSpPr>
            <a:spLocks noGrp="1"/>
          </p:cNvSpPr>
          <p:nvPr>
            <p:ph idx="4294967295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Example:</a:t>
            </a:r>
            <a:r>
              <a:rPr lang="en-US" sz="3000" b="1" dirty="0">
                <a:solidFill>
                  <a:schemeClr val="tx2"/>
                </a:solidFill>
                <a:latin typeface="Tahoma" pitchFamily="1" charset="0"/>
                <a:cs typeface="Tahoma" pitchFamily="1" charset="0"/>
              </a:rPr>
              <a:t> 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Convert 0.097 </a:t>
            </a:r>
            <a:r>
              <a:rPr lang="en-US" sz="3000" dirty="0" err="1">
                <a:latin typeface="Tahoma" pitchFamily="1" charset="0"/>
                <a:cs typeface="Tahoma" pitchFamily="1" charset="0"/>
              </a:rPr>
              <a:t>m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 to mm.</a:t>
            </a:r>
          </a:p>
          <a:p>
            <a:pPr>
              <a:spcBef>
                <a:spcPts val="900"/>
              </a:spcBef>
              <a:buClr>
                <a:schemeClr val="tx1"/>
              </a:buClr>
            </a:pPr>
            <a:endParaRPr lang="en-US" sz="3000" dirty="0">
              <a:latin typeface="Tahoma" pitchFamily="1" charset="0"/>
              <a:cs typeface="Tahoma" pitchFamily="1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Relationship is	1 mm = 1 × 10</a:t>
            </a:r>
            <a:r>
              <a:rPr lang="en-US" sz="3000" baseline="30000" dirty="0">
                <a:latin typeface="Arial" pitchFamily="1" charset="0"/>
                <a:ea typeface="Arial" pitchFamily="1" charset="0"/>
                <a:cs typeface="Arial" pitchFamily="1" charset="0"/>
              </a:rPr>
              <a:t>–3</a:t>
            </a:r>
            <a:r>
              <a:rPr lang="en-US" sz="3000" dirty="0">
                <a:latin typeface="Arial" pitchFamily="1" charset="0"/>
                <a:ea typeface="Arial" pitchFamily="1" charset="0"/>
                <a:cs typeface="Arial" pitchFamily="1" charset="0"/>
              </a:rPr>
              <a:t> m</a:t>
            </a:r>
          </a:p>
          <a:p>
            <a:pPr>
              <a:spcBef>
                <a:spcPts val="900"/>
              </a:spcBef>
              <a:buClr>
                <a:schemeClr val="tx1"/>
              </a:buClr>
            </a:pPr>
            <a:endParaRPr lang="en-US" sz="3000" dirty="0"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</a:pPr>
            <a:endParaRPr lang="en-US" sz="3000" dirty="0"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3000" dirty="0">
                <a:latin typeface="Arial" pitchFamily="1" charset="0"/>
                <a:ea typeface="Arial" pitchFamily="1" charset="0"/>
                <a:cs typeface="Arial" pitchFamily="1" charset="0"/>
              </a:rPr>
              <a:t>Since going from </a:t>
            </a:r>
            <a:r>
              <a:rPr lang="en-US" sz="3000" b="1" dirty="0">
                <a:latin typeface="Arial" pitchFamily="1" charset="0"/>
                <a:ea typeface="Arial" pitchFamily="1" charset="0"/>
                <a:cs typeface="Arial" pitchFamily="1" charset="0"/>
              </a:rPr>
              <a:t>m</a:t>
            </a:r>
            <a:r>
              <a:rPr lang="en-US" sz="3000" dirty="0">
                <a:latin typeface="Arial" pitchFamily="1" charset="0"/>
                <a:ea typeface="Arial" pitchFamily="1" charset="0"/>
                <a:cs typeface="Arial" pitchFamily="1" charset="0"/>
              </a:rPr>
              <a:t> to </a:t>
            </a:r>
            <a:r>
              <a:rPr lang="en-US" sz="3000" b="1" dirty="0">
                <a:latin typeface="Arial" pitchFamily="1" charset="0"/>
                <a:ea typeface="Arial" pitchFamily="1" charset="0"/>
                <a:cs typeface="Arial" pitchFamily="1" charset="0"/>
              </a:rPr>
              <a:t>mm</a:t>
            </a:r>
            <a:r>
              <a:rPr lang="en-US" sz="3000" dirty="0">
                <a:latin typeface="Arial" pitchFamily="1" charset="0"/>
                <a:ea typeface="Arial" pitchFamily="1" charset="0"/>
                <a:cs typeface="Arial" pitchFamily="1" charset="0"/>
              </a:rPr>
              <a:t> use one on left.</a:t>
            </a:r>
          </a:p>
          <a:p>
            <a:pPr>
              <a:spcBef>
                <a:spcPts val="900"/>
              </a:spcBef>
              <a:buClr>
                <a:schemeClr val="tx1"/>
              </a:buClr>
            </a:pPr>
            <a:endParaRPr lang="en-US" sz="3000" dirty="0"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</a:pPr>
            <a:endParaRPr lang="en-US" sz="3000" dirty="0">
              <a:latin typeface="Tahoma" pitchFamily="1" charset="0"/>
              <a:cs typeface="Tahoma" pitchFamily="1" charset="0"/>
            </a:endParaRPr>
          </a:p>
        </p:txBody>
      </p:sp>
      <p:sp>
        <p:nvSpPr>
          <p:cNvPr id="84996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E1A3C2B0-2099-2840-BB67-625E8C7BE3E6}" type="slidenum">
              <a:rPr lang="en-US" sz="1200">
                <a:latin typeface="Verdana" pitchFamily="1" charset="0"/>
              </a:rPr>
              <a:pPr algn="r"/>
              <a:t>52</a:t>
            </a:fld>
            <a:endParaRPr lang="en-US" sz="1200">
              <a:latin typeface="Verdana" pitchFamily="1" charset="0"/>
            </a:endParaRPr>
          </a:p>
        </p:txBody>
      </p:sp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685800" y="4343400"/>
          <a:ext cx="3328988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3" imgW="1435100" imgH="431800" progId="Equation.3">
                  <p:embed/>
                </p:oleObj>
              </mc:Choice>
              <mc:Fallback>
                <p:oleObj name="Equation" r:id="rId3" imgW="14351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343400"/>
                        <a:ext cx="3328988" cy="10017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/>
          <p:cNvCxnSpPr/>
          <p:nvPr/>
        </p:nvCxnSpPr>
        <p:spPr>
          <a:xfrm rot="5400000" flipH="1" flipV="1">
            <a:off x="1600200" y="4572000"/>
            <a:ext cx="457200" cy="4572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5400000" flipH="1" flipV="1">
            <a:off x="3581400" y="4953000"/>
            <a:ext cx="457200" cy="4572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14800" y="4572000"/>
            <a:ext cx="1679575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= 97 cm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Learning Check</a:t>
            </a:r>
          </a:p>
        </p:txBody>
      </p:sp>
      <p:sp>
        <p:nvSpPr>
          <p:cNvPr id="13318" name="Content Placeholder 2"/>
          <p:cNvSpPr>
            <a:spLocks noGrp="1"/>
          </p:cNvSpPr>
          <p:nvPr>
            <p:ph idx="4294967295"/>
          </p:nvPr>
        </p:nvSpPr>
        <p:spPr>
          <a:xfrm>
            <a:off x="228600" y="762000"/>
            <a:ext cx="8610600" cy="5791200"/>
          </a:xfrm>
        </p:spPr>
        <p:txBody>
          <a:bodyPr/>
          <a:lstStyle/>
          <a:p>
            <a:pPr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b="1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Example:</a:t>
            </a:r>
            <a:r>
              <a:rPr lang="en-US" sz="3000" b="1" dirty="0">
                <a:solidFill>
                  <a:schemeClr val="tx2"/>
                </a:solidFill>
                <a:latin typeface="Tahoma" pitchFamily="1" charset="0"/>
                <a:cs typeface="Tahoma" pitchFamily="1" charset="0"/>
              </a:rPr>
              <a:t> 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Convert 3.5 m</a:t>
            </a:r>
            <a:r>
              <a:rPr lang="en-US" sz="3000" baseline="30000" dirty="0">
                <a:latin typeface="Tahoma" pitchFamily="1" charset="0"/>
                <a:cs typeface="Tahoma" pitchFamily="1" charset="0"/>
              </a:rPr>
              <a:t>3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 to cm</a:t>
            </a:r>
            <a:r>
              <a:rPr lang="en-US" sz="3000" baseline="30000" dirty="0">
                <a:latin typeface="Tahoma" pitchFamily="1" charset="0"/>
                <a:cs typeface="Tahoma" pitchFamily="1" charset="0"/>
              </a:rPr>
              <a:t>3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.</a:t>
            </a:r>
          </a:p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2800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Start with basic equality   1 cm = 0.01 </a:t>
            </a:r>
            <a:r>
              <a:rPr lang="en-US" sz="2800" dirty="0" err="1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m</a:t>
            </a:r>
            <a:endParaRPr lang="en-US" sz="2800" dirty="0">
              <a:solidFill>
                <a:srgbClr val="000099"/>
              </a:solidFill>
              <a:latin typeface="Tahoma" pitchFamily="1" charset="0"/>
              <a:cs typeface="Tahoma" pitchFamily="1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</a:pPr>
            <a:endParaRPr lang="en-US" sz="2800" dirty="0">
              <a:solidFill>
                <a:srgbClr val="000099"/>
              </a:solidFill>
              <a:latin typeface="Tahoma" pitchFamily="1" charset="0"/>
              <a:cs typeface="Tahoma" pitchFamily="1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2800" dirty="0">
                <a:solidFill>
                  <a:srgbClr val="000099"/>
                </a:solidFill>
                <a:latin typeface="Tahoma" pitchFamily="1" charset="0"/>
                <a:cs typeface="Tahoma" pitchFamily="1" charset="0"/>
              </a:rPr>
              <a:t>Now cube both sides</a:t>
            </a:r>
          </a:p>
          <a:p>
            <a:pPr lvl="1">
              <a:spcBef>
                <a:spcPts val="900"/>
              </a:spcBef>
              <a:buClr>
                <a:schemeClr val="tx1"/>
              </a:buClr>
            </a:pP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Units and numbers</a:t>
            </a:r>
          </a:p>
          <a:p>
            <a:pPr lvl="1">
              <a:spcBef>
                <a:spcPts val="900"/>
              </a:spcBef>
              <a:buClr>
                <a:schemeClr val="tx1"/>
              </a:buClr>
            </a:pP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(1 cm)</a:t>
            </a:r>
            <a:r>
              <a:rPr lang="en-US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3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 = (0.01 m)</a:t>
            </a:r>
            <a:r>
              <a:rPr lang="en-US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3</a:t>
            </a:r>
            <a:endParaRPr lang="en-US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lvl="1">
              <a:spcBef>
                <a:spcPts val="900"/>
              </a:spcBef>
              <a:buClr>
                <a:schemeClr val="tx1"/>
              </a:buClr>
            </a:pP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1 cm</a:t>
            </a:r>
            <a:r>
              <a:rPr lang="en-US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3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 = 1 × 10</a:t>
            </a:r>
            <a:r>
              <a:rPr lang="en-US" baseline="30000" dirty="0">
                <a:latin typeface="Arial" pitchFamily="1" charset="0"/>
                <a:ea typeface="MS PGothic" pitchFamily="34" charset="-128"/>
                <a:cs typeface="MS PGothic" pitchFamily="34" charset="-128"/>
              </a:rPr>
              <a:t>–6</a:t>
            </a:r>
            <a:r>
              <a:rPr lang="en-US" dirty="0">
                <a:latin typeface="Arial" pitchFamily="1" charset="0"/>
                <a:ea typeface="MS PGothic" pitchFamily="34" charset="-128"/>
                <a:cs typeface="MS PGothic" pitchFamily="34" charset="-128"/>
              </a:rPr>
              <a:t> m</a:t>
            </a:r>
            <a:r>
              <a:rPr lang="en-US" baseline="30000" dirty="0">
                <a:latin typeface="Arial" pitchFamily="1" charset="0"/>
                <a:ea typeface="MS PGothic" pitchFamily="34" charset="-128"/>
                <a:cs typeface="MS PGothic" pitchFamily="34" charset="-128"/>
              </a:rPr>
              <a:t>3</a:t>
            </a:r>
          </a:p>
        </p:txBody>
      </p:sp>
      <p:sp>
        <p:nvSpPr>
          <p:cNvPr id="86020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C2CDCFDC-4AEE-4048-A293-932EB6711329}" type="slidenum">
              <a:rPr lang="en-US" sz="1200">
                <a:latin typeface="Verdana" pitchFamily="1" charset="0"/>
              </a:rPr>
              <a:pPr algn="r"/>
              <a:t>53</a:t>
            </a:fld>
            <a:endParaRPr lang="en-US" sz="1200">
              <a:latin typeface="Verdana" pitchFamily="1" charset="0"/>
            </a:endParaRPr>
          </a:p>
        </p:txBody>
      </p:sp>
      <p:graphicFrame>
        <p:nvGraphicFramePr>
          <p:cNvPr id="13314" name="Object 3"/>
          <p:cNvGraphicFramePr>
            <a:graphicFrameLocks noChangeAspect="1"/>
          </p:cNvGraphicFramePr>
          <p:nvPr/>
        </p:nvGraphicFramePr>
        <p:xfrm>
          <a:off x="609600" y="5462588"/>
          <a:ext cx="3681413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3" imgW="1587500" imgH="469900" progId="Equation.3">
                  <p:embed/>
                </p:oleObj>
              </mc:Choice>
              <mc:Fallback>
                <p:oleObj name="Equation" r:id="rId3" imgW="1587500" imgH="469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462588"/>
                        <a:ext cx="3681413" cy="109061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419600" y="5715000"/>
            <a:ext cx="27670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C00000"/>
                </a:solidFill>
                <a:latin typeface="Tahoma" pitchFamily="1" charset="0"/>
              </a:rPr>
              <a:t>3.5 × 10</a:t>
            </a:r>
            <a:r>
              <a:rPr lang="en-US" sz="2800" b="1" baseline="30000">
                <a:solidFill>
                  <a:srgbClr val="C00000"/>
                </a:solidFill>
                <a:latin typeface="Tahoma" pitchFamily="1" charset="0"/>
              </a:rPr>
              <a:t>6</a:t>
            </a:r>
            <a:r>
              <a:rPr lang="en-US" sz="2800" b="1">
                <a:solidFill>
                  <a:srgbClr val="C00000"/>
                </a:solidFill>
                <a:latin typeface="Tahoma" pitchFamily="1" charset="0"/>
              </a:rPr>
              <a:t> cm</a:t>
            </a:r>
            <a:r>
              <a:rPr lang="en-US" sz="2800" b="1" baseline="30000">
                <a:solidFill>
                  <a:srgbClr val="C00000"/>
                </a:solidFill>
                <a:latin typeface="Tahoma" pitchFamily="1" charset="0"/>
              </a:rPr>
              <a:t>3</a:t>
            </a:r>
            <a:r>
              <a:rPr lang="en-US" sz="2800" b="1">
                <a:solidFill>
                  <a:srgbClr val="C00000"/>
                </a:solidFill>
                <a:latin typeface="Tahoma" pitchFamily="1" charset="0"/>
              </a:rPr>
              <a:t> </a:t>
            </a:r>
          </a:p>
        </p:txBody>
      </p:sp>
      <p:cxnSp>
        <p:nvCxnSpPr>
          <p:cNvPr id="11" name="Straight Connector 10"/>
          <p:cNvCxnSpPr/>
          <p:nvPr/>
        </p:nvCxnSpPr>
        <p:spPr>
          <a:xfrm rot="5400000" flipH="1" flipV="1">
            <a:off x="1219200" y="5791200"/>
            <a:ext cx="457200" cy="4572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 flipH="1" flipV="1">
            <a:off x="3352800" y="6096000"/>
            <a:ext cx="457200" cy="4572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/>
          <p:cNvSpPr>
            <a:spLocks/>
          </p:cNvSpPr>
          <p:nvPr/>
        </p:nvSpPr>
        <p:spPr bwMode="auto">
          <a:xfrm>
            <a:off x="152400" y="76200"/>
            <a:ext cx="8839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4000" b="1">
                <a:latin typeface="Tahoma" pitchFamily="1" charset="0"/>
                <a:ea typeface="Tahoma" pitchFamily="1" charset="0"/>
                <a:cs typeface="Tahoma" pitchFamily="1" charset="0"/>
              </a:rPr>
              <a:t>Your Turn!</a:t>
            </a:r>
          </a:p>
        </p:txBody>
      </p:sp>
      <p:sp>
        <p:nvSpPr>
          <p:cNvPr id="3" name="Content Placeholder 2"/>
          <p:cNvSpPr>
            <a:spLocks/>
          </p:cNvSpPr>
          <p:nvPr/>
        </p:nvSpPr>
        <p:spPr bwMode="auto">
          <a:xfrm>
            <a:off x="152400" y="762000"/>
            <a:ext cx="8991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The volume of a basketball is 433.5 in</a:t>
            </a:r>
            <a:r>
              <a:rPr lang="en-US" sz="3000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3</a:t>
            </a: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. Convert this to mm</a:t>
            </a:r>
            <a:r>
              <a:rPr lang="en-US" sz="3000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3</a:t>
            </a: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. </a:t>
            </a: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1200" dirty="0">
                <a:latin typeface="Tahoma" pitchFamily="1" charset="0"/>
                <a:ea typeface="Tahoma" pitchFamily="1" charset="0"/>
                <a:cs typeface="Tahoma" pitchFamily="1" charset="0"/>
              </a:rPr>
              <a:t>	 </a:t>
            </a: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 1.101 </a:t>
            </a:r>
            <a:r>
              <a:rPr lang="en-US" sz="3000" dirty="0" err="1">
                <a:latin typeface="Tahoma" pitchFamily="1" charset="0"/>
                <a:ea typeface="Tahoma" pitchFamily="1" charset="0"/>
                <a:cs typeface="Tahoma" pitchFamily="1" charset="0"/>
                <a:sym typeface="Symbol" pitchFamily="1" charset="2"/>
              </a:rPr>
              <a:t></a:t>
            </a: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 10</a:t>
            </a:r>
            <a:r>
              <a:rPr lang="en-US" sz="3000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-2</a:t>
            </a: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 mm</a:t>
            </a:r>
            <a:r>
              <a:rPr lang="en-US" sz="3000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3</a:t>
            </a: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 7.104 </a:t>
            </a:r>
            <a:r>
              <a:rPr lang="en-US" sz="3000" dirty="0" err="1">
                <a:latin typeface="Tahoma" pitchFamily="1" charset="0"/>
                <a:ea typeface="Tahoma" pitchFamily="1" charset="0"/>
                <a:cs typeface="Tahoma" pitchFamily="1" charset="0"/>
                <a:sym typeface="Symbol" pitchFamily="1" charset="2"/>
              </a:rPr>
              <a:t></a:t>
            </a: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 10</a:t>
            </a:r>
            <a:r>
              <a:rPr lang="en-US" sz="3000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6</a:t>
            </a: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 mm</a:t>
            </a:r>
            <a:r>
              <a:rPr lang="en-US" sz="3000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3</a:t>
            </a:r>
            <a:endParaRPr lang="en-US" sz="3000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 7.104 </a:t>
            </a:r>
            <a:r>
              <a:rPr lang="en-US" sz="3000" dirty="0" err="1">
                <a:latin typeface="Tahoma" pitchFamily="1" charset="0"/>
                <a:ea typeface="Tahoma" pitchFamily="1" charset="0"/>
                <a:cs typeface="Tahoma" pitchFamily="1" charset="0"/>
                <a:sym typeface="Symbol" pitchFamily="1" charset="2"/>
              </a:rPr>
              <a:t></a:t>
            </a: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 10</a:t>
            </a:r>
            <a:r>
              <a:rPr lang="en-US" sz="3000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4</a:t>
            </a: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 mm</a:t>
            </a:r>
            <a:r>
              <a:rPr lang="en-US" sz="3000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3</a:t>
            </a: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 </a:t>
            </a: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 1.101 </a:t>
            </a:r>
            <a:r>
              <a:rPr lang="en-US" sz="3000" dirty="0" err="1">
                <a:latin typeface="Tahoma" pitchFamily="1" charset="0"/>
                <a:ea typeface="Tahoma" pitchFamily="1" charset="0"/>
                <a:cs typeface="Tahoma" pitchFamily="1" charset="0"/>
                <a:sym typeface="Symbol" pitchFamily="1" charset="2"/>
              </a:rPr>
              <a:t></a:t>
            </a: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 10</a:t>
            </a:r>
            <a:r>
              <a:rPr lang="en-US" sz="3000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4</a:t>
            </a: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 mm</a:t>
            </a:r>
            <a:r>
              <a:rPr lang="en-US" sz="3000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3</a:t>
            </a: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3000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 </a:t>
            </a: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1.101 </a:t>
            </a:r>
            <a:r>
              <a:rPr lang="en-US" sz="3000" dirty="0" err="1">
                <a:latin typeface="Tahoma" pitchFamily="1" charset="0"/>
                <a:ea typeface="Tahoma" pitchFamily="1" charset="0"/>
                <a:cs typeface="Tahoma" pitchFamily="1" charset="0"/>
                <a:sym typeface="Symbol" pitchFamily="1" charset="2"/>
              </a:rPr>
              <a:t></a:t>
            </a: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 10</a:t>
            </a:r>
            <a:r>
              <a:rPr lang="en-US" sz="3000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6</a:t>
            </a:r>
            <a:r>
              <a:rPr lang="en-US" sz="3000" dirty="0">
                <a:latin typeface="Tahoma" pitchFamily="1" charset="0"/>
                <a:ea typeface="Tahoma" pitchFamily="1" charset="0"/>
                <a:cs typeface="Tahoma" pitchFamily="1" charset="0"/>
              </a:rPr>
              <a:t> mm</a:t>
            </a:r>
            <a:r>
              <a:rPr lang="en-US" sz="3000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3</a:t>
            </a:r>
            <a:endParaRPr lang="en-US" sz="3000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Tahoma" pitchFamily="1" charset="0"/>
              <a:buNone/>
            </a:pPr>
            <a:endParaRPr lang="en-US" sz="3000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sz="3000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eaLnBrk="0" hangingPunc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endParaRPr lang="en-US" sz="3000" dirty="0">
              <a:latin typeface="Tahoma" pitchFamily="1" charset="0"/>
              <a:ea typeface="Tahoma" pitchFamily="1" charset="0"/>
              <a:cs typeface="Tahoma" pitchFamily="1" charset="0"/>
            </a:endParaRPr>
          </a:p>
        </p:txBody>
      </p:sp>
      <p:sp>
        <p:nvSpPr>
          <p:cNvPr id="89092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9A82EC30-3225-3A4B-8D12-1827970E301B}" type="slidenum">
              <a:rPr lang="en-US" sz="1200">
                <a:latin typeface="Verdana" pitchFamily="1" charset="0"/>
              </a:rPr>
              <a:pPr algn="r"/>
              <a:t>54</a:t>
            </a:fld>
            <a:endParaRPr lang="en-US" sz="1200">
              <a:latin typeface="Verdana" pitchFamily="1" charset="0"/>
            </a:endParaRPr>
          </a:p>
        </p:txBody>
      </p:sp>
      <p:graphicFrame>
        <p:nvGraphicFramePr>
          <p:cNvPr id="105475" name="Object 3"/>
          <p:cNvGraphicFramePr>
            <a:graphicFrameLocks noChangeAspect="1"/>
          </p:cNvGraphicFramePr>
          <p:nvPr/>
        </p:nvGraphicFramePr>
        <p:xfrm>
          <a:off x="609600" y="5105400"/>
          <a:ext cx="7620000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3" imgW="2641600" imgH="406400" progId="Equation.3">
                  <p:embed/>
                </p:oleObj>
              </mc:Choice>
              <mc:Fallback>
                <p:oleObj name="Equation" r:id="rId3" imgW="2641600" imgH="406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105400"/>
                        <a:ext cx="7620000" cy="11731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0291" name="Group 19"/>
          <p:cNvGrpSpPr>
            <a:grpSpLocks/>
          </p:cNvGrpSpPr>
          <p:nvPr/>
        </p:nvGrpSpPr>
        <p:grpSpPr bwMode="auto">
          <a:xfrm>
            <a:off x="3276600" y="5135563"/>
            <a:ext cx="2743200" cy="1066800"/>
            <a:chOff x="2064" y="3360"/>
            <a:chExt cx="1728" cy="672"/>
          </a:xfrm>
        </p:grpSpPr>
        <p:cxnSp>
          <p:nvCxnSpPr>
            <p:cNvPr id="7" name="Straight Connector 6"/>
            <p:cNvCxnSpPr/>
            <p:nvPr/>
          </p:nvCxnSpPr>
          <p:spPr>
            <a:xfrm rot="5400000" flipH="1" flipV="1">
              <a:off x="3264" y="3744"/>
              <a:ext cx="288" cy="288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rot="5400000" flipH="1" flipV="1">
              <a:off x="2064" y="3456"/>
              <a:ext cx="288" cy="288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105" name="Straight Connector 9"/>
            <p:cNvCxnSpPr>
              <a:cxnSpLocks noChangeShapeType="1"/>
            </p:cNvCxnSpPr>
            <p:nvPr/>
          </p:nvCxnSpPr>
          <p:spPr bwMode="auto">
            <a:xfrm rot="5400000" flipH="1" flipV="1">
              <a:off x="3600" y="3360"/>
              <a:ext cx="192" cy="19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</p:cxnSp>
      </p:grpSp>
      <p:grpSp>
        <p:nvGrpSpPr>
          <p:cNvPr id="310292" name="Group 20"/>
          <p:cNvGrpSpPr>
            <a:grpSpLocks/>
          </p:cNvGrpSpPr>
          <p:nvPr/>
        </p:nvGrpSpPr>
        <p:grpSpPr bwMode="auto">
          <a:xfrm>
            <a:off x="4876800" y="5135563"/>
            <a:ext cx="3429000" cy="1066800"/>
            <a:chOff x="3072" y="3360"/>
            <a:chExt cx="2160" cy="672"/>
          </a:xfrm>
        </p:grpSpPr>
        <p:cxnSp>
          <p:nvCxnSpPr>
            <p:cNvPr id="89100" name="Straight Connector 8"/>
            <p:cNvCxnSpPr>
              <a:cxnSpLocks noChangeShapeType="1"/>
            </p:cNvCxnSpPr>
            <p:nvPr/>
          </p:nvCxnSpPr>
          <p:spPr bwMode="auto">
            <a:xfrm rot="5400000" flipH="1" flipV="1">
              <a:off x="4368" y="3744"/>
              <a:ext cx="288" cy="288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</p:spPr>
        </p:cxnSp>
        <p:cxnSp>
          <p:nvCxnSpPr>
            <p:cNvPr id="89101" name="Straight Connector 9"/>
            <p:cNvCxnSpPr>
              <a:cxnSpLocks noChangeShapeType="1"/>
            </p:cNvCxnSpPr>
            <p:nvPr/>
          </p:nvCxnSpPr>
          <p:spPr bwMode="auto">
            <a:xfrm rot="5400000" flipH="1" flipV="1">
              <a:off x="5040" y="3360"/>
              <a:ext cx="192" cy="192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</p:spPr>
        </p:cxnSp>
        <p:cxnSp>
          <p:nvCxnSpPr>
            <p:cNvPr id="89102" name="Straight Connector 8"/>
            <p:cNvCxnSpPr>
              <a:cxnSpLocks noChangeShapeType="1"/>
            </p:cNvCxnSpPr>
            <p:nvPr/>
          </p:nvCxnSpPr>
          <p:spPr bwMode="auto">
            <a:xfrm rot="5400000" flipH="1" flipV="1">
              <a:off x="3072" y="3408"/>
              <a:ext cx="288" cy="288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</p:spPr>
        </p:cxnSp>
      </p:grpSp>
      <p:grpSp>
        <p:nvGrpSpPr>
          <p:cNvPr id="310290" name="Group 18"/>
          <p:cNvGrpSpPr>
            <a:grpSpLocks/>
          </p:cNvGrpSpPr>
          <p:nvPr/>
        </p:nvGrpSpPr>
        <p:grpSpPr bwMode="auto">
          <a:xfrm>
            <a:off x="1600200" y="5135563"/>
            <a:ext cx="2514600" cy="1143000"/>
            <a:chOff x="1008" y="3360"/>
            <a:chExt cx="1584" cy="720"/>
          </a:xfrm>
        </p:grpSpPr>
        <p:cxnSp>
          <p:nvCxnSpPr>
            <p:cNvPr id="10" name="Straight Connector 9"/>
            <p:cNvCxnSpPr/>
            <p:nvPr/>
          </p:nvCxnSpPr>
          <p:spPr>
            <a:xfrm rot="5400000" flipH="1" flipV="1">
              <a:off x="1776" y="3792"/>
              <a:ext cx="288" cy="288"/>
            </a:xfrm>
            <a:prstGeom prst="line">
              <a:avLst/>
            </a:prstGeom>
            <a:ln w="38100">
              <a:solidFill>
                <a:srgbClr val="00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9"/>
            <p:cNvCxnSpPr/>
            <p:nvPr/>
          </p:nvCxnSpPr>
          <p:spPr>
            <a:xfrm rot="5400000" flipH="1" flipV="1">
              <a:off x="2400" y="3360"/>
              <a:ext cx="192" cy="192"/>
            </a:xfrm>
            <a:prstGeom prst="line">
              <a:avLst/>
            </a:prstGeom>
            <a:ln w="38100">
              <a:solidFill>
                <a:srgbClr val="00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9"/>
            <p:cNvCxnSpPr/>
            <p:nvPr/>
          </p:nvCxnSpPr>
          <p:spPr>
            <a:xfrm rot="5400000" flipH="1" flipV="1">
              <a:off x="1008" y="3552"/>
              <a:ext cx="288" cy="288"/>
            </a:xfrm>
            <a:prstGeom prst="line">
              <a:avLst/>
            </a:prstGeom>
            <a:ln w="38100">
              <a:solidFill>
                <a:srgbClr val="00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Density</a:t>
            </a:r>
          </a:p>
        </p:txBody>
      </p:sp>
      <p:sp>
        <p:nvSpPr>
          <p:cNvPr id="16389" name="Content Placeholder 2"/>
          <p:cNvSpPr>
            <a:spLocks noGrp="1"/>
          </p:cNvSpPr>
          <p:nvPr>
            <p:ph idx="4294967295"/>
          </p:nvPr>
        </p:nvSpPr>
        <p:spPr>
          <a:xfrm>
            <a:off x="321212" y="1521656"/>
            <a:ext cx="8991600" cy="4572000"/>
          </a:xfrm>
        </p:spPr>
        <p:txBody>
          <a:bodyPr/>
          <a:lstStyle/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Ratio of object</a:t>
            </a:r>
            <a:r>
              <a:rPr lang="ja-JP" altLang="en-US" sz="3000" dirty="0">
                <a:latin typeface="Tahoma" pitchFamily="1" charset="0"/>
                <a:cs typeface="Tahoma" pitchFamily="1" charset="0"/>
              </a:rPr>
              <a:t>’</a:t>
            </a:r>
            <a:r>
              <a:rPr lang="en-US" altLang="ja-JP" sz="3000" dirty="0">
                <a:latin typeface="Tahoma" pitchFamily="1" charset="0"/>
                <a:cs typeface="Tahoma" pitchFamily="1" charset="0"/>
              </a:rPr>
              <a:t>s mass to its volume</a:t>
            </a:r>
          </a:p>
          <a:p>
            <a:pPr lvl="1">
              <a:spcBef>
                <a:spcPts val="900"/>
              </a:spcBef>
              <a:buClr>
                <a:schemeClr val="tx1"/>
              </a:buClr>
            </a:pPr>
            <a:endParaRPr lang="en-US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 lvl="1">
              <a:spcBef>
                <a:spcPts val="900"/>
              </a:spcBef>
              <a:buClr>
                <a:schemeClr val="tx1"/>
              </a:buClr>
            </a:pPr>
            <a:endParaRPr lang="en-US" dirty="0">
              <a:latin typeface="Tahoma" pitchFamily="1" charset="0"/>
              <a:ea typeface="Tahoma" pitchFamily="1" charset="0"/>
              <a:cs typeface="Tahoma" pitchFamily="1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</a:pPr>
            <a:endParaRPr lang="en-US" sz="3000" dirty="0">
              <a:latin typeface="Tahoma" pitchFamily="1" charset="0"/>
              <a:cs typeface="Tahoma" pitchFamily="1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Units </a:t>
            </a:r>
          </a:p>
          <a:p>
            <a:pPr lvl="1">
              <a:spcBef>
                <a:spcPts val="900"/>
              </a:spcBef>
              <a:buClr>
                <a:schemeClr val="tx1"/>
              </a:buClr>
            </a:pPr>
            <a:r>
              <a:rPr lang="en-US" b="1" dirty="0">
                <a:latin typeface="Tahoma" pitchFamily="1" charset="0"/>
                <a:ea typeface="Tahoma" pitchFamily="1" charset="0"/>
                <a:cs typeface="Tahoma" pitchFamily="1" charset="0"/>
              </a:rPr>
              <a:t>g/mL </a:t>
            </a:r>
            <a:r>
              <a:rPr lang="en-US" dirty="0">
                <a:latin typeface="Tahoma" pitchFamily="1" charset="0"/>
                <a:ea typeface="Tahoma" pitchFamily="1" charset="0"/>
                <a:cs typeface="Tahoma" pitchFamily="1" charset="0"/>
              </a:rPr>
              <a:t>or </a:t>
            </a:r>
            <a:r>
              <a:rPr lang="en-US" b="1" dirty="0">
                <a:latin typeface="Tahoma" pitchFamily="1" charset="0"/>
                <a:ea typeface="Tahoma" pitchFamily="1" charset="0"/>
                <a:cs typeface="Tahoma" pitchFamily="1" charset="0"/>
              </a:rPr>
              <a:t>g/cm</a:t>
            </a:r>
            <a:r>
              <a:rPr lang="en-US" b="1" baseline="30000" dirty="0">
                <a:latin typeface="Tahoma" pitchFamily="1" charset="0"/>
                <a:ea typeface="Tahoma" pitchFamily="1" charset="0"/>
                <a:cs typeface="Tahoma" pitchFamily="1" charset="0"/>
              </a:rPr>
              <a:t>3</a:t>
            </a:r>
          </a:p>
          <a:p>
            <a:pPr>
              <a:spcBef>
                <a:spcPts val="900"/>
              </a:spcBef>
              <a:buClr>
                <a:schemeClr val="tx1"/>
              </a:buClr>
            </a:pPr>
            <a:endParaRPr lang="en-US" sz="3000" dirty="0">
              <a:latin typeface="Tahoma" pitchFamily="1" charset="0"/>
              <a:cs typeface="Tahoma" pitchFamily="1" charset="0"/>
            </a:endParaRPr>
          </a:p>
        </p:txBody>
      </p:sp>
      <p:sp>
        <p:nvSpPr>
          <p:cNvPr id="90116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A574D6E8-4210-A949-B893-0D1EE5EC08DC}" type="slidenum">
              <a:rPr lang="en-US" sz="1200">
                <a:latin typeface="Verdana" pitchFamily="1" charset="0"/>
              </a:rPr>
              <a:pPr algn="r"/>
              <a:t>55</a:t>
            </a:fld>
            <a:endParaRPr lang="en-US" sz="1200">
              <a:latin typeface="Verdana" pitchFamily="1" charset="0"/>
            </a:endParaRPr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5518666"/>
              </p:ext>
            </p:extLst>
          </p:nvPr>
        </p:nvGraphicFramePr>
        <p:xfrm>
          <a:off x="2347912" y="2328863"/>
          <a:ext cx="27717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4" imgW="1231366" imgH="406224" progId="Equation.3">
                  <p:embed/>
                </p:oleObj>
              </mc:Choice>
              <mc:Fallback>
                <p:oleObj name="Equation" r:id="rId4" imgW="1231366" imgH="406224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7912" y="2328863"/>
                        <a:ext cx="2771775" cy="9144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102189"/>
              </p:ext>
            </p:extLst>
          </p:nvPr>
        </p:nvGraphicFramePr>
        <p:xfrm>
          <a:off x="5252231" y="2328863"/>
          <a:ext cx="105727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6" imgW="469900" imgH="444500" progId="Equation.3">
                  <p:embed/>
                </p:oleObj>
              </mc:Choice>
              <mc:Fallback>
                <p:oleObj name="Equation" r:id="rId6" imgW="469900" imgH="444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2231" y="2328863"/>
                        <a:ext cx="1057275" cy="10001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Learning Check</a:t>
            </a:r>
          </a:p>
        </p:txBody>
      </p:sp>
      <p:sp>
        <p:nvSpPr>
          <p:cNvPr id="91139" name="Content Placeholder 2"/>
          <p:cNvSpPr>
            <a:spLocks noGrp="1"/>
          </p:cNvSpPr>
          <p:nvPr>
            <p:ph idx="4294967295"/>
          </p:nvPr>
        </p:nvSpPr>
        <p:spPr>
          <a:xfrm>
            <a:off x="152400" y="914400"/>
            <a:ext cx="8839200" cy="4038600"/>
          </a:xfrm>
        </p:spPr>
        <p:txBody>
          <a:bodyPr/>
          <a:lstStyle/>
          <a:p>
            <a:pPr>
              <a:spcBef>
                <a:spcPts val="900"/>
              </a:spcBef>
              <a:buClr>
                <a:schemeClr val="tx1"/>
              </a:buClr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A student weighs a piece of gold that has a volume of 11.02 cm</a:t>
            </a:r>
            <a:r>
              <a:rPr lang="en-US" sz="3000" baseline="30000" dirty="0">
                <a:latin typeface="Tahoma" pitchFamily="1" charset="0"/>
                <a:cs typeface="Tahoma" pitchFamily="1" charset="0"/>
              </a:rPr>
              <a:t>3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 of gold. She finds the mass to be 212 </a:t>
            </a:r>
            <a:r>
              <a:rPr lang="en-US" sz="3000" dirty="0" err="1">
                <a:latin typeface="Tahoma" pitchFamily="1" charset="0"/>
                <a:cs typeface="Tahoma" pitchFamily="1" charset="0"/>
              </a:rPr>
              <a:t>g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. What is the density of gold?</a:t>
            </a:r>
          </a:p>
          <a:p>
            <a:pPr>
              <a:spcBef>
                <a:spcPts val="900"/>
              </a:spcBef>
              <a:buClr>
                <a:schemeClr val="tx1"/>
              </a:buClr>
            </a:pPr>
            <a:endParaRPr lang="en-US" sz="3000" dirty="0">
              <a:latin typeface="Tahoma" pitchFamily="1" charset="0"/>
              <a:cs typeface="Tahoma" pitchFamily="1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</a:pPr>
            <a:endParaRPr lang="en-US" sz="3000" dirty="0">
              <a:latin typeface="Tahoma" pitchFamily="1" charset="0"/>
              <a:cs typeface="Tahoma" pitchFamily="1" charset="0"/>
            </a:endParaRPr>
          </a:p>
          <a:p>
            <a:pPr>
              <a:spcBef>
                <a:spcPts val="900"/>
              </a:spcBef>
              <a:buClr>
                <a:schemeClr val="tx1"/>
              </a:buClr>
            </a:pPr>
            <a:endParaRPr lang="en-US" sz="3000" dirty="0">
              <a:latin typeface="Tahoma" pitchFamily="1" charset="0"/>
              <a:cs typeface="Tahoma" pitchFamily="1" charset="0"/>
            </a:endParaRPr>
          </a:p>
        </p:txBody>
      </p:sp>
      <p:sp>
        <p:nvSpPr>
          <p:cNvPr id="91140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B19A14D3-4229-BF4C-856C-1984D6230D77}" type="slidenum">
              <a:rPr lang="en-US" sz="1200">
                <a:latin typeface="Verdana" pitchFamily="1" charset="0"/>
              </a:rPr>
              <a:pPr algn="r"/>
              <a:t>56</a:t>
            </a:fld>
            <a:endParaRPr lang="en-US" sz="1200">
              <a:latin typeface="Verdana" pitchFamily="1" charset="0"/>
            </a:endParaRPr>
          </a:p>
        </p:txBody>
      </p:sp>
      <p:graphicFrame>
        <p:nvGraphicFramePr>
          <p:cNvPr id="17410" name="Object 3"/>
          <p:cNvGraphicFramePr>
            <a:graphicFrameLocks noChangeAspect="1"/>
          </p:cNvGraphicFramePr>
          <p:nvPr/>
        </p:nvGraphicFramePr>
        <p:xfrm>
          <a:off x="596900" y="2468563"/>
          <a:ext cx="1144588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3" imgW="469900" imgH="444500" progId="Equation.3">
                  <p:embed/>
                </p:oleObj>
              </mc:Choice>
              <mc:Fallback>
                <p:oleObj name="Equation" r:id="rId3" imgW="469900" imgH="444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" y="2468563"/>
                        <a:ext cx="1144588" cy="10826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525838" y="3962400"/>
            <a:ext cx="24685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CC0000"/>
                </a:solidFill>
                <a:latin typeface="Tahoma" pitchFamily="1" charset="0"/>
              </a:rPr>
              <a:t>19.3 g/cm</a:t>
            </a:r>
            <a:r>
              <a:rPr lang="en-US" sz="3200" b="1" baseline="30000">
                <a:solidFill>
                  <a:srgbClr val="CC0000"/>
                </a:solidFill>
                <a:latin typeface="Tahoma" pitchFamily="1" charset="0"/>
              </a:rPr>
              <a:t>3</a:t>
            </a:r>
            <a:endParaRPr lang="en-US" sz="3200" b="1">
              <a:solidFill>
                <a:srgbClr val="CC0000"/>
              </a:solidFill>
              <a:latin typeface="Tahoma" pitchFamily="1" charset="0"/>
            </a:endParaRPr>
          </a:p>
        </p:txBody>
      </p:sp>
      <p:graphicFrame>
        <p:nvGraphicFramePr>
          <p:cNvPr id="17415" name="Object 7"/>
          <p:cNvGraphicFramePr>
            <a:graphicFrameLocks noChangeAspect="1"/>
          </p:cNvGraphicFramePr>
          <p:nvPr/>
        </p:nvGraphicFramePr>
        <p:xfrm>
          <a:off x="581025" y="3717925"/>
          <a:ext cx="2792413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5" imgW="1130300" imgH="444500" progId="Equation.3">
                  <p:embed/>
                </p:oleObj>
              </mc:Choice>
              <mc:Fallback>
                <p:oleObj name="Equation" r:id="rId5" imgW="1130300" imgH="444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25" y="3717925"/>
                        <a:ext cx="2792413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 idx="4294967295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>
                <a:latin typeface="Tahoma" pitchFamily="1" charset="0"/>
                <a:cs typeface="Tahoma" pitchFamily="1" charset="0"/>
              </a:rPr>
              <a:t>Your Turn!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2400" y="762000"/>
            <a:ext cx="8991600" cy="4572000"/>
          </a:xfrm>
        </p:spPr>
        <p:txBody>
          <a:bodyPr/>
          <a:lstStyle/>
          <a:p>
            <a:pPr marL="0" inden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Titanium is a metal used to make artificial joints. It has a density of 4.54 g/cm</a:t>
            </a:r>
            <a:r>
              <a:rPr lang="en-US" sz="3000" baseline="30000" dirty="0">
                <a:latin typeface="Tahoma" pitchFamily="1" charset="0"/>
                <a:cs typeface="Tahoma" pitchFamily="1" charset="0"/>
              </a:rPr>
              <a:t>3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. What volume will a titanium hip joint occupy if its mass is 205 </a:t>
            </a:r>
            <a:r>
              <a:rPr lang="en-US" sz="3000" dirty="0" err="1">
                <a:latin typeface="Tahoma" pitchFamily="1" charset="0"/>
                <a:cs typeface="Tahoma" pitchFamily="1" charset="0"/>
              </a:rPr>
              <a:t>g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?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Tahoma" pitchFamily="1" charset="0"/>
              <a:buAutoNum type="alphaUcPeriod"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 9.31 × 10</a:t>
            </a:r>
            <a:r>
              <a:rPr lang="en-US" sz="3000" baseline="30000" dirty="0">
                <a:latin typeface="Tahoma" pitchFamily="1" charset="0"/>
                <a:cs typeface="Tahoma" pitchFamily="1" charset="0"/>
              </a:rPr>
              <a:t>2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 cm</a:t>
            </a:r>
            <a:r>
              <a:rPr lang="en-US" sz="3000" baseline="30000" dirty="0">
                <a:latin typeface="Tahoma" pitchFamily="1" charset="0"/>
                <a:cs typeface="Tahoma" pitchFamily="1" charset="0"/>
              </a:rPr>
              <a:t>3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 </a:t>
            </a: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B. 4.51 × 10</a:t>
            </a:r>
            <a:r>
              <a:rPr lang="en-US" sz="3000" baseline="30000" dirty="0">
                <a:latin typeface="Tahoma" pitchFamily="1" charset="0"/>
                <a:cs typeface="Tahoma" pitchFamily="1" charset="0"/>
              </a:rPr>
              <a:t>1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 cm</a:t>
            </a:r>
            <a:r>
              <a:rPr lang="en-US" sz="3000" baseline="30000" dirty="0">
                <a:latin typeface="Tahoma" pitchFamily="1" charset="0"/>
                <a:cs typeface="Tahoma" pitchFamily="1" charset="0"/>
              </a:rPr>
              <a:t>3</a:t>
            </a:r>
            <a:endParaRPr lang="en-US" sz="3000" dirty="0">
              <a:latin typeface="Tahoma" pitchFamily="1" charset="0"/>
              <a:cs typeface="Tahoma" pitchFamily="1" charset="0"/>
            </a:endParaRP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C. 2.21 × 10</a:t>
            </a:r>
            <a:r>
              <a:rPr lang="en-US" sz="3000" baseline="30000" dirty="0">
                <a:latin typeface="Tahoma" pitchFamily="1" charset="0"/>
                <a:cs typeface="Tahoma" pitchFamily="1" charset="0"/>
              </a:rPr>
              <a:t>–2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 cm</a:t>
            </a:r>
            <a:r>
              <a:rPr lang="en-US" sz="3000" baseline="30000" dirty="0">
                <a:latin typeface="Tahoma" pitchFamily="1" charset="0"/>
                <a:cs typeface="Tahoma" pitchFamily="1" charset="0"/>
              </a:rPr>
              <a:t>3</a:t>
            </a:r>
            <a:endParaRPr lang="en-US" sz="3000" dirty="0">
              <a:latin typeface="Tahoma" pitchFamily="1" charset="0"/>
              <a:cs typeface="Tahoma" pitchFamily="1" charset="0"/>
            </a:endParaRP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D. 1.07 × 10</a:t>
            </a:r>
            <a:r>
              <a:rPr lang="en-US" sz="3000" baseline="30000" dirty="0">
                <a:latin typeface="Tahoma" pitchFamily="1" charset="0"/>
                <a:cs typeface="Tahoma" pitchFamily="1" charset="0"/>
              </a:rPr>
              <a:t>–3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 cm</a:t>
            </a:r>
            <a:r>
              <a:rPr lang="en-US" sz="3000" baseline="30000" dirty="0">
                <a:latin typeface="Tahoma" pitchFamily="1" charset="0"/>
                <a:cs typeface="Tahoma" pitchFamily="1" charset="0"/>
              </a:rPr>
              <a:t>3</a:t>
            </a:r>
            <a:endParaRPr lang="en-US" sz="3000" dirty="0">
              <a:latin typeface="Tahoma" pitchFamily="1" charset="0"/>
              <a:cs typeface="Tahoma" pitchFamily="1" charset="0"/>
            </a:endParaRPr>
          </a:p>
          <a:p>
            <a:pPr marL="0" indent="0">
              <a:spcBef>
                <a:spcPts val="900"/>
              </a:spcBef>
              <a:buClr>
                <a:schemeClr val="tx1"/>
              </a:buClr>
              <a:buFont typeface="Wingdings" pitchFamily="1" charset="2"/>
              <a:buNone/>
            </a:pPr>
            <a:r>
              <a:rPr lang="en-US" sz="3000" dirty="0">
                <a:latin typeface="Tahoma" pitchFamily="1" charset="0"/>
                <a:cs typeface="Tahoma" pitchFamily="1" charset="0"/>
              </a:rPr>
              <a:t>E. 2.20 × 10</a:t>
            </a:r>
            <a:r>
              <a:rPr lang="en-US" sz="3000" baseline="30000" dirty="0">
                <a:latin typeface="Tahoma" pitchFamily="1" charset="0"/>
                <a:cs typeface="Tahoma" pitchFamily="1" charset="0"/>
              </a:rPr>
              <a:t>–1</a:t>
            </a:r>
            <a:r>
              <a:rPr lang="en-US" sz="3000" dirty="0">
                <a:latin typeface="Tahoma" pitchFamily="1" charset="0"/>
                <a:cs typeface="Tahoma" pitchFamily="1" charset="0"/>
              </a:rPr>
              <a:t> cm</a:t>
            </a:r>
            <a:r>
              <a:rPr lang="en-US" sz="3000" baseline="30000" dirty="0">
                <a:latin typeface="Tahoma" pitchFamily="1" charset="0"/>
                <a:cs typeface="Tahoma" pitchFamily="1" charset="0"/>
              </a:rPr>
              <a:t>3</a:t>
            </a:r>
            <a:endParaRPr lang="en-US" sz="3000" dirty="0">
              <a:latin typeface="Tahoma" pitchFamily="1" charset="0"/>
              <a:cs typeface="Tahoma" pitchFamily="1" charset="0"/>
            </a:endParaRPr>
          </a:p>
        </p:txBody>
      </p:sp>
      <p:sp>
        <p:nvSpPr>
          <p:cNvPr id="94212" name="Slide Number Placeholder 3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83210901-07B4-1F46-A3BE-4EE68124A1B8}" type="slidenum">
              <a:rPr lang="en-US" sz="1200">
                <a:latin typeface="Verdana" pitchFamily="1" charset="0"/>
              </a:rPr>
              <a:pPr algn="r"/>
              <a:t>57</a:t>
            </a:fld>
            <a:endParaRPr lang="en-US" sz="1200">
              <a:latin typeface="Verdana" pitchFamily="1" charset="0"/>
            </a:endParaRPr>
          </a:p>
        </p:txBody>
      </p:sp>
      <p:graphicFrame>
        <p:nvGraphicFramePr>
          <p:cNvPr id="66566" name="Object 6"/>
          <p:cNvGraphicFramePr>
            <a:graphicFrameLocks noChangeAspect="1"/>
          </p:cNvGraphicFramePr>
          <p:nvPr/>
        </p:nvGraphicFramePr>
        <p:xfrm>
          <a:off x="5002213" y="2406650"/>
          <a:ext cx="295275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3" imgW="1193800" imgH="482600" progId="Equation.3">
                  <p:embed/>
                </p:oleObj>
              </mc:Choice>
              <mc:Fallback>
                <p:oleObj name="Equation" r:id="rId3" imgW="1193800" imgH="482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2213" y="2406650"/>
                        <a:ext cx="295275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em_blues">
  <a:themeElements>
    <a:clrScheme name="Custom 9">
      <a:dk1>
        <a:srgbClr val="000000"/>
      </a:dk1>
      <a:lt1>
        <a:srgbClr val="FFFFFF"/>
      </a:lt1>
      <a:dk2>
        <a:srgbClr val="C00000"/>
      </a:dk2>
      <a:lt2>
        <a:srgbClr val="FF9900"/>
      </a:lt2>
      <a:accent1>
        <a:srgbClr val="0000CC"/>
      </a:accent1>
      <a:accent2>
        <a:srgbClr val="33CC33"/>
      </a:accent2>
      <a:accent3>
        <a:srgbClr val="FFFFFF"/>
      </a:accent3>
      <a:accent4>
        <a:srgbClr val="000000"/>
      </a:accent4>
      <a:accent5>
        <a:srgbClr val="FF0000"/>
      </a:accent5>
      <a:accent6>
        <a:srgbClr val="CC0099"/>
      </a:accent6>
      <a:hlink>
        <a:srgbClr val="000099"/>
      </a:hlink>
      <a:folHlink>
        <a:srgbClr val="CC0000"/>
      </a:folHlink>
    </a:clrScheme>
    <a:fontScheme name="Jespersen6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HEM1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EM1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EM1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EM1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EM1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EM1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EM1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EM1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EM1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Chem_blues">
  <a:themeElements>
    <a:clrScheme name="Custom 9">
      <a:dk1>
        <a:srgbClr val="000000"/>
      </a:dk1>
      <a:lt1>
        <a:srgbClr val="FFFFFF"/>
      </a:lt1>
      <a:dk2>
        <a:srgbClr val="C00000"/>
      </a:dk2>
      <a:lt2>
        <a:srgbClr val="FF9900"/>
      </a:lt2>
      <a:accent1>
        <a:srgbClr val="0000CC"/>
      </a:accent1>
      <a:accent2>
        <a:srgbClr val="33CC33"/>
      </a:accent2>
      <a:accent3>
        <a:srgbClr val="FFFFFF"/>
      </a:accent3>
      <a:accent4>
        <a:srgbClr val="000000"/>
      </a:accent4>
      <a:accent5>
        <a:srgbClr val="FF0000"/>
      </a:accent5>
      <a:accent6>
        <a:srgbClr val="CC0099"/>
      </a:accent6>
      <a:hlink>
        <a:srgbClr val="000099"/>
      </a:hlink>
      <a:folHlink>
        <a:srgbClr val="CC0000"/>
      </a:folHlink>
    </a:clrScheme>
    <a:fontScheme name="Jespersen6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HEM1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EM1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EM1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EM1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EM1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EM1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EM1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EM1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EM1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Chem_blues">
  <a:themeElements>
    <a:clrScheme name="Custom 9">
      <a:dk1>
        <a:srgbClr val="000000"/>
      </a:dk1>
      <a:lt1>
        <a:srgbClr val="FFFFFF"/>
      </a:lt1>
      <a:dk2>
        <a:srgbClr val="C00000"/>
      </a:dk2>
      <a:lt2>
        <a:srgbClr val="FF9900"/>
      </a:lt2>
      <a:accent1>
        <a:srgbClr val="0000CC"/>
      </a:accent1>
      <a:accent2>
        <a:srgbClr val="33CC33"/>
      </a:accent2>
      <a:accent3>
        <a:srgbClr val="FFFFFF"/>
      </a:accent3>
      <a:accent4>
        <a:srgbClr val="000000"/>
      </a:accent4>
      <a:accent5>
        <a:srgbClr val="FF0000"/>
      </a:accent5>
      <a:accent6>
        <a:srgbClr val="CC0099"/>
      </a:accent6>
      <a:hlink>
        <a:srgbClr val="000099"/>
      </a:hlink>
      <a:folHlink>
        <a:srgbClr val="CC0000"/>
      </a:folHlink>
    </a:clrScheme>
    <a:fontScheme name="Jespersen6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HEM1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EM1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EM1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EM1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EM1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EM1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EM1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EM1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EM1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CH3_PeriodicTable</Template>
  <TotalTime>18419</TotalTime>
  <Words>2415</Words>
  <Application>Microsoft Office PowerPoint</Application>
  <PresentationFormat>On-screen Show (4:3)</PresentationFormat>
  <Paragraphs>610</Paragraphs>
  <Slides>57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72" baseType="lpstr">
      <vt:lpstr>ＭＳ Ｐゴシック</vt:lpstr>
      <vt:lpstr>ＭＳ Ｐゴシック</vt:lpstr>
      <vt:lpstr>Arial</vt:lpstr>
      <vt:lpstr>Microsoft Sans Serif</vt:lpstr>
      <vt:lpstr>Symbol</vt:lpstr>
      <vt:lpstr>Tahoma</vt:lpstr>
      <vt:lpstr>Times New Roman</vt:lpstr>
      <vt:lpstr>Verdana</vt:lpstr>
      <vt:lpstr>Wingdings</vt:lpstr>
      <vt:lpstr>Chem_blues</vt:lpstr>
      <vt:lpstr>Default Design</vt:lpstr>
      <vt:lpstr>2_Default Design</vt:lpstr>
      <vt:lpstr>1_Chem_blues</vt:lpstr>
      <vt:lpstr>2_Chem_blues</vt:lpstr>
      <vt:lpstr>Equation</vt:lpstr>
      <vt:lpstr>Chapter 1 Scientific Measurements</vt:lpstr>
      <vt:lpstr>PowerPoint Presentation</vt:lpstr>
      <vt:lpstr>Matter and Its Classifications</vt:lpstr>
      <vt:lpstr>PowerPoint Presentation</vt:lpstr>
      <vt:lpstr>Matter by composition</vt:lpstr>
      <vt:lpstr>Elements</vt:lpstr>
      <vt:lpstr>Chemical Symbols for Elements</vt:lpstr>
      <vt:lpstr>Chemical Symbols Examples</vt:lpstr>
      <vt:lpstr>Compounds</vt:lpstr>
      <vt:lpstr>Homogeneous Mixtures</vt:lpstr>
      <vt:lpstr>Heterogeneous Mixtures</vt:lpstr>
      <vt:lpstr>Relationship of Elements, Compounds, and Substances</vt:lpstr>
      <vt:lpstr>Learning Check: Classification</vt:lpstr>
      <vt:lpstr>PowerPoint Presentation</vt:lpstr>
      <vt:lpstr>Physical Change</vt:lpstr>
      <vt:lpstr>Chemical Change</vt:lpstr>
      <vt:lpstr>Learning Check:</vt:lpstr>
      <vt:lpstr>PowerPoint Presentation</vt:lpstr>
      <vt:lpstr>International System of Units (SI)</vt:lpstr>
      <vt:lpstr>PowerPoint Presentation</vt:lpstr>
      <vt:lpstr>Some Useful Conversions </vt:lpstr>
      <vt:lpstr>Using Decimal Multipliers</vt:lpstr>
      <vt:lpstr>Decimal Multipliers</vt:lpstr>
      <vt:lpstr>Laboratory Measurements</vt:lpstr>
      <vt:lpstr>Laboratory Measurements</vt:lpstr>
      <vt:lpstr>2. Volume</vt:lpstr>
      <vt:lpstr>3. Mass</vt:lpstr>
      <vt:lpstr>4. Temperature</vt:lpstr>
      <vt:lpstr>PowerPoint Presentation</vt:lpstr>
      <vt:lpstr>PowerPoint Presentation</vt:lpstr>
      <vt:lpstr>Significant Figures</vt:lpstr>
      <vt:lpstr>Rules for Significant Figures</vt:lpstr>
      <vt:lpstr>Rules for Significant Figures</vt:lpstr>
      <vt:lpstr>Learning Check</vt:lpstr>
      <vt:lpstr>PowerPoint Presentation</vt:lpstr>
      <vt:lpstr>Significant Figures in Calculations </vt:lpstr>
      <vt:lpstr>Your Turn!</vt:lpstr>
      <vt:lpstr>Significant Figures in Calculations </vt:lpstr>
      <vt:lpstr>Learning Check</vt:lpstr>
      <vt:lpstr>Your Turn!</vt:lpstr>
      <vt:lpstr>PowerPoint Presentation</vt:lpstr>
      <vt:lpstr>PowerPoint Presentation</vt:lpstr>
      <vt:lpstr>Learning Check</vt:lpstr>
      <vt:lpstr>PowerPoint Presentation</vt:lpstr>
      <vt:lpstr>Rounding to Correct Digit</vt:lpstr>
      <vt:lpstr>Accuracy and Precision</vt:lpstr>
      <vt:lpstr>Exact Numbers</vt:lpstr>
      <vt:lpstr>PowerPoint Presentation</vt:lpstr>
      <vt:lpstr>Dimensional Analysis</vt:lpstr>
      <vt:lpstr>Conversion Factors</vt:lpstr>
      <vt:lpstr>Dimensional Analysis</vt:lpstr>
      <vt:lpstr>Using Dimensional Analysis</vt:lpstr>
      <vt:lpstr>Learning Check</vt:lpstr>
      <vt:lpstr>PowerPoint Presentation</vt:lpstr>
      <vt:lpstr>Density</vt:lpstr>
      <vt:lpstr>Learning Check</vt:lpstr>
      <vt:lpstr>Your Turn!</vt:lpstr>
    </vt:vector>
  </TitlesOfParts>
  <Company>St John's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Information Technology</dc:creator>
  <cp:lastModifiedBy>Premium</cp:lastModifiedBy>
  <cp:revision>238</cp:revision>
  <dcterms:created xsi:type="dcterms:W3CDTF">2014-01-17T03:26:01Z</dcterms:created>
  <dcterms:modified xsi:type="dcterms:W3CDTF">2021-10-09T08:34:22Z</dcterms:modified>
</cp:coreProperties>
</file>